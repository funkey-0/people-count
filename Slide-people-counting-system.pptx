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985F42-ED99-1126-049B-932FB95DAB1B}" v="11" dt="2026-07-30T15:53:36.835"/>
    <p1510:client id="{6B19F76C-09D2-5128-0E77-3EBEB2F2276E}" v="202" dt="2026-07-30T15:24:16.465"/>
    <p1510:client id="{94847ACD-FFD3-7FD4-5228-36E0F14D0934}" v="17" dt="2026-07-30T15:30:28.1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4457700" cy="917575"/>
          </a:xfrm>
          <a:prstGeom prst="rect">
            <a:avLst/>
          </a:prstGeom>
        </p:spPr>
        <p:txBody>
          <a:bodyPr vert="horz" lIns="91440" tIns="45720" rIns="91440" bIns="45720" rtlCol="0"/>
          <a:lstStyle>
            <a:lvl1pPr algn="l">
              <a:defRPr sz="1200"/>
            </a:lvl1pPr>
          </a:lstStyle>
          <a:p>
            <a:endParaRPr lang="vi-VN"/>
          </a:p>
        </p:txBody>
      </p:sp>
      <p:sp>
        <p:nvSpPr>
          <p:cNvPr id="3" name="Chỗ dành sẵn cho Ngày tháng 2"/>
          <p:cNvSpPr>
            <a:spLocks noGrp="1"/>
          </p:cNvSpPr>
          <p:nvPr>
            <p:ph type="dt" idx="1"/>
          </p:nvPr>
        </p:nvSpPr>
        <p:spPr>
          <a:xfrm>
            <a:off x="5827713" y="0"/>
            <a:ext cx="4457700" cy="917575"/>
          </a:xfrm>
          <a:prstGeom prst="rect">
            <a:avLst/>
          </a:prstGeom>
        </p:spPr>
        <p:txBody>
          <a:bodyPr vert="horz" lIns="91440" tIns="45720" rIns="91440" bIns="45720" rtlCol="0"/>
          <a:lstStyle>
            <a:lvl1pPr algn="r">
              <a:defRPr sz="1200"/>
            </a:lvl1pPr>
          </a:lstStyle>
          <a:p>
            <a:fld id="{5A426A90-213C-4A28-9EC6-A9CBD393133A}" type="datetimeFigureOut">
              <a:t>30/07/2026</a:t>
            </a:fld>
            <a:endParaRPr lang="vi-VN"/>
          </a:p>
        </p:txBody>
      </p:sp>
      <p:sp>
        <p:nvSpPr>
          <p:cNvPr id="4" name="Chỗ dành sẵn cho Hình ảnh của Bản chiếu 3"/>
          <p:cNvSpPr>
            <a:spLocks noGrp="1" noRot="1" noChangeAspect="1"/>
          </p:cNvSpPr>
          <p:nvPr>
            <p:ph type="sldImg" idx="2"/>
          </p:nvPr>
        </p:nvSpPr>
        <p:spPr>
          <a:xfrm>
            <a:off x="-342900" y="2286000"/>
            <a:ext cx="10972800" cy="6172200"/>
          </a:xfrm>
          <a:prstGeom prst="rect">
            <a:avLst/>
          </a:prstGeom>
          <a:noFill/>
          <a:ln w="12700">
            <a:solidFill>
              <a:prstClr val="black"/>
            </a:solidFill>
          </a:ln>
        </p:spPr>
        <p:txBody>
          <a:bodyPr vert="horz" lIns="91440" tIns="45720" rIns="91440" bIns="45720" rtlCol="0" anchor="ctr"/>
          <a:lstStyle/>
          <a:p>
            <a:endParaRPr lang="vi-VN"/>
          </a:p>
        </p:txBody>
      </p:sp>
      <p:sp>
        <p:nvSpPr>
          <p:cNvPr id="5" name="Chỗ dành sẵn cho Ghi chú 4"/>
          <p:cNvSpPr>
            <a:spLocks noGrp="1"/>
          </p:cNvSpPr>
          <p:nvPr>
            <p:ph type="body" sz="quarter" idx="3"/>
          </p:nvPr>
        </p:nvSpPr>
        <p:spPr>
          <a:xfrm>
            <a:off x="1028700" y="8801100"/>
            <a:ext cx="8229600" cy="7200900"/>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6" name="Chỗ dành sẵn cho Chân trang 5"/>
          <p:cNvSpPr>
            <a:spLocks noGrp="1"/>
          </p:cNvSpPr>
          <p:nvPr>
            <p:ph type="ftr" sz="quarter" idx="4"/>
          </p:nvPr>
        </p:nvSpPr>
        <p:spPr>
          <a:xfrm>
            <a:off x="0" y="17372013"/>
            <a:ext cx="4457700" cy="915987"/>
          </a:xfrm>
          <a:prstGeom prst="rect">
            <a:avLst/>
          </a:prstGeom>
        </p:spPr>
        <p:txBody>
          <a:bodyPr vert="horz" lIns="91440" tIns="45720" rIns="91440" bIns="45720" rtlCol="0" anchor="b"/>
          <a:lstStyle>
            <a:lvl1pPr algn="l">
              <a:defRPr sz="1200"/>
            </a:lvl1pPr>
          </a:lstStyle>
          <a:p>
            <a:endParaRPr lang="vi-VN"/>
          </a:p>
        </p:txBody>
      </p:sp>
      <p:sp>
        <p:nvSpPr>
          <p:cNvPr id="7" name="Chỗ dành sẵn cho Số hiệu Bản chiếu 6"/>
          <p:cNvSpPr>
            <a:spLocks noGrp="1"/>
          </p:cNvSpPr>
          <p:nvPr>
            <p:ph type="sldNum" sz="quarter" idx="5"/>
          </p:nvPr>
        </p:nvSpPr>
        <p:spPr>
          <a:xfrm>
            <a:off x="5827713" y="17372013"/>
            <a:ext cx="4457700" cy="915987"/>
          </a:xfrm>
          <a:prstGeom prst="rect">
            <a:avLst/>
          </a:prstGeom>
        </p:spPr>
        <p:txBody>
          <a:bodyPr vert="horz" lIns="91440" tIns="45720" rIns="91440" bIns="45720" rtlCol="0" anchor="b"/>
          <a:lstStyle>
            <a:lvl1pPr algn="r">
              <a:defRPr sz="1200"/>
            </a:lvl1pPr>
          </a:lstStyle>
          <a:p>
            <a:fld id="{D9DD124A-41C3-43EC-BEF6-28750360BB54}" type="slidenum">
              <a:t>‹#›</a:t>
            </a:fld>
            <a:endParaRPr lang="vi-VN"/>
          </a:p>
        </p:txBody>
      </p:sp>
    </p:spTree>
    <p:extLst>
      <p:ext uri="{BB962C8B-B14F-4D97-AF65-F5344CB8AC3E}">
        <p14:creationId xmlns:p14="http://schemas.microsoft.com/office/powerpoint/2010/main" val="1098470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đồ án: một chương trình Python đếm số khách ra vào một không gian bằng camera thường, chạy thời gian thực trên máy cá nhân.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Đếm khách thủ công vừa tốn người vừa sai số. Mục tiêu là một chương trình chạy được trên webcam sẵn có, không cần cảm biến chuyên dụng, và tự ghi số liệu ra file.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luồng xử lý lặp lại cho từng khung hình. Nhấn mạnh: mọi thứ nằm trong một vòng lặp while duy nhất, không có hàng đợi hay đa luồng.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tổng quan: chín bước của chương trình, đọc theo hình chữ S — hàng trên từ nguồn video đến lọc bbox, hàng dưới ngược lại từ tái định danh đến ghi sổ. Nhấn rằng toàn bộ chín bước nằm trong một vòng lặp while duy nhất, mỗi khung hình đi hết chu trình rồi mới đọc khung tiếp theo.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Toàn bộ hệ thống chỉ cần ba thư viện ngoài: Ultralytics, OpenCV và NumPy. Phần ghi file dùng thư viện chuẩn của Python nên không phải cài thêm gì, chạy được ngay trên máy cá nhân không cần GPU.</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hằng số ở đầu file là nơi tinh chỉnh hệ thống cho từng hiện trường. Nói rõ vì sao chọn conf 0.5 thay vì 0.4: giảm false positive khi ánh sáng kém.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bên trong mô hình: ảnh vào được backbone CSPDarknet với các khối C2f trích đặc trưng, SPPF mở rộng vùng nhìn, neck PAN-FPN trộn đặc trưng ba tỷ lệ để bắt được cả người ở xa và người ở gần, head tách đôi nhánh phân loại và nhánh hộp, không dùng anchor nên bớt siêu tham số. Cuối cùng NMS loại các hộp trùng, chỉ giữ một hộp cho mỗi người.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theo bốn bước trong hình: đọc khung hình từ camera, YOLOv8n khoanh vùng người với conf từ 0.5, ByteTrack gán ID ổn định qua các khung, rồi lọc và gộp bbox. Nhấn mạnh dòng lệnh ở giữa: cả phát hiện lẫn bám ID gói trong một lệnh model.track duy nhất — persist=True giữ trạng thái tracker nên ID không bị đặt lại mỗi khung hình.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tự viết thêm ngoài YOLO. YOLO đôi khi tách một người thành hai khung, hoặc bắt nhầm cánh tay thành người. Union-Find gom các khung chồng nhau thành nhóm, mỗi nhóm chỉ giữ một đại diện.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Trọng tâm của cả hệ thống. So sánh tọa độ y của tâm bbox ở khung trước và khung hiện tại: nếu vạch nằm kẹp giữa hai giá trị thì người đó vừa cắt vạch. counted_direction đảm bảo mỗi ID chỉ được đếm một lần cho mỗi hướng.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một người bị che khuất rồi xuất hiện lại, ByteTrack cấp ID mới và họ sẽ bị đếm hai lần. Giải pháp: lưu histogram màu HSV của mỗi người, so sánh bằng hệ số tương quan; giống trên 0.6 trong vòng 45 khung thì coi là cùng một người và kế thừa trạng thái đã đếm.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hợp bảy thuật toán thực sự có trong chương trình: hai cái đầu là của thư viện — YOLOv8 và ByteTrack; năm cái sau là phần tự viết. Nếu họi câu khó nhất thì thường là Union-Find và cách so histogram màu, nên chuẩn bị kỹ hai ý đó.</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đầu ra: bảng số liệu vẽ trực tiếp lên khung hình cho người trực, và hai file CSV cho phân tích về sau. Heatmap bật tắt bằng phím H, tích nhiệt tại tâm người rồi phai dần theo hệ số 0.99 mỗi khung.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bài bằng sự trung thực: nêu rõ giới hạn hiện tại và hướng đi tiếp. Nhấn re-ID theo màu áo là điểm yếu nhất — hai người mặc áo cùng màu sẽ bị nhầm.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thầy và các bạn, mời đặt câu hỏi.</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221F"/>
        </a:solidFill>
        <a:effectLst/>
      </p:bgPr>
    </p:bg>
    <p:spTree>
      <p:nvGrpSpPr>
        <p:cNvPr id="1" name=""/>
        <p:cNvGrpSpPr/>
        <p:nvPr/>
      </p:nvGrpSpPr>
      <p:grpSpPr>
        <a:xfrm>
          <a:off x="0" y="0"/>
          <a:ext cx="0" cy="0"/>
          <a:chOff x="0" y="0"/>
          <a:chExt cx="0" cy="0"/>
        </a:xfrm>
      </p:grpSpPr>
      <p:sp>
        <p:nvSpPr>
          <p:cNvPr id="2" name="Shape 0"/>
          <p:cNvSpPr/>
          <p:nvPr/>
        </p:nvSpPr>
        <p:spPr>
          <a:xfrm>
            <a:off x="13906500" y="-1333500"/>
            <a:ext cx="5905500" cy="5905500"/>
          </a:xfrm>
          <a:prstGeom prst="ellipse">
            <a:avLst/>
          </a:prstGeom>
          <a:solidFill>
            <a:srgbClr val="C67139">
              <a:alpha val="16000"/>
            </a:srgbClr>
          </a:solidFill>
          <a:ln/>
        </p:spPr>
      </p:sp>
      <p:sp>
        <p:nvSpPr>
          <p:cNvPr id="3" name="Shape 1"/>
          <p:cNvSpPr/>
          <p:nvPr/>
        </p:nvSpPr>
        <p:spPr>
          <a:xfrm>
            <a:off x="12573000" y="8382000"/>
            <a:ext cx="4000500" cy="4000500"/>
          </a:xfrm>
          <a:prstGeom prst="ellipse">
            <a:avLst/>
          </a:prstGeom>
          <a:solidFill>
            <a:srgbClr val="7A8A5E">
              <a:alpha val="18000"/>
            </a:srgbClr>
          </a:solidFill>
          <a:ln/>
        </p:spPr>
      </p:sp>
      <p:sp>
        <p:nvSpPr>
          <p:cNvPr id="4" name="Text 2"/>
          <p:cNvSpPr/>
          <p:nvPr/>
        </p:nvSpPr>
        <p:spPr>
          <a:xfrm>
            <a:off x="914400" y="914400"/>
            <a:ext cx="18105120" cy="481012"/>
          </a:xfrm>
          <a:prstGeom prst="rect">
            <a:avLst/>
          </a:prstGeom>
          <a:noFill/>
          <a:ln/>
        </p:spPr>
        <p:txBody>
          <a:bodyPr wrap="square" lIns="25400" tIns="25400" rIns="25400" bIns="25400" rtlCol="0" anchor="t">
            <a:normAutofit/>
          </a:bodyPr>
          <a:lstStyle/>
          <a:p>
            <a:pPr marL="0" indent="0" algn="l">
              <a:lnSpc>
                <a:spcPct val="135174"/>
              </a:lnSpc>
              <a:buNone/>
            </a:pPr>
            <a:r>
              <a:rPr lang="en-US" sz="2250" b="1" kern="0" spc="360" dirty="0">
                <a:solidFill>
                  <a:srgbClr val="E0A06A"/>
                </a:solidFill>
                <a:latin typeface="Times New Roman" pitchFamily="34" charset="0"/>
                <a:ea typeface="Times New Roman" pitchFamily="34" charset="-122"/>
                <a:cs typeface="Times New Roman" pitchFamily="34" charset="-120"/>
              </a:rPr>
              <a:t>BÁO CÁO THỊ GIÁC MÁY TÍNH</a:t>
            </a:r>
            <a:endParaRPr lang="en-US" sz="2250" dirty="0"/>
          </a:p>
        </p:txBody>
      </p:sp>
      <p:sp>
        <p:nvSpPr>
          <p:cNvPr id="5" name="Text 3"/>
          <p:cNvSpPr/>
          <p:nvPr/>
        </p:nvSpPr>
        <p:spPr>
          <a:xfrm>
            <a:off x="914400" y="2215872"/>
            <a:ext cx="12950190" cy="1895713"/>
          </a:xfrm>
          <a:prstGeom prst="rect">
            <a:avLst/>
          </a:prstGeom>
          <a:noFill/>
          <a:ln/>
        </p:spPr>
        <p:txBody>
          <a:bodyPr wrap="square" lIns="25400" tIns="25400" rIns="25400" bIns="25400" rtlCol="0" anchor="t">
            <a:normAutofit lnSpcReduction="10000"/>
          </a:bodyPr>
          <a:lstStyle/>
          <a:p>
            <a:pPr>
              <a:lnSpc>
                <a:spcPct val="92348"/>
              </a:lnSpc>
            </a:pPr>
            <a:r>
              <a:rPr lang="en-US" sz="6900" b="1" kern="0" spc="-103" dirty="0">
                <a:solidFill>
                  <a:srgbClr val="F5EAD8"/>
                </a:solidFill>
                <a:latin typeface="Times New Roman"/>
                <a:ea typeface="Times New Roman" pitchFamily="34" charset="-122"/>
                <a:cs typeface="Times New Roman"/>
              </a:rPr>
              <a:t>Hệ thống đếm khách ra vào bằng YOLOv8 và ByteTrack</a:t>
            </a:r>
            <a:endParaRPr lang="en-US" sz="6900">
              <a:solidFill>
                <a:srgbClr val="000000"/>
              </a:solidFill>
              <a:latin typeface="Calibri"/>
              <a:ea typeface="Calibri"/>
              <a:cs typeface="Calibri"/>
            </a:endParaRPr>
          </a:p>
        </p:txBody>
      </p:sp>
      <p:sp>
        <p:nvSpPr>
          <p:cNvPr id="6" name="Text 4"/>
          <p:cNvSpPr/>
          <p:nvPr/>
        </p:nvSpPr>
        <p:spPr>
          <a:xfrm>
            <a:off x="914400" y="4359235"/>
            <a:ext cx="12950190" cy="944880"/>
          </a:xfrm>
          <a:prstGeom prst="rect">
            <a:avLst/>
          </a:prstGeom>
          <a:noFill/>
          <a:ln/>
        </p:spPr>
        <p:txBody>
          <a:bodyPr wrap="square" lIns="25400" tIns="25400" rIns="25400" bIns="25400" rtlCol="0" anchor="t">
            <a:normAutofit/>
          </a:bodyPr>
          <a:lstStyle/>
          <a:p>
            <a:pPr marL="0" indent="0" algn="l">
              <a:lnSpc>
                <a:spcPct val="121429"/>
              </a:lnSpc>
              <a:buNone/>
            </a:pPr>
            <a:r>
              <a:rPr lang="en-US" sz="2550" dirty="0">
                <a:solidFill>
                  <a:srgbClr val="CFC0A8"/>
                </a:solidFill>
                <a:latin typeface="Times New Roman" pitchFamily="34" charset="0"/>
                <a:ea typeface="Times New Roman" pitchFamily="34" charset="-122"/>
                <a:cs typeface="Times New Roman" pitchFamily="34" charset="-120"/>
              </a:rPr>
              <a:t>Phát hiện người theo thời gian thực, bám ID bằng ByteTrack và đếm lượt vượt vạch trên camera thường.</a:t>
            </a:r>
            <a:endParaRPr lang="en-US" sz="2550" dirty="0"/>
          </a:p>
        </p:txBody>
      </p:sp>
      <p:sp>
        <p:nvSpPr>
          <p:cNvPr id="7" name="Shape 5"/>
          <p:cNvSpPr/>
          <p:nvPr/>
        </p:nvSpPr>
        <p:spPr>
          <a:xfrm>
            <a:off x="914400" y="6124694"/>
            <a:ext cx="1406723" cy="701993"/>
          </a:xfrm>
          <a:prstGeom prst="roundRect">
            <a:avLst>
              <a:gd name="adj" fmla="val 50000"/>
            </a:avLst>
          </a:prstGeom>
          <a:solidFill>
            <a:srgbClr val="C67139"/>
          </a:solidFill>
          <a:ln/>
        </p:spPr>
      </p:sp>
      <p:sp>
        <p:nvSpPr>
          <p:cNvPr id="8" name="Text 6"/>
          <p:cNvSpPr/>
          <p:nvPr/>
        </p:nvSpPr>
        <p:spPr>
          <a:xfrm>
            <a:off x="1181100" y="6238994"/>
            <a:ext cx="949523" cy="511493"/>
          </a:xfrm>
          <a:prstGeom prst="rect">
            <a:avLst/>
          </a:prstGeom>
          <a:noFill/>
          <a:ln/>
        </p:spPr>
        <p:txBody>
          <a:bodyPr wrap="square" lIns="25400" tIns="25400" rIns="25400" bIns="25400" rtlCol="0" anchor="t">
            <a:normAutofit/>
          </a:bodyPr>
          <a:lstStyle/>
          <a:p>
            <a:pPr marL="0" indent="0" algn="l">
              <a:lnSpc>
                <a:spcPct val="135174"/>
              </a:lnSpc>
              <a:buNone/>
            </a:pPr>
            <a:r>
              <a:rPr lang="en-US" sz="2250" b="1" dirty="0">
                <a:solidFill>
                  <a:srgbClr val="FFFFFF"/>
                </a:solidFill>
                <a:latin typeface="Times New Roman" pitchFamily="34" charset="0"/>
                <a:ea typeface="Times New Roman" pitchFamily="34" charset="-122"/>
                <a:cs typeface="Times New Roman" pitchFamily="34" charset="-120"/>
              </a:rPr>
              <a:t>Python</a:t>
            </a:r>
            <a:endParaRPr lang="en-US" sz="2250" dirty="0"/>
          </a:p>
        </p:txBody>
      </p:sp>
      <p:sp>
        <p:nvSpPr>
          <p:cNvPr id="9" name="Shape 7"/>
          <p:cNvSpPr/>
          <p:nvPr/>
        </p:nvSpPr>
        <p:spPr>
          <a:xfrm>
            <a:off x="2454473" y="6124694"/>
            <a:ext cx="3006923" cy="701993"/>
          </a:xfrm>
          <a:prstGeom prst="roundRect">
            <a:avLst>
              <a:gd name="adj" fmla="val 50000"/>
            </a:avLst>
          </a:prstGeom>
          <a:solidFill>
            <a:srgbClr val="7A8A5E"/>
          </a:solidFill>
          <a:ln/>
        </p:spPr>
      </p:sp>
      <p:sp>
        <p:nvSpPr>
          <p:cNvPr id="10" name="Text 8"/>
          <p:cNvSpPr/>
          <p:nvPr/>
        </p:nvSpPr>
        <p:spPr>
          <a:xfrm>
            <a:off x="2721173" y="6238994"/>
            <a:ext cx="2563731" cy="511493"/>
          </a:xfrm>
          <a:prstGeom prst="rect">
            <a:avLst/>
          </a:prstGeom>
          <a:noFill/>
          <a:ln/>
        </p:spPr>
        <p:txBody>
          <a:bodyPr wrap="square" lIns="25400" tIns="25400" rIns="25400" bIns="25400" rtlCol="0" anchor="t">
            <a:normAutofit/>
          </a:bodyPr>
          <a:lstStyle/>
          <a:p>
            <a:pPr marL="0" indent="0" algn="l">
              <a:lnSpc>
                <a:spcPct val="135174"/>
              </a:lnSpc>
              <a:buNone/>
            </a:pPr>
            <a:r>
              <a:rPr lang="en-US" sz="2250" b="1" dirty="0">
                <a:solidFill>
                  <a:srgbClr val="FFFFFF"/>
                </a:solidFill>
                <a:latin typeface="Times New Roman" pitchFamily="34" charset="0"/>
                <a:ea typeface="Times New Roman" pitchFamily="34" charset="-122"/>
                <a:cs typeface="Times New Roman" pitchFamily="34" charset="-120"/>
              </a:rPr>
              <a:t>Ultralytics YOLOv8</a:t>
            </a:r>
            <a:endParaRPr lang="en-US" sz="2250" dirty="0"/>
          </a:p>
        </p:txBody>
      </p:sp>
      <p:sp>
        <p:nvSpPr>
          <p:cNvPr id="11" name="Shape 9"/>
          <p:cNvSpPr/>
          <p:nvPr/>
        </p:nvSpPr>
        <p:spPr>
          <a:xfrm>
            <a:off x="5594747" y="6124694"/>
            <a:ext cx="1643539" cy="701993"/>
          </a:xfrm>
          <a:prstGeom prst="roundRect">
            <a:avLst>
              <a:gd name="adj" fmla="val 50000"/>
            </a:avLst>
          </a:prstGeom>
          <a:ln w="15240">
            <a:solidFill>
              <a:srgbClr val="5A524A"/>
            </a:solidFill>
            <a:prstDash val="solid"/>
          </a:ln>
        </p:spPr>
      </p:sp>
      <p:sp>
        <p:nvSpPr>
          <p:cNvPr id="12" name="Text 10"/>
          <p:cNvSpPr/>
          <p:nvPr/>
        </p:nvSpPr>
        <p:spPr>
          <a:xfrm>
            <a:off x="5876687" y="6254234"/>
            <a:ext cx="1155859" cy="481013"/>
          </a:xfrm>
          <a:prstGeom prst="rect">
            <a:avLst/>
          </a:prstGeom>
          <a:noFill/>
          <a:ln/>
        </p:spPr>
        <p:txBody>
          <a:bodyPr wrap="square" lIns="25400" tIns="25400" rIns="25400" bIns="25400" rtlCol="0" anchor="t">
            <a:normAutofit/>
          </a:bodyPr>
          <a:lstStyle/>
          <a:p>
            <a:pPr marL="0" indent="0" algn="l">
              <a:lnSpc>
                <a:spcPct val="135174"/>
              </a:lnSpc>
              <a:buNone/>
            </a:pPr>
            <a:r>
              <a:rPr lang="en-US" sz="2250" b="1" dirty="0">
                <a:solidFill>
                  <a:srgbClr val="CFC0A8"/>
                </a:solidFill>
                <a:latin typeface="Times New Roman" pitchFamily="34" charset="0"/>
                <a:ea typeface="Times New Roman" pitchFamily="34" charset="-122"/>
                <a:cs typeface="Times New Roman" pitchFamily="34" charset="-120"/>
              </a:rPr>
              <a:t>OpenCV</a:t>
            </a:r>
            <a:endParaRPr lang="en-US" sz="2250" dirty="0"/>
          </a:p>
        </p:txBody>
      </p:sp>
      <p:sp>
        <p:nvSpPr>
          <p:cNvPr id="13" name="Shape 11"/>
          <p:cNvSpPr/>
          <p:nvPr/>
        </p:nvSpPr>
        <p:spPr>
          <a:xfrm>
            <a:off x="7371636" y="6124694"/>
            <a:ext cx="1844278" cy="701993"/>
          </a:xfrm>
          <a:prstGeom prst="roundRect">
            <a:avLst>
              <a:gd name="adj" fmla="val 50000"/>
            </a:avLst>
          </a:prstGeom>
          <a:ln w="15240">
            <a:solidFill>
              <a:srgbClr val="5A524A"/>
            </a:solidFill>
            <a:prstDash val="solid"/>
          </a:ln>
        </p:spPr>
      </p:sp>
      <p:sp>
        <p:nvSpPr>
          <p:cNvPr id="14" name="Text 12"/>
          <p:cNvSpPr/>
          <p:nvPr/>
        </p:nvSpPr>
        <p:spPr>
          <a:xfrm>
            <a:off x="7653576" y="6254234"/>
            <a:ext cx="1356598" cy="481013"/>
          </a:xfrm>
          <a:prstGeom prst="rect">
            <a:avLst/>
          </a:prstGeom>
          <a:noFill/>
          <a:ln/>
        </p:spPr>
        <p:txBody>
          <a:bodyPr wrap="square" lIns="25400" tIns="25400" rIns="25400" bIns="25400" rtlCol="0" anchor="t">
            <a:normAutofit/>
          </a:bodyPr>
          <a:lstStyle/>
          <a:p>
            <a:pPr marL="0" indent="0" algn="l">
              <a:lnSpc>
                <a:spcPct val="135174"/>
              </a:lnSpc>
              <a:buNone/>
            </a:pPr>
            <a:r>
              <a:rPr lang="en-US" sz="2250" b="1" dirty="0">
                <a:solidFill>
                  <a:srgbClr val="CFC0A8"/>
                </a:solidFill>
                <a:latin typeface="Times New Roman" pitchFamily="34" charset="0"/>
                <a:ea typeface="Times New Roman" pitchFamily="34" charset="-122"/>
                <a:cs typeface="Times New Roman" pitchFamily="34" charset="-120"/>
              </a:rPr>
              <a:t>ByteTrack</a:t>
            </a:r>
            <a:endParaRPr lang="en-US" sz="2250" dirty="0"/>
          </a:p>
        </p:txBody>
      </p:sp>
      <p:sp>
        <p:nvSpPr>
          <p:cNvPr id="15" name="Text 13"/>
          <p:cNvSpPr/>
          <p:nvPr/>
        </p:nvSpPr>
        <p:spPr>
          <a:xfrm>
            <a:off x="914400" y="7685247"/>
            <a:ext cx="18105120" cy="421957"/>
          </a:xfrm>
          <a:prstGeom prst="rect">
            <a:avLst/>
          </a:prstGeom>
          <a:noFill/>
          <a:ln/>
        </p:spPr>
        <p:txBody>
          <a:bodyPr wrap="square" lIns="25400" tIns="25400" rIns="25400" bIns="25400" rtlCol="0" anchor="t">
            <a:normAutofit/>
          </a:bodyPr>
          <a:lstStyle/>
          <a:p>
            <a:pPr marL="0" indent="0" algn="l">
              <a:lnSpc>
                <a:spcPct val="136149"/>
              </a:lnSpc>
              <a:buNone/>
            </a:pPr>
            <a:r>
              <a:rPr lang="en-US" sz="1950" b="1" kern="0" spc="156" dirty="0">
                <a:solidFill>
                  <a:srgbClr val="9A8F80"/>
                </a:solidFill>
                <a:latin typeface="Times New Roman" pitchFamily="34" charset="0"/>
                <a:ea typeface="Times New Roman" pitchFamily="34" charset="-122"/>
                <a:cs typeface="Times New Roman" pitchFamily="34" charset="-120"/>
              </a:rPr>
              <a:t>SINH VIÊN THỰC HIỆN</a:t>
            </a:r>
            <a:endParaRPr lang="en-US" sz="1950" dirty="0"/>
          </a:p>
        </p:txBody>
      </p:sp>
      <p:sp>
        <p:nvSpPr>
          <p:cNvPr id="16" name="Text 14"/>
          <p:cNvSpPr/>
          <p:nvPr/>
        </p:nvSpPr>
        <p:spPr>
          <a:xfrm>
            <a:off x="914400" y="8164354"/>
            <a:ext cx="16952976" cy="1322546"/>
          </a:xfrm>
          <a:prstGeom prst="rect">
            <a:avLst/>
          </a:prstGeom>
          <a:noFill/>
          <a:ln/>
        </p:spPr>
        <p:txBody>
          <a:bodyPr wrap="square" lIns="25400" tIns="25400" rIns="25400" bIns="25400" rtlCol="0" anchor="t">
            <a:normAutofit/>
          </a:bodyPr>
          <a:lstStyle/>
          <a:p>
            <a:pPr>
              <a:lnSpc>
                <a:spcPct val="133780"/>
              </a:lnSpc>
            </a:pPr>
            <a:r>
              <a:rPr lang="en-US" sz="2150" dirty="0">
                <a:solidFill>
                  <a:srgbClr val="E6DAC6"/>
                </a:solidFill>
                <a:latin typeface="Times New Roman"/>
                <a:ea typeface="Times New Roman" pitchFamily="34" charset="-122"/>
                <a:cs typeface="Times New Roman"/>
              </a:rPr>
              <a:t>Nguyễn Hoàn Hưng · 24100265 </a:t>
            </a:r>
            <a:endParaRPr lang="en-US" sz="2150" dirty="0">
              <a:solidFill>
                <a:srgbClr val="000000"/>
              </a:solidFill>
              <a:latin typeface="Times New Roman"/>
              <a:ea typeface="Calibri" panose="020F0502020204030204"/>
              <a:cs typeface="Times New Roman"/>
            </a:endParaRPr>
          </a:p>
          <a:p>
            <a:pPr>
              <a:lnSpc>
                <a:spcPct val="133780"/>
              </a:lnSpc>
            </a:pPr>
            <a:r>
              <a:rPr lang="en-US" sz="2150">
                <a:solidFill>
                  <a:srgbClr val="E6DAC6"/>
                </a:solidFill>
                <a:latin typeface="Times New Roman"/>
                <a:ea typeface="Times New Roman" pitchFamily="34" charset="-122"/>
                <a:cs typeface="Times New Roman"/>
              </a:rPr>
              <a:t>Nguyễn Minh Hải · 24100173 </a:t>
            </a:r>
            <a:endParaRPr lang="en-US" sz="2150">
              <a:solidFill>
                <a:srgbClr val="000000"/>
              </a:solidFill>
              <a:latin typeface="Times New Roman"/>
              <a:ea typeface="Calibri"/>
              <a:cs typeface="Times New Roman"/>
            </a:endParaRPr>
          </a:p>
          <a:p>
            <a:pPr marL="0" indent="0" algn="l">
              <a:lnSpc>
                <a:spcPct val="133780"/>
              </a:lnSpc>
              <a:buNone/>
            </a:pPr>
            <a:r>
              <a:rPr lang="en-US" sz="2150">
                <a:solidFill>
                  <a:srgbClr val="E6DAC6"/>
                </a:solidFill>
                <a:latin typeface="Times New Roman"/>
                <a:ea typeface="Times New Roman" pitchFamily="34" charset="-122"/>
                <a:cs typeface="Times New Roman"/>
              </a:rPr>
              <a:t>Nguyễn Đình Hải · 24100219</a:t>
            </a:r>
            <a:endParaRPr lang="en-US" sz="2150">
              <a:latin typeface="Times New Roman"/>
              <a:ea typeface="Calibri"/>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6F0"/>
        </a:solidFill>
        <a:effectLst/>
      </p:bgPr>
    </p:bg>
    <p:spTree>
      <p:nvGrpSpPr>
        <p:cNvPr id="1" name=""/>
        <p:cNvGrpSpPr/>
        <p:nvPr/>
      </p:nvGrpSpPr>
      <p:grpSpPr>
        <a:xfrm>
          <a:off x="0" y="0"/>
          <a:ext cx="0" cy="0"/>
          <a:chOff x="0" y="0"/>
          <a:chExt cx="0" cy="0"/>
        </a:xfrm>
      </p:grpSpPr>
      <p:sp>
        <p:nvSpPr>
          <p:cNvPr id="2" name="Text 0"/>
          <p:cNvSpPr/>
          <p:nvPr/>
        </p:nvSpPr>
        <p:spPr>
          <a:xfrm>
            <a:off x="914400" y="800100"/>
            <a:ext cx="18105120" cy="451485"/>
          </a:xfrm>
          <a:prstGeom prst="rect">
            <a:avLst/>
          </a:prstGeom>
          <a:noFill/>
          <a:ln/>
        </p:spPr>
        <p:txBody>
          <a:bodyPr wrap="square" lIns="25400" tIns="25400" rIns="25400" bIns="25400" rtlCol="0" anchor="t">
            <a:normAutofit/>
          </a:bodyPr>
          <a:lstStyle/>
          <a:p>
            <a:pPr marL="0" indent="0" algn="l">
              <a:lnSpc>
                <a:spcPct val="135625"/>
              </a:lnSpc>
              <a:buNone/>
            </a:pPr>
            <a:r>
              <a:rPr lang="en-US" sz="2100" b="1" kern="0" spc="294" dirty="0">
                <a:solidFill>
                  <a:srgbClr val="8A5A2E"/>
                </a:solidFill>
                <a:latin typeface="Times New Roman" pitchFamily="34" charset="0"/>
                <a:ea typeface="Times New Roman" pitchFamily="34" charset="-122"/>
                <a:cs typeface="Times New Roman" pitchFamily="34" charset="-120"/>
              </a:rPr>
              <a:t>BỐI CẢNH</a:t>
            </a:r>
            <a:endParaRPr lang="en-US" sz="2100" dirty="0"/>
          </a:p>
        </p:txBody>
      </p:sp>
      <p:sp>
        <p:nvSpPr>
          <p:cNvPr id="3" name="Text 1"/>
          <p:cNvSpPr/>
          <p:nvPr/>
        </p:nvSpPr>
        <p:spPr>
          <a:xfrm>
            <a:off x="914400" y="1346835"/>
            <a:ext cx="13620750" cy="687705"/>
          </a:xfrm>
          <a:prstGeom prst="rect">
            <a:avLst/>
          </a:prstGeom>
          <a:noFill/>
          <a:ln/>
        </p:spPr>
        <p:txBody>
          <a:bodyPr wrap="square" lIns="25400" tIns="25400" rIns="25400" bIns="25400" rtlCol="0" anchor="t">
            <a:normAutofit/>
          </a:bodyPr>
          <a:lstStyle/>
          <a:p>
            <a:pPr marL="0" indent="0" algn="l">
              <a:lnSpc>
                <a:spcPct val="95787"/>
              </a:lnSpc>
              <a:buNone/>
            </a:pPr>
            <a:r>
              <a:rPr lang="en-US" sz="4650" b="1" kern="0" spc="-70" dirty="0">
                <a:solidFill>
                  <a:srgbClr val="201E1D"/>
                </a:solidFill>
                <a:latin typeface="Times New Roman" pitchFamily="34" charset="0"/>
                <a:ea typeface="Times New Roman" pitchFamily="34" charset="-122"/>
                <a:cs typeface="Times New Roman" pitchFamily="34" charset="-120"/>
              </a:rPr>
              <a:t>Bài toán và mục tiêu</a:t>
            </a:r>
            <a:endParaRPr lang="en-US" sz="4650" dirty="0"/>
          </a:p>
        </p:txBody>
      </p:sp>
      <p:sp>
        <p:nvSpPr>
          <p:cNvPr id="4" name="Text 2"/>
          <p:cNvSpPr/>
          <p:nvPr/>
        </p:nvSpPr>
        <p:spPr>
          <a:xfrm>
            <a:off x="914400" y="2415540"/>
            <a:ext cx="8801100" cy="379452"/>
          </a:xfrm>
          <a:prstGeom prst="rect">
            <a:avLst/>
          </a:prstGeom>
          <a:noFill/>
          <a:ln/>
        </p:spPr>
        <p:txBody>
          <a:bodyPr wrap="square" lIns="25400" tIns="25400" rIns="25400" bIns="25400" rtlCol="0" anchor="t">
            <a:normAutofit/>
          </a:bodyPr>
          <a:lstStyle/>
          <a:p>
            <a:pPr marL="0" indent="0" algn="l">
              <a:lnSpc>
                <a:spcPct val="99556"/>
              </a:lnSpc>
              <a:buNone/>
            </a:pPr>
            <a:r>
              <a:rPr lang="en-US" sz="2400" b="1" kern="0" spc="-36" dirty="0">
                <a:solidFill>
                  <a:srgbClr val="8A5A2E"/>
                </a:solidFill>
                <a:latin typeface="Arial" pitchFamily="34" charset="0"/>
                <a:ea typeface="Arial" pitchFamily="34" charset="-122"/>
                <a:cs typeface="Arial" pitchFamily="34" charset="-120"/>
              </a:rPr>
              <a:t>Vấn đề</a:t>
            </a:r>
            <a:endParaRPr lang="en-US" sz="2400" dirty="0"/>
          </a:p>
        </p:txBody>
      </p:sp>
      <p:sp>
        <p:nvSpPr>
          <p:cNvPr id="5" name="Text 3"/>
          <p:cNvSpPr/>
          <p:nvPr/>
        </p:nvSpPr>
        <p:spPr>
          <a:xfrm>
            <a:off x="914400" y="2966442"/>
            <a:ext cx="8241030" cy="1409700"/>
          </a:xfrm>
          <a:prstGeom prst="rect">
            <a:avLst/>
          </a:prstGeom>
          <a:noFill/>
          <a:ln/>
        </p:spPr>
        <p:txBody>
          <a:bodyPr wrap="square" lIns="25400" tIns="25400" rIns="25400" bIns="25400" rtlCol="0" anchor="t">
            <a:normAutofit/>
          </a:bodyPr>
          <a:lstStyle/>
          <a:p>
            <a:pPr marL="0" indent="0" algn="l">
              <a:lnSpc>
                <a:spcPct val="127660"/>
              </a:lnSpc>
              <a:buNone/>
            </a:pPr>
            <a:r>
              <a:rPr lang="en-US" sz="2400" dirty="0">
                <a:solidFill>
                  <a:srgbClr val="4A443F"/>
                </a:solidFill>
                <a:latin typeface="Times New Roman" pitchFamily="34" charset="0"/>
                <a:ea typeface="Times New Roman" pitchFamily="34" charset="-122"/>
                <a:cs typeface="Times New Roman" pitchFamily="34" charset="-120"/>
              </a:rPr>
              <a:t>Cửa hàng, thư viện hay phòng thí nghiệm cần biết có bao nhiêu người vào ra và đang có mặt. Đếm bằng người thì tốn nhân lực, sai số cao và không lưu được số liệu để phân tích.</a:t>
            </a:r>
            <a:endParaRPr lang="en-US" sz="2400" dirty="0"/>
          </a:p>
        </p:txBody>
      </p:sp>
      <p:sp>
        <p:nvSpPr>
          <p:cNvPr id="6" name="Text 4"/>
          <p:cNvSpPr/>
          <p:nvPr/>
        </p:nvSpPr>
        <p:spPr>
          <a:xfrm>
            <a:off x="914400" y="4547592"/>
            <a:ext cx="8241030" cy="952500"/>
          </a:xfrm>
          <a:prstGeom prst="rect">
            <a:avLst/>
          </a:prstGeom>
          <a:noFill/>
          <a:ln/>
        </p:spPr>
        <p:txBody>
          <a:bodyPr wrap="square" lIns="25400" tIns="25400" rIns="25400" bIns="25400" rtlCol="0" anchor="t">
            <a:normAutofit/>
          </a:bodyPr>
          <a:lstStyle/>
          <a:p>
            <a:pPr marL="0" indent="0" algn="l">
              <a:lnSpc>
                <a:spcPct val="127660"/>
              </a:lnSpc>
              <a:buNone/>
            </a:pPr>
            <a:r>
              <a:rPr lang="en-US" sz="2400" dirty="0">
                <a:solidFill>
                  <a:srgbClr val="4A443F"/>
                </a:solidFill>
                <a:latin typeface="Times New Roman" pitchFamily="34" charset="0"/>
                <a:ea typeface="Times New Roman" pitchFamily="34" charset="-122"/>
                <a:cs typeface="Times New Roman" pitchFamily="34" charset="-120"/>
              </a:rPr>
              <a:t>Cảm biến hồng ngoại rẻ nhưng không phân biệt được người đi qua lại nhiều lần, cũng không biết ai đã được đếm.</a:t>
            </a:r>
            <a:endParaRPr lang="en-US" sz="2400" dirty="0"/>
          </a:p>
        </p:txBody>
      </p:sp>
      <p:sp>
        <p:nvSpPr>
          <p:cNvPr id="7" name="Text 5"/>
          <p:cNvSpPr/>
          <p:nvPr/>
        </p:nvSpPr>
        <p:spPr>
          <a:xfrm>
            <a:off x="9372600" y="2415540"/>
            <a:ext cx="8801100" cy="379452"/>
          </a:xfrm>
          <a:prstGeom prst="rect">
            <a:avLst/>
          </a:prstGeom>
          <a:noFill/>
          <a:ln/>
        </p:spPr>
        <p:txBody>
          <a:bodyPr wrap="square" lIns="25400" tIns="25400" rIns="25400" bIns="25400" rtlCol="0" anchor="t">
            <a:normAutofit/>
          </a:bodyPr>
          <a:lstStyle/>
          <a:p>
            <a:pPr marL="0" indent="0" algn="l">
              <a:lnSpc>
                <a:spcPct val="99556"/>
              </a:lnSpc>
              <a:buNone/>
            </a:pPr>
            <a:r>
              <a:rPr lang="en-US" sz="2400" b="1" kern="0" spc="-36" dirty="0">
                <a:solidFill>
                  <a:srgbClr val="4C5A35"/>
                </a:solidFill>
                <a:latin typeface="Arial" pitchFamily="34" charset="0"/>
                <a:ea typeface="Arial" pitchFamily="34" charset="-122"/>
                <a:cs typeface="Arial" pitchFamily="34" charset="-120"/>
              </a:rPr>
              <a:t>Mục tiêu của chương trình</a:t>
            </a:r>
            <a:endParaRPr lang="en-US" sz="2400" dirty="0"/>
          </a:p>
        </p:txBody>
      </p:sp>
      <p:sp>
        <p:nvSpPr>
          <p:cNvPr id="8" name="Shape 6"/>
          <p:cNvSpPr/>
          <p:nvPr/>
        </p:nvSpPr>
        <p:spPr>
          <a:xfrm>
            <a:off x="9372600" y="2928342"/>
            <a:ext cx="8001000" cy="1245870"/>
          </a:xfrm>
          <a:prstGeom prst="roundRect">
            <a:avLst>
              <a:gd name="adj" fmla="val 15291"/>
            </a:avLst>
          </a:prstGeom>
          <a:solidFill>
            <a:srgbClr val="E4E8D8"/>
          </a:solidFill>
          <a:ln/>
        </p:spPr>
      </p:sp>
      <p:sp>
        <p:nvSpPr>
          <p:cNvPr id="9" name="Text 7"/>
          <p:cNvSpPr/>
          <p:nvPr/>
        </p:nvSpPr>
        <p:spPr>
          <a:xfrm>
            <a:off x="9639300" y="3137892"/>
            <a:ext cx="7707630" cy="864870"/>
          </a:xfrm>
          <a:prstGeom prst="rect">
            <a:avLst/>
          </a:prstGeom>
          <a:noFill/>
          <a:ln/>
        </p:spPr>
        <p:txBody>
          <a:bodyPr wrap="square" lIns="25400" tIns="25400" rIns="25400" bIns="25400" rtlCol="0" anchor="t">
            <a:normAutofit/>
          </a:bodyPr>
          <a:lstStyle/>
          <a:p>
            <a:pPr marL="0" indent="0" algn="l">
              <a:lnSpc>
                <a:spcPct val="120556"/>
              </a:lnSpc>
              <a:buNone/>
            </a:pPr>
            <a:r>
              <a:rPr lang="en-US" sz="2325" dirty="0">
                <a:solidFill>
                  <a:srgbClr val="3A4429"/>
                </a:solidFill>
                <a:latin typeface="Times New Roman" pitchFamily="34" charset="0"/>
                <a:ea typeface="Times New Roman" pitchFamily="34" charset="-122"/>
                <a:cs typeface="Times New Roman" pitchFamily="34" charset="-120"/>
              </a:rPr>
              <a:t>Chạy thời gian thực với webcam, video quay sẵn hoặc điện thoại làm camera IP</a:t>
            </a:r>
            <a:endParaRPr lang="en-US" sz="2325" dirty="0"/>
          </a:p>
        </p:txBody>
      </p:sp>
      <p:sp>
        <p:nvSpPr>
          <p:cNvPr id="10" name="Shape 8"/>
          <p:cNvSpPr/>
          <p:nvPr/>
        </p:nvSpPr>
        <p:spPr>
          <a:xfrm>
            <a:off x="9372600" y="4345662"/>
            <a:ext cx="8001000" cy="1245870"/>
          </a:xfrm>
          <a:prstGeom prst="roundRect">
            <a:avLst>
              <a:gd name="adj" fmla="val 15291"/>
            </a:avLst>
          </a:prstGeom>
          <a:solidFill>
            <a:srgbClr val="EFE0C6"/>
          </a:solidFill>
          <a:ln/>
        </p:spPr>
      </p:sp>
      <p:sp>
        <p:nvSpPr>
          <p:cNvPr id="11" name="Text 9"/>
          <p:cNvSpPr/>
          <p:nvPr/>
        </p:nvSpPr>
        <p:spPr>
          <a:xfrm>
            <a:off x="9639300" y="4555212"/>
            <a:ext cx="7707630" cy="864870"/>
          </a:xfrm>
          <a:prstGeom prst="rect">
            <a:avLst/>
          </a:prstGeom>
          <a:noFill/>
          <a:ln/>
        </p:spPr>
        <p:txBody>
          <a:bodyPr wrap="square" lIns="25400" tIns="25400" rIns="25400" bIns="25400" rtlCol="0" anchor="t">
            <a:normAutofit/>
          </a:bodyPr>
          <a:lstStyle/>
          <a:p>
            <a:pPr marL="0" indent="0" algn="l">
              <a:lnSpc>
                <a:spcPct val="120556"/>
              </a:lnSpc>
              <a:buNone/>
            </a:pPr>
            <a:r>
              <a:rPr lang="en-US" sz="2325" dirty="0">
                <a:solidFill>
                  <a:srgbClr val="4A443F"/>
                </a:solidFill>
                <a:latin typeface="Times New Roman" pitchFamily="34" charset="0"/>
                <a:ea typeface="Times New Roman" pitchFamily="34" charset="-122"/>
                <a:cs typeface="Times New Roman" pitchFamily="34" charset="-120"/>
              </a:rPr>
              <a:t>Đếm tách bạch lượt vào và lượt ra, mỗi người chỉ đếm một lần cho mỗi hướng</a:t>
            </a:r>
            <a:endParaRPr lang="en-US" sz="2325" dirty="0"/>
          </a:p>
        </p:txBody>
      </p:sp>
      <p:sp>
        <p:nvSpPr>
          <p:cNvPr id="12" name="Shape 10"/>
          <p:cNvSpPr/>
          <p:nvPr/>
        </p:nvSpPr>
        <p:spPr>
          <a:xfrm>
            <a:off x="9372600" y="5762983"/>
            <a:ext cx="8001000" cy="832485"/>
          </a:xfrm>
          <a:prstGeom prst="roundRect">
            <a:avLst>
              <a:gd name="adj" fmla="val 22883"/>
            </a:avLst>
          </a:prstGeom>
          <a:solidFill>
            <a:srgbClr val="E4E8D8"/>
          </a:solidFill>
          <a:ln/>
        </p:spPr>
      </p:sp>
      <p:sp>
        <p:nvSpPr>
          <p:cNvPr id="13" name="Text 11"/>
          <p:cNvSpPr/>
          <p:nvPr/>
        </p:nvSpPr>
        <p:spPr>
          <a:xfrm>
            <a:off x="9639300" y="5972533"/>
            <a:ext cx="7707630" cy="451485"/>
          </a:xfrm>
          <a:prstGeom prst="rect">
            <a:avLst/>
          </a:prstGeom>
          <a:noFill/>
          <a:ln/>
        </p:spPr>
        <p:txBody>
          <a:bodyPr wrap="square" lIns="25400" tIns="25400" rIns="25400" bIns="25400" rtlCol="0" anchor="t">
            <a:normAutofit/>
          </a:bodyPr>
          <a:lstStyle/>
          <a:p>
            <a:pPr marL="0" indent="0" algn="l">
              <a:lnSpc>
                <a:spcPct val="120556"/>
              </a:lnSpc>
              <a:buNone/>
            </a:pPr>
            <a:r>
              <a:rPr lang="en-US" sz="2325" dirty="0">
                <a:solidFill>
                  <a:srgbClr val="3A4429"/>
                </a:solidFill>
                <a:latin typeface="Times New Roman" pitchFamily="34" charset="0"/>
                <a:ea typeface="Times New Roman" pitchFamily="34" charset="-122"/>
                <a:cs typeface="Times New Roman" pitchFamily="34" charset="-120"/>
              </a:rPr>
              <a:t>Tự ghi nhật ký từng lượt và chốt tổng theo ngày ra file CSV</a:t>
            </a:r>
            <a:endParaRPr lang="en-US" sz="2325" dirty="0"/>
          </a:p>
        </p:txBody>
      </p:sp>
      <p:sp>
        <p:nvSpPr>
          <p:cNvPr id="14" name="Shape 12"/>
          <p:cNvSpPr/>
          <p:nvPr/>
        </p:nvSpPr>
        <p:spPr>
          <a:xfrm>
            <a:off x="9372600" y="6766917"/>
            <a:ext cx="8001000" cy="832485"/>
          </a:xfrm>
          <a:prstGeom prst="roundRect">
            <a:avLst>
              <a:gd name="adj" fmla="val 22883"/>
            </a:avLst>
          </a:prstGeom>
          <a:solidFill>
            <a:srgbClr val="EFE0C6"/>
          </a:solidFill>
          <a:ln/>
        </p:spPr>
      </p:sp>
      <p:sp>
        <p:nvSpPr>
          <p:cNvPr id="15" name="Text 13"/>
          <p:cNvSpPr/>
          <p:nvPr/>
        </p:nvSpPr>
        <p:spPr>
          <a:xfrm>
            <a:off x="9639300" y="6976467"/>
            <a:ext cx="7707630" cy="451485"/>
          </a:xfrm>
          <a:prstGeom prst="rect">
            <a:avLst/>
          </a:prstGeom>
          <a:noFill/>
          <a:ln/>
        </p:spPr>
        <p:txBody>
          <a:bodyPr wrap="square" lIns="25400" tIns="25400" rIns="25400" bIns="25400" rtlCol="0" anchor="t">
            <a:normAutofit/>
          </a:bodyPr>
          <a:lstStyle/>
          <a:p>
            <a:pPr marL="0" indent="0" algn="l">
              <a:lnSpc>
                <a:spcPct val="120556"/>
              </a:lnSpc>
              <a:buNone/>
            </a:pPr>
            <a:r>
              <a:rPr lang="en-US" sz="2325" dirty="0">
                <a:solidFill>
                  <a:srgbClr val="4A443F"/>
                </a:solidFill>
                <a:latin typeface="Times New Roman" pitchFamily="34" charset="0"/>
                <a:ea typeface="Times New Roman" pitchFamily="34" charset="-122"/>
                <a:cs typeface="Times New Roman" pitchFamily="34" charset="-120"/>
              </a:rPr>
              <a:t>Cảnh báo khi số người trong phòng vượt sức chứa cho phép</a:t>
            </a:r>
            <a:endParaRPr lang="en-US" sz="2325" dirty="0"/>
          </a:p>
        </p:txBody>
      </p:sp>
      <p:sp>
        <p:nvSpPr>
          <p:cNvPr id="16" name="Shape 14"/>
          <p:cNvSpPr/>
          <p:nvPr/>
        </p:nvSpPr>
        <p:spPr>
          <a:xfrm>
            <a:off x="9372600" y="7770852"/>
            <a:ext cx="8001000" cy="1245870"/>
          </a:xfrm>
          <a:prstGeom prst="roundRect">
            <a:avLst>
              <a:gd name="adj" fmla="val 15291"/>
            </a:avLst>
          </a:prstGeom>
          <a:solidFill>
            <a:srgbClr val="E4E8D8"/>
          </a:solidFill>
          <a:ln/>
        </p:spPr>
      </p:sp>
      <p:sp>
        <p:nvSpPr>
          <p:cNvPr id="17" name="Text 15"/>
          <p:cNvSpPr/>
          <p:nvPr/>
        </p:nvSpPr>
        <p:spPr>
          <a:xfrm>
            <a:off x="9639300" y="7980402"/>
            <a:ext cx="7707630" cy="864870"/>
          </a:xfrm>
          <a:prstGeom prst="rect">
            <a:avLst/>
          </a:prstGeom>
          <a:noFill/>
          <a:ln/>
        </p:spPr>
        <p:txBody>
          <a:bodyPr wrap="square" lIns="25400" tIns="25400" rIns="25400" bIns="25400" rtlCol="0" anchor="t">
            <a:normAutofit/>
          </a:bodyPr>
          <a:lstStyle/>
          <a:p>
            <a:pPr marL="0" indent="0" algn="l">
              <a:lnSpc>
                <a:spcPct val="120556"/>
              </a:lnSpc>
              <a:buNone/>
            </a:pPr>
            <a:r>
              <a:rPr lang="en-US" sz="2325" dirty="0">
                <a:solidFill>
                  <a:srgbClr val="3A4429"/>
                </a:solidFill>
                <a:latin typeface="Times New Roman" pitchFamily="34" charset="0"/>
                <a:ea typeface="Times New Roman" pitchFamily="34" charset="-122"/>
                <a:cs typeface="Times New Roman" pitchFamily="34" charset="-120"/>
              </a:rPr>
              <a:t>Đo thời gian lưu lại và trực quan hóa số liệu bằng Dashboard biểu đồ</a:t>
            </a:r>
            <a:endParaRPr lang="en-US" sz="23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6F0"/>
        </a:solidFill>
        <a:effectLst/>
      </p:bgPr>
    </p:bg>
    <p:spTree>
      <p:nvGrpSpPr>
        <p:cNvPr id="1" name=""/>
        <p:cNvGrpSpPr/>
        <p:nvPr/>
      </p:nvGrpSpPr>
      <p:grpSpPr>
        <a:xfrm>
          <a:off x="0" y="0"/>
          <a:ext cx="0" cy="0"/>
          <a:chOff x="0" y="0"/>
          <a:chExt cx="0" cy="0"/>
        </a:xfrm>
      </p:grpSpPr>
      <p:sp>
        <p:nvSpPr>
          <p:cNvPr id="2" name="Text 0"/>
          <p:cNvSpPr/>
          <p:nvPr/>
        </p:nvSpPr>
        <p:spPr>
          <a:xfrm>
            <a:off x="914400" y="800100"/>
            <a:ext cx="18105120" cy="451485"/>
          </a:xfrm>
          <a:prstGeom prst="rect">
            <a:avLst/>
          </a:prstGeom>
          <a:noFill/>
          <a:ln/>
        </p:spPr>
        <p:txBody>
          <a:bodyPr wrap="square" lIns="25400" tIns="25400" rIns="25400" bIns="25400" rtlCol="0" anchor="t">
            <a:normAutofit/>
          </a:bodyPr>
          <a:lstStyle/>
          <a:p>
            <a:pPr marL="0" indent="0" algn="l">
              <a:lnSpc>
                <a:spcPct val="135625"/>
              </a:lnSpc>
              <a:buNone/>
            </a:pPr>
            <a:r>
              <a:rPr lang="en-US" sz="2100" b="1" kern="0" spc="294" dirty="0">
                <a:solidFill>
                  <a:srgbClr val="8A5A2E"/>
                </a:solidFill>
                <a:latin typeface="Times New Roman" pitchFamily="34" charset="0"/>
                <a:ea typeface="Times New Roman" pitchFamily="34" charset="-122"/>
                <a:cs typeface="Times New Roman" pitchFamily="34" charset="-120"/>
              </a:rPr>
              <a:t>KIẾN TRÚC</a:t>
            </a:r>
            <a:endParaRPr lang="en-US" sz="2100" dirty="0"/>
          </a:p>
        </p:txBody>
      </p:sp>
      <p:sp>
        <p:nvSpPr>
          <p:cNvPr id="3" name="Text 1"/>
          <p:cNvSpPr/>
          <p:nvPr/>
        </p:nvSpPr>
        <p:spPr>
          <a:xfrm>
            <a:off x="914400" y="1346835"/>
            <a:ext cx="18105120" cy="687705"/>
          </a:xfrm>
          <a:prstGeom prst="rect">
            <a:avLst/>
          </a:prstGeom>
          <a:noFill/>
          <a:ln/>
        </p:spPr>
        <p:txBody>
          <a:bodyPr wrap="square" lIns="25400" tIns="25400" rIns="25400" bIns="25400" rtlCol="0" anchor="t">
            <a:normAutofit/>
          </a:bodyPr>
          <a:lstStyle/>
          <a:p>
            <a:pPr marL="0" indent="0" algn="l">
              <a:lnSpc>
                <a:spcPct val="95787"/>
              </a:lnSpc>
              <a:buNone/>
            </a:pPr>
            <a:r>
              <a:rPr lang="en-US" sz="4650" b="1" kern="0" spc="-70" dirty="0">
                <a:solidFill>
                  <a:srgbClr val="201E1D"/>
                </a:solidFill>
                <a:latin typeface="Times New Roman" pitchFamily="34" charset="0"/>
                <a:ea typeface="Times New Roman" pitchFamily="34" charset="-122"/>
                <a:cs typeface="Times New Roman" pitchFamily="34" charset="-120"/>
              </a:rPr>
              <a:t>Luồng xử lý mỗi khung hình</a:t>
            </a:r>
            <a:endParaRPr lang="en-US" sz="4650" dirty="0"/>
          </a:p>
        </p:txBody>
      </p:sp>
      <p:sp>
        <p:nvSpPr>
          <p:cNvPr id="4" name="Shape 2"/>
          <p:cNvSpPr/>
          <p:nvPr/>
        </p:nvSpPr>
        <p:spPr>
          <a:xfrm>
            <a:off x="914400" y="2491740"/>
            <a:ext cx="3108960" cy="2882741"/>
          </a:xfrm>
          <a:prstGeom prst="roundRect">
            <a:avLst>
              <a:gd name="adj" fmla="val 7930"/>
            </a:avLst>
          </a:prstGeom>
          <a:solidFill>
            <a:srgbClr val="EFE0C6"/>
          </a:solidFill>
          <a:ln/>
        </p:spPr>
      </p:sp>
      <p:sp>
        <p:nvSpPr>
          <p:cNvPr id="5" name="Shape 3"/>
          <p:cNvSpPr/>
          <p:nvPr/>
        </p:nvSpPr>
        <p:spPr>
          <a:xfrm>
            <a:off x="1162050" y="2777490"/>
            <a:ext cx="533400" cy="533400"/>
          </a:xfrm>
          <a:prstGeom prst="ellipse">
            <a:avLst/>
          </a:prstGeom>
          <a:solidFill>
            <a:srgbClr val="C67139"/>
          </a:solidFill>
          <a:ln/>
        </p:spPr>
      </p:sp>
      <p:sp>
        <p:nvSpPr>
          <p:cNvPr id="6" name="Text 4"/>
          <p:cNvSpPr/>
          <p:nvPr/>
        </p:nvSpPr>
        <p:spPr>
          <a:xfrm>
            <a:off x="1123950" y="2777490"/>
            <a:ext cx="609600" cy="571500"/>
          </a:xfrm>
          <a:prstGeom prst="rect">
            <a:avLst/>
          </a:prstGeom>
          <a:noFill/>
          <a:ln/>
        </p:spPr>
        <p:txBody>
          <a:bodyPr wrap="square" lIns="25400" tIns="25400" rIns="25400" bIns="25400" rtlCol="0" anchor="ctr">
            <a:normAutofit/>
          </a:bodyPr>
          <a:lstStyle/>
          <a:p>
            <a:pPr marL="0" indent="0" algn="ctr">
              <a:lnSpc>
                <a:spcPct val="135174"/>
              </a:lnSpc>
              <a:buNone/>
            </a:pPr>
            <a:r>
              <a:rPr lang="en-US" sz="2250" b="1" dirty="0">
                <a:solidFill>
                  <a:srgbClr val="FFFFFF"/>
                </a:solidFill>
                <a:latin typeface="Times New Roman" pitchFamily="34" charset="0"/>
                <a:ea typeface="Times New Roman" pitchFamily="34" charset="-122"/>
                <a:cs typeface="Times New Roman" pitchFamily="34" charset="-120"/>
              </a:rPr>
              <a:t>1</a:t>
            </a:r>
            <a:endParaRPr lang="en-US" sz="2250" dirty="0"/>
          </a:p>
        </p:txBody>
      </p:sp>
      <p:sp>
        <p:nvSpPr>
          <p:cNvPr id="7" name="Text 5"/>
          <p:cNvSpPr/>
          <p:nvPr/>
        </p:nvSpPr>
        <p:spPr>
          <a:xfrm>
            <a:off x="1162050" y="3463290"/>
            <a:ext cx="2875026" cy="392430"/>
          </a:xfrm>
          <a:prstGeom prst="rect">
            <a:avLst/>
          </a:prstGeom>
          <a:noFill/>
          <a:ln/>
        </p:spPr>
        <p:txBody>
          <a:bodyPr wrap="square" lIns="25400" tIns="25400" rIns="25400" bIns="25400" rtlCol="0" anchor="t">
            <a:normAutofit/>
          </a:bodyPr>
          <a:lstStyle/>
          <a:p>
            <a:pPr marL="0" indent="0" algn="l">
              <a:lnSpc>
                <a:spcPct val="103333"/>
              </a:lnSpc>
              <a:buNone/>
            </a:pPr>
            <a:r>
              <a:rPr lang="en-US" sz="2325" b="1" dirty="0">
                <a:solidFill>
                  <a:srgbClr val="201E1D"/>
                </a:solidFill>
                <a:latin typeface="Times New Roman" pitchFamily="34" charset="0"/>
                <a:ea typeface="Times New Roman" pitchFamily="34" charset="-122"/>
                <a:cs typeface="Times New Roman" pitchFamily="34" charset="-120"/>
              </a:rPr>
              <a:t>Đọc khung hình</a:t>
            </a:r>
            <a:endParaRPr lang="en-US" sz="2325" dirty="0"/>
          </a:p>
        </p:txBody>
      </p:sp>
      <p:sp>
        <p:nvSpPr>
          <p:cNvPr id="8" name="Text 6"/>
          <p:cNvSpPr/>
          <p:nvPr/>
        </p:nvSpPr>
        <p:spPr>
          <a:xfrm>
            <a:off x="1162050" y="3970020"/>
            <a:ext cx="2692070" cy="1156811"/>
          </a:xfrm>
          <a:prstGeom prst="rect">
            <a:avLst/>
          </a:prstGeom>
          <a:noFill/>
          <a:ln/>
        </p:spPr>
        <p:txBody>
          <a:bodyPr wrap="square" lIns="25400" tIns="25400" rIns="25400" bIns="25400" rtlCol="0" anchor="t">
            <a:normAutofit/>
          </a:bodyPr>
          <a:lstStyle/>
          <a:p>
            <a:pPr marL="0" indent="0" algn="l">
              <a:lnSpc>
                <a:spcPct val="116518"/>
              </a:lnSpc>
              <a:buNone/>
            </a:pPr>
            <a:r>
              <a:rPr lang="en-US" sz="2175" dirty="0">
                <a:solidFill>
                  <a:srgbClr val="6B635B"/>
                </a:solidFill>
                <a:latin typeface="Times New Roman" pitchFamily="34" charset="0"/>
                <a:ea typeface="Times New Roman" pitchFamily="34" charset="-122"/>
                <a:cs typeface="Times New Roman" pitchFamily="34" charset="-120"/>
              </a:rPr>
              <a:t>cv2.VideoCapture từ webcam, file video hoặc camera IP</a:t>
            </a:r>
            <a:endParaRPr lang="en-US" sz="2175" dirty="0"/>
          </a:p>
        </p:txBody>
      </p:sp>
      <p:sp>
        <p:nvSpPr>
          <p:cNvPr id="9" name="Shape 7"/>
          <p:cNvSpPr/>
          <p:nvPr/>
        </p:nvSpPr>
        <p:spPr>
          <a:xfrm>
            <a:off x="4251960" y="2491740"/>
            <a:ext cx="3108960" cy="2882741"/>
          </a:xfrm>
          <a:prstGeom prst="roundRect">
            <a:avLst>
              <a:gd name="adj" fmla="val 7930"/>
            </a:avLst>
          </a:prstGeom>
          <a:solidFill>
            <a:srgbClr val="EFE0C6"/>
          </a:solidFill>
          <a:ln/>
        </p:spPr>
      </p:sp>
      <p:sp>
        <p:nvSpPr>
          <p:cNvPr id="10" name="Shape 8"/>
          <p:cNvSpPr/>
          <p:nvPr/>
        </p:nvSpPr>
        <p:spPr>
          <a:xfrm>
            <a:off x="4499610" y="2777490"/>
            <a:ext cx="533400" cy="533400"/>
          </a:xfrm>
          <a:prstGeom prst="ellipse">
            <a:avLst/>
          </a:prstGeom>
          <a:solidFill>
            <a:srgbClr val="C67139"/>
          </a:solidFill>
          <a:ln/>
        </p:spPr>
      </p:sp>
      <p:sp>
        <p:nvSpPr>
          <p:cNvPr id="11" name="Text 9"/>
          <p:cNvSpPr/>
          <p:nvPr/>
        </p:nvSpPr>
        <p:spPr>
          <a:xfrm>
            <a:off x="4461510" y="2777490"/>
            <a:ext cx="609600" cy="571500"/>
          </a:xfrm>
          <a:prstGeom prst="rect">
            <a:avLst/>
          </a:prstGeom>
          <a:noFill/>
          <a:ln/>
        </p:spPr>
        <p:txBody>
          <a:bodyPr wrap="square" lIns="25400" tIns="25400" rIns="25400" bIns="25400" rtlCol="0" anchor="ctr">
            <a:normAutofit/>
          </a:bodyPr>
          <a:lstStyle/>
          <a:p>
            <a:pPr marL="0" indent="0" algn="ctr">
              <a:lnSpc>
                <a:spcPct val="135174"/>
              </a:lnSpc>
              <a:buNone/>
            </a:pPr>
            <a:r>
              <a:rPr lang="en-US" sz="2250" b="1" dirty="0">
                <a:solidFill>
                  <a:srgbClr val="FFFFFF"/>
                </a:solidFill>
                <a:latin typeface="Times New Roman" pitchFamily="34" charset="0"/>
                <a:ea typeface="Times New Roman" pitchFamily="34" charset="-122"/>
                <a:cs typeface="Times New Roman" pitchFamily="34" charset="-120"/>
              </a:rPr>
              <a:t>2</a:t>
            </a:r>
            <a:endParaRPr lang="en-US" sz="2250" dirty="0"/>
          </a:p>
        </p:txBody>
      </p:sp>
      <p:sp>
        <p:nvSpPr>
          <p:cNvPr id="12" name="Text 10"/>
          <p:cNvSpPr/>
          <p:nvPr/>
        </p:nvSpPr>
        <p:spPr>
          <a:xfrm>
            <a:off x="4499610" y="3463290"/>
            <a:ext cx="2875026" cy="392430"/>
          </a:xfrm>
          <a:prstGeom prst="rect">
            <a:avLst/>
          </a:prstGeom>
          <a:noFill/>
          <a:ln/>
        </p:spPr>
        <p:txBody>
          <a:bodyPr wrap="square" lIns="25400" tIns="25400" rIns="25400" bIns="25400" rtlCol="0" anchor="t">
            <a:normAutofit/>
          </a:bodyPr>
          <a:lstStyle/>
          <a:p>
            <a:pPr marL="0" indent="0" algn="l">
              <a:lnSpc>
                <a:spcPct val="103333"/>
              </a:lnSpc>
              <a:buNone/>
            </a:pPr>
            <a:r>
              <a:rPr lang="en-US" sz="2325" b="1" dirty="0">
                <a:solidFill>
                  <a:srgbClr val="201E1D"/>
                </a:solidFill>
                <a:latin typeface="Times New Roman" pitchFamily="34" charset="0"/>
                <a:ea typeface="Times New Roman" pitchFamily="34" charset="-122"/>
                <a:cs typeface="Times New Roman" pitchFamily="34" charset="-120"/>
              </a:rPr>
              <a:t>Phát hiện &amp; bám</a:t>
            </a:r>
            <a:endParaRPr lang="en-US" sz="2325" dirty="0"/>
          </a:p>
        </p:txBody>
      </p:sp>
      <p:sp>
        <p:nvSpPr>
          <p:cNvPr id="13" name="Text 11"/>
          <p:cNvSpPr/>
          <p:nvPr/>
        </p:nvSpPr>
        <p:spPr>
          <a:xfrm>
            <a:off x="4499610" y="3970020"/>
            <a:ext cx="2692070" cy="1156811"/>
          </a:xfrm>
          <a:prstGeom prst="rect">
            <a:avLst/>
          </a:prstGeom>
          <a:noFill/>
          <a:ln/>
        </p:spPr>
        <p:txBody>
          <a:bodyPr wrap="square" lIns="25400" tIns="25400" rIns="25400" bIns="25400" rtlCol="0" anchor="t">
            <a:normAutofit/>
          </a:bodyPr>
          <a:lstStyle/>
          <a:p>
            <a:pPr marL="0" indent="0" algn="l">
              <a:lnSpc>
                <a:spcPct val="116518"/>
              </a:lnSpc>
              <a:buNone/>
            </a:pPr>
            <a:r>
              <a:rPr lang="en-US" sz="2175" dirty="0">
                <a:solidFill>
                  <a:srgbClr val="6B635B"/>
                </a:solidFill>
                <a:latin typeface="Times New Roman" pitchFamily="34" charset="0"/>
                <a:ea typeface="Times New Roman" pitchFamily="34" charset="-122"/>
                <a:cs typeface="Times New Roman" pitchFamily="34" charset="-120"/>
              </a:rPr>
              <a:t>YOLOv8n lọc riêng lớp người, ByteTrack gán ID ổn định</a:t>
            </a:r>
            <a:endParaRPr lang="en-US" sz="2175" dirty="0"/>
          </a:p>
        </p:txBody>
      </p:sp>
      <p:sp>
        <p:nvSpPr>
          <p:cNvPr id="14" name="Shape 12"/>
          <p:cNvSpPr/>
          <p:nvPr/>
        </p:nvSpPr>
        <p:spPr>
          <a:xfrm>
            <a:off x="7589520" y="2491740"/>
            <a:ext cx="3108960" cy="2882741"/>
          </a:xfrm>
          <a:prstGeom prst="roundRect">
            <a:avLst>
              <a:gd name="adj" fmla="val 7930"/>
            </a:avLst>
          </a:prstGeom>
          <a:solidFill>
            <a:srgbClr val="EFE0C6"/>
          </a:solidFill>
          <a:ln/>
        </p:spPr>
      </p:sp>
      <p:sp>
        <p:nvSpPr>
          <p:cNvPr id="15" name="Shape 13"/>
          <p:cNvSpPr/>
          <p:nvPr/>
        </p:nvSpPr>
        <p:spPr>
          <a:xfrm>
            <a:off x="7837170" y="2777490"/>
            <a:ext cx="533400" cy="533400"/>
          </a:xfrm>
          <a:prstGeom prst="ellipse">
            <a:avLst/>
          </a:prstGeom>
          <a:solidFill>
            <a:srgbClr val="C67139"/>
          </a:solidFill>
          <a:ln/>
        </p:spPr>
      </p:sp>
      <p:sp>
        <p:nvSpPr>
          <p:cNvPr id="16" name="Text 14"/>
          <p:cNvSpPr/>
          <p:nvPr/>
        </p:nvSpPr>
        <p:spPr>
          <a:xfrm>
            <a:off x="7799070" y="2777490"/>
            <a:ext cx="609600" cy="571500"/>
          </a:xfrm>
          <a:prstGeom prst="rect">
            <a:avLst/>
          </a:prstGeom>
          <a:noFill/>
          <a:ln/>
        </p:spPr>
        <p:txBody>
          <a:bodyPr wrap="square" lIns="25400" tIns="25400" rIns="25400" bIns="25400" rtlCol="0" anchor="ctr">
            <a:normAutofit/>
          </a:bodyPr>
          <a:lstStyle/>
          <a:p>
            <a:pPr marL="0" indent="0" algn="ctr">
              <a:lnSpc>
                <a:spcPct val="135174"/>
              </a:lnSpc>
              <a:buNone/>
            </a:pPr>
            <a:r>
              <a:rPr lang="en-US" sz="2250" b="1" dirty="0">
                <a:solidFill>
                  <a:srgbClr val="FFFFFF"/>
                </a:solidFill>
                <a:latin typeface="Times New Roman" pitchFamily="34" charset="0"/>
                <a:ea typeface="Times New Roman" pitchFamily="34" charset="-122"/>
                <a:cs typeface="Times New Roman" pitchFamily="34" charset="-120"/>
              </a:rPr>
              <a:t>3</a:t>
            </a:r>
            <a:endParaRPr lang="en-US" sz="2250" dirty="0"/>
          </a:p>
        </p:txBody>
      </p:sp>
      <p:sp>
        <p:nvSpPr>
          <p:cNvPr id="17" name="Text 15"/>
          <p:cNvSpPr/>
          <p:nvPr/>
        </p:nvSpPr>
        <p:spPr>
          <a:xfrm>
            <a:off x="7837170" y="3463290"/>
            <a:ext cx="2875026" cy="392430"/>
          </a:xfrm>
          <a:prstGeom prst="rect">
            <a:avLst/>
          </a:prstGeom>
          <a:noFill/>
          <a:ln/>
        </p:spPr>
        <p:txBody>
          <a:bodyPr wrap="square" lIns="25400" tIns="25400" rIns="25400" bIns="25400" rtlCol="0" anchor="t">
            <a:normAutofit/>
          </a:bodyPr>
          <a:lstStyle/>
          <a:p>
            <a:pPr marL="0" indent="0" algn="l">
              <a:lnSpc>
                <a:spcPct val="103333"/>
              </a:lnSpc>
              <a:buNone/>
            </a:pPr>
            <a:r>
              <a:rPr lang="en-US" sz="2325" b="1" dirty="0">
                <a:solidFill>
                  <a:srgbClr val="201E1D"/>
                </a:solidFill>
                <a:latin typeface="Times New Roman" pitchFamily="34" charset="0"/>
                <a:ea typeface="Times New Roman" pitchFamily="34" charset="-122"/>
                <a:cs typeface="Times New Roman" pitchFamily="34" charset="-120"/>
              </a:rPr>
              <a:t>Làm sạch bbox</a:t>
            </a:r>
            <a:endParaRPr lang="en-US" sz="2325" dirty="0"/>
          </a:p>
        </p:txBody>
      </p:sp>
      <p:sp>
        <p:nvSpPr>
          <p:cNvPr id="18" name="Text 16"/>
          <p:cNvSpPr/>
          <p:nvPr/>
        </p:nvSpPr>
        <p:spPr>
          <a:xfrm>
            <a:off x="7837170" y="3970020"/>
            <a:ext cx="2692070" cy="1156811"/>
          </a:xfrm>
          <a:prstGeom prst="rect">
            <a:avLst/>
          </a:prstGeom>
          <a:noFill/>
          <a:ln/>
        </p:spPr>
        <p:txBody>
          <a:bodyPr wrap="square" lIns="25400" tIns="25400" rIns="25400" bIns="25400" rtlCol="0" anchor="t">
            <a:normAutofit/>
          </a:bodyPr>
          <a:lstStyle/>
          <a:p>
            <a:pPr marL="0" indent="0" algn="l">
              <a:lnSpc>
                <a:spcPct val="116518"/>
              </a:lnSpc>
              <a:buNone/>
            </a:pPr>
            <a:r>
              <a:rPr lang="en-US" sz="2175" dirty="0">
                <a:solidFill>
                  <a:srgbClr val="6B635B"/>
                </a:solidFill>
                <a:latin typeface="Times New Roman" pitchFamily="34" charset="0"/>
                <a:ea typeface="Times New Roman" pitchFamily="34" charset="-122"/>
                <a:cs typeface="Times New Roman" pitchFamily="34" charset="-120"/>
              </a:rPr>
              <a:t>Bỏ khung quá nhỏ, gộp các khung chồng nhau theo IoU</a:t>
            </a:r>
            <a:endParaRPr lang="en-US" sz="2175" dirty="0"/>
          </a:p>
        </p:txBody>
      </p:sp>
      <p:sp>
        <p:nvSpPr>
          <p:cNvPr id="19" name="Shape 17"/>
          <p:cNvSpPr/>
          <p:nvPr/>
        </p:nvSpPr>
        <p:spPr>
          <a:xfrm>
            <a:off x="10927081" y="2491740"/>
            <a:ext cx="3108960" cy="2882741"/>
          </a:xfrm>
          <a:prstGeom prst="roundRect">
            <a:avLst>
              <a:gd name="adj" fmla="val 7930"/>
            </a:avLst>
          </a:prstGeom>
          <a:solidFill>
            <a:srgbClr val="E4E8D8"/>
          </a:solidFill>
          <a:ln/>
        </p:spPr>
      </p:sp>
      <p:sp>
        <p:nvSpPr>
          <p:cNvPr id="20" name="Shape 18"/>
          <p:cNvSpPr/>
          <p:nvPr/>
        </p:nvSpPr>
        <p:spPr>
          <a:xfrm>
            <a:off x="11174731" y="2777490"/>
            <a:ext cx="533400" cy="533400"/>
          </a:xfrm>
          <a:prstGeom prst="ellipse">
            <a:avLst/>
          </a:prstGeom>
          <a:solidFill>
            <a:srgbClr val="7A8A5E"/>
          </a:solidFill>
          <a:ln/>
        </p:spPr>
      </p:sp>
      <p:sp>
        <p:nvSpPr>
          <p:cNvPr id="21" name="Text 19"/>
          <p:cNvSpPr/>
          <p:nvPr/>
        </p:nvSpPr>
        <p:spPr>
          <a:xfrm>
            <a:off x="11136631" y="2777490"/>
            <a:ext cx="609600" cy="571500"/>
          </a:xfrm>
          <a:prstGeom prst="rect">
            <a:avLst/>
          </a:prstGeom>
          <a:noFill/>
          <a:ln/>
        </p:spPr>
        <p:txBody>
          <a:bodyPr wrap="square" lIns="25400" tIns="25400" rIns="25400" bIns="25400" rtlCol="0" anchor="ctr">
            <a:normAutofit/>
          </a:bodyPr>
          <a:lstStyle/>
          <a:p>
            <a:pPr marL="0" indent="0" algn="ctr">
              <a:lnSpc>
                <a:spcPct val="135174"/>
              </a:lnSpc>
              <a:buNone/>
            </a:pPr>
            <a:r>
              <a:rPr lang="en-US" sz="2250" b="1" dirty="0">
                <a:solidFill>
                  <a:srgbClr val="FFFFFF"/>
                </a:solidFill>
                <a:latin typeface="Times New Roman" pitchFamily="34" charset="0"/>
                <a:ea typeface="Times New Roman" pitchFamily="34" charset="-122"/>
                <a:cs typeface="Times New Roman" pitchFamily="34" charset="-120"/>
              </a:rPr>
              <a:t>4</a:t>
            </a:r>
            <a:endParaRPr lang="en-US" sz="2250" dirty="0"/>
          </a:p>
        </p:txBody>
      </p:sp>
      <p:sp>
        <p:nvSpPr>
          <p:cNvPr id="22" name="Text 20"/>
          <p:cNvSpPr/>
          <p:nvPr/>
        </p:nvSpPr>
        <p:spPr>
          <a:xfrm>
            <a:off x="11174731" y="3463290"/>
            <a:ext cx="2875026" cy="392430"/>
          </a:xfrm>
          <a:prstGeom prst="rect">
            <a:avLst/>
          </a:prstGeom>
          <a:noFill/>
          <a:ln/>
        </p:spPr>
        <p:txBody>
          <a:bodyPr wrap="square" lIns="25400" tIns="25400" rIns="25400" bIns="25400" rtlCol="0" anchor="t">
            <a:normAutofit/>
          </a:bodyPr>
          <a:lstStyle/>
          <a:p>
            <a:pPr marL="0" indent="0" algn="l">
              <a:lnSpc>
                <a:spcPct val="103333"/>
              </a:lnSpc>
              <a:buNone/>
            </a:pPr>
            <a:r>
              <a:rPr lang="en-US" sz="2325" b="1" dirty="0">
                <a:solidFill>
                  <a:srgbClr val="201E1D"/>
                </a:solidFill>
                <a:latin typeface="Times New Roman" pitchFamily="34" charset="0"/>
                <a:ea typeface="Times New Roman" pitchFamily="34" charset="-122"/>
                <a:cs typeface="Times New Roman" pitchFamily="34" charset="-120"/>
              </a:rPr>
              <a:t>Đếm vượt vạch</a:t>
            </a:r>
            <a:endParaRPr lang="en-US" sz="2325" dirty="0"/>
          </a:p>
        </p:txBody>
      </p:sp>
      <p:sp>
        <p:nvSpPr>
          <p:cNvPr id="23" name="Text 21"/>
          <p:cNvSpPr/>
          <p:nvPr/>
        </p:nvSpPr>
        <p:spPr>
          <a:xfrm>
            <a:off x="11174731" y="3970020"/>
            <a:ext cx="2692070" cy="1156811"/>
          </a:xfrm>
          <a:prstGeom prst="rect">
            <a:avLst/>
          </a:prstGeom>
          <a:noFill/>
          <a:ln/>
        </p:spPr>
        <p:txBody>
          <a:bodyPr wrap="square" lIns="25400" tIns="25400" rIns="25400" bIns="25400" rtlCol="0" anchor="t">
            <a:normAutofit/>
          </a:bodyPr>
          <a:lstStyle/>
          <a:p>
            <a:pPr marL="0" indent="0" algn="l">
              <a:lnSpc>
                <a:spcPct val="116518"/>
              </a:lnSpc>
              <a:buNone/>
            </a:pPr>
            <a:r>
              <a:rPr lang="en-US" sz="2175" dirty="0">
                <a:solidFill>
                  <a:srgbClr val="4A5436"/>
                </a:solidFill>
                <a:latin typeface="Times New Roman" pitchFamily="34" charset="0"/>
                <a:ea typeface="Times New Roman" pitchFamily="34" charset="-122"/>
                <a:cs typeface="Times New Roman" pitchFamily="34" charset="-120"/>
              </a:rPr>
              <a:t>Tâm bbox cắt vạch ngang giữa khung thì cộng IN hoặc OUT</a:t>
            </a:r>
            <a:endParaRPr lang="en-US" sz="2175" dirty="0"/>
          </a:p>
        </p:txBody>
      </p:sp>
      <p:sp>
        <p:nvSpPr>
          <p:cNvPr id="24" name="Shape 22"/>
          <p:cNvSpPr/>
          <p:nvPr/>
        </p:nvSpPr>
        <p:spPr>
          <a:xfrm>
            <a:off x="14264640" y="2491740"/>
            <a:ext cx="3108960" cy="2882741"/>
          </a:xfrm>
          <a:prstGeom prst="roundRect">
            <a:avLst>
              <a:gd name="adj" fmla="val 7930"/>
            </a:avLst>
          </a:prstGeom>
          <a:solidFill>
            <a:srgbClr val="E4E8D8"/>
          </a:solidFill>
          <a:ln/>
        </p:spPr>
      </p:sp>
      <p:sp>
        <p:nvSpPr>
          <p:cNvPr id="25" name="Shape 23"/>
          <p:cNvSpPr/>
          <p:nvPr/>
        </p:nvSpPr>
        <p:spPr>
          <a:xfrm>
            <a:off x="14512290" y="2777490"/>
            <a:ext cx="533400" cy="533400"/>
          </a:xfrm>
          <a:prstGeom prst="ellipse">
            <a:avLst/>
          </a:prstGeom>
          <a:solidFill>
            <a:srgbClr val="7A8A5E"/>
          </a:solidFill>
          <a:ln/>
        </p:spPr>
      </p:sp>
      <p:sp>
        <p:nvSpPr>
          <p:cNvPr id="26" name="Text 24"/>
          <p:cNvSpPr/>
          <p:nvPr/>
        </p:nvSpPr>
        <p:spPr>
          <a:xfrm>
            <a:off x="14474190" y="2777490"/>
            <a:ext cx="609600" cy="571500"/>
          </a:xfrm>
          <a:prstGeom prst="rect">
            <a:avLst/>
          </a:prstGeom>
          <a:noFill/>
          <a:ln/>
        </p:spPr>
        <p:txBody>
          <a:bodyPr wrap="square" lIns="25400" tIns="25400" rIns="25400" bIns="25400" rtlCol="0" anchor="ctr">
            <a:normAutofit/>
          </a:bodyPr>
          <a:lstStyle/>
          <a:p>
            <a:pPr marL="0" indent="0" algn="ctr">
              <a:lnSpc>
                <a:spcPct val="135174"/>
              </a:lnSpc>
              <a:buNone/>
            </a:pPr>
            <a:r>
              <a:rPr lang="en-US" sz="2250" b="1" dirty="0">
                <a:solidFill>
                  <a:srgbClr val="FFFFFF"/>
                </a:solidFill>
                <a:latin typeface="Times New Roman" pitchFamily="34" charset="0"/>
                <a:ea typeface="Times New Roman" pitchFamily="34" charset="-122"/>
                <a:cs typeface="Times New Roman" pitchFamily="34" charset="-120"/>
              </a:rPr>
              <a:t>5</a:t>
            </a:r>
            <a:endParaRPr lang="en-US" sz="2250" dirty="0"/>
          </a:p>
        </p:txBody>
      </p:sp>
      <p:sp>
        <p:nvSpPr>
          <p:cNvPr id="27" name="Text 25"/>
          <p:cNvSpPr/>
          <p:nvPr/>
        </p:nvSpPr>
        <p:spPr>
          <a:xfrm>
            <a:off x="14512290" y="3463290"/>
            <a:ext cx="2875026" cy="392430"/>
          </a:xfrm>
          <a:prstGeom prst="rect">
            <a:avLst/>
          </a:prstGeom>
          <a:noFill/>
          <a:ln/>
        </p:spPr>
        <p:txBody>
          <a:bodyPr wrap="square" lIns="25400" tIns="25400" rIns="25400" bIns="25400" rtlCol="0" anchor="t">
            <a:normAutofit/>
          </a:bodyPr>
          <a:lstStyle/>
          <a:p>
            <a:pPr marL="0" indent="0" algn="l">
              <a:lnSpc>
                <a:spcPct val="103333"/>
              </a:lnSpc>
              <a:buNone/>
            </a:pPr>
            <a:r>
              <a:rPr lang="en-US" sz="2325" b="1" dirty="0">
                <a:solidFill>
                  <a:srgbClr val="201E1D"/>
                </a:solidFill>
                <a:latin typeface="Times New Roman" pitchFamily="34" charset="0"/>
                <a:ea typeface="Times New Roman" pitchFamily="34" charset="-122"/>
                <a:cs typeface="Times New Roman" pitchFamily="34" charset="-120"/>
              </a:rPr>
              <a:t>Ghi sổ &amp; vẽ</a:t>
            </a:r>
            <a:endParaRPr lang="en-US" sz="2325" dirty="0"/>
          </a:p>
        </p:txBody>
      </p:sp>
      <p:sp>
        <p:nvSpPr>
          <p:cNvPr id="28" name="Text 26"/>
          <p:cNvSpPr/>
          <p:nvPr/>
        </p:nvSpPr>
        <p:spPr>
          <a:xfrm>
            <a:off x="14512290" y="3970020"/>
            <a:ext cx="2692070" cy="1156811"/>
          </a:xfrm>
          <a:prstGeom prst="rect">
            <a:avLst/>
          </a:prstGeom>
          <a:noFill/>
          <a:ln/>
        </p:spPr>
        <p:txBody>
          <a:bodyPr wrap="square" lIns="25400" tIns="25400" rIns="25400" bIns="25400" rtlCol="0" anchor="t">
            <a:normAutofit/>
          </a:bodyPr>
          <a:lstStyle/>
          <a:p>
            <a:pPr marL="0" indent="0" algn="l">
              <a:lnSpc>
                <a:spcPct val="116518"/>
              </a:lnSpc>
              <a:buNone/>
            </a:pPr>
            <a:r>
              <a:rPr lang="en-US" sz="2175" dirty="0">
                <a:solidFill>
                  <a:srgbClr val="4A5436"/>
                </a:solidFill>
                <a:latin typeface="Times New Roman" pitchFamily="34" charset="0"/>
                <a:ea typeface="Times New Roman" pitchFamily="34" charset="-122"/>
                <a:cs typeface="Times New Roman" pitchFamily="34" charset="-120"/>
              </a:rPr>
              <a:t>Xuất CSV, vẽ bảng số liệu và heatmap lên khung hình</a:t>
            </a:r>
            <a:endParaRPr lang="en-US" sz="2175" dirty="0"/>
          </a:p>
        </p:txBody>
      </p:sp>
      <p:sp>
        <p:nvSpPr>
          <p:cNvPr id="29" name="Text 27"/>
          <p:cNvSpPr/>
          <p:nvPr/>
        </p:nvSpPr>
        <p:spPr>
          <a:xfrm>
            <a:off x="914400" y="5869781"/>
            <a:ext cx="11576685" cy="922020"/>
          </a:xfrm>
          <a:prstGeom prst="rect">
            <a:avLst/>
          </a:prstGeom>
          <a:noFill/>
          <a:ln/>
        </p:spPr>
        <p:txBody>
          <a:bodyPr wrap="square" lIns="25400" tIns="25400" rIns="25400" bIns="25400" rtlCol="0" anchor="t">
            <a:normAutofit/>
          </a:bodyPr>
          <a:lstStyle/>
          <a:p>
            <a:pPr marL="0" indent="0" algn="l">
              <a:lnSpc>
                <a:spcPct val="123404"/>
              </a:lnSpc>
              <a:buNone/>
            </a:pPr>
            <a:r>
              <a:rPr lang="en-US" sz="2400" dirty="0">
                <a:solidFill>
                  <a:srgbClr val="4A443F"/>
                </a:solidFill>
                <a:latin typeface="Times New Roman" pitchFamily="34" charset="0"/>
                <a:ea typeface="Times New Roman" pitchFamily="34" charset="-122"/>
                <a:cs typeface="Times New Roman" pitchFamily="34" charset="-120"/>
              </a:rPr>
              <a:t>Toàn bộ năm bước nằm trong một vòng lặp </a:t>
            </a:r>
            <a:r>
              <a:rPr lang="en-US" sz="2250" dirty="0">
                <a:solidFill>
                  <a:srgbClr val="4A443F"/>
                </a:solidFill>
                <a:highlight>
                  <a:srgbClr val="EFE0C6"/>
                </a:highlight>
                <a:latin typeface="Courier New" pitchFamily="34" charset="0"/>
                <a:ea typeface="Courier New" pitchFamily="34" charset="-122"/>
                <a:cs typeface="Courier New" pitchFamily="34" charset="-120"/>
              </a:rPr>
              <a:t>while True </a:t>
            </a:r>
            <a:r>
              <a:rPr lang="en-US" sz="2400" dirty="0">
                <a:solidFill>
                  <a:srgbClr val="4A443F"/>
                </a:solidFill>
                <a:latin typeface="Times New Roman" pitchFamily="34" charset="0"/>
                <a:ea typeface="Times New Roman" pitchFamily="34" charset="-122"/>
                <a:cs typeface="Times New Roman" pitchFamily="34" charset="-120"/>
              </a:rPr>
              <a:t>duy nhất — mỗi khung hình đi hết luồng rồi mới đọc khung tiếp theo.</a:t>
            </a:r>
            <a:endParaRPr lang="en-US" sz="2400" dirty="0"/>
          </a:p>
        </p:txBody>
      </p:sp>
      <p:sp>
        <p:nvSpPr>
          <p:cNvPr id="30" name="Shape 28"/>
          <p:cNvSpPr/>
          <p:nvPr/>
        </p:nvSpPr>
        <p:spPr>
          <a:xfrm>
            <a:off x="13392150" y="5911691"/>
            <a:ext cx="914400" cy="800100"/>
          </a:xfrm>
          <a:prstGeom prst="rect">
            <a:avLst/>
          </a:prstGeom>
          <a:solidFill>
            <a:srgbClr val="7F7F7F">
              <a:alpha val="8000"/>
            </a:srgbClr>
          </a:solidFill>
          <a:ln/>
        </p:spPr>
      </p:sp>
      <p:pic>
        <p:nvPicPr>
          <p:cNvPr id="31" name="Image 0" descr="preencoded.png"/>
          <p:cNvPicPr>
            <a:picLocks noChangeAspect="1"/>
          </p:cNvPicPr>
          <p:nvPr/>
        </p:nvPicPr>
        <p:blipFill>
          <a:blip r:embed="rId3"/>
          <a:srcRect l="-7143" r="-7143"/>
          <a:stretch/>
        </p:blipFill>
        <p:spPr>
          <a:xfrm>
            <a:off x="13392150" y="5911691"/>
            <a:ext cx="914400" cy="800100"/>
          </a:xfrm>
          <a:prstGeom prst="rect">
            <a:avLst/>
          </a:prstGeom>
        </p:spPr>
      </p:pic>
      <p:sp>
        <p:nvSpPr>
          <p:cNvPr id="32" name="Shape 29"/>
          <p:cNvSpPr/>
          <p:nvPr/>
        </p:nvSpPr>
        <p:spPr>
          <a:xfrm>
            <a:off x="14478000" y="5911691"/>
            <a:ext cx="1809750" cy="800100"/>
          </a:xfrm>
          <a:prstGeom prst="rect">
            <a:avLst/>
          </a:prstGeom>
          <a:solidFill>
            <a:srgbClr val="7F7F7F">
              <a:alpha val="8000"/>
            </a:srgbClr>
          </a:solidFill>
          <a:ln/>
        </p:spPr>
      </p:sp>
      <p:pic>
        <p:nvPicPr>
          <p:cNvPr id="33" name="Image 1" descr="preencoded.png"/>
          <p:cNvPicPr>
            <a:picLocks noChangeAspect="1"/>
          </p:cNvPicPr>
          <p:nvPr/>
        </p:nvPicPr>
        <p:blipFill>
          <a:blip r:embed="rId4"/>
          <a:srcRect t="-73021" b="-73021"/>
          <a:stretch/>
        </p:blipFill>
        <p:spPr>
          <a:xfrm>
            <a:off x="14478000" y="5911691"/>
            <a:ext cx="1809750" cy="800100"/>
          </a:xfrm>
          <a:prstGeom prst="rect">
            <a:avLst/>
          </a:prstGeom>
        </p:spPr>
      </p:pic>
      <p:sp>
        <p:nvSpPr>
          <p:cNvPr id="34" name="Shape 30"/>
          <p:cNvSpPr/>
          <p:nvPr/>
        </p:nvSpPr>
        <p:spPr>
          <a:xfrm>
            <a:off x="16459200" y="5911691"/>
            <a:ext cx="914400" cy="800100"/>
          </a:xfrm>
          <a:prstGeom prst="rect">
            <a:avLst/>
          </a:prstGeom>
          <a:solidFill>
            <a:srgbClr val="7F7F7F">
              <a:alpha val="8000"/>
            </a:srgbClr>
          </a:solidFill>
          <a:ln/>
        </p:spPr>
      </p:sp>
      <p:pic>
        <p:nvPicPr>
          <p:cNvPr id="35" name="Image 2" descr="preencoded.png"/>
          <p:cNvPicPr>
            <a:picLocks noChangeAspect="1"/>
          </p:cNvPicPr>
          <p:nvPr/>
        </p:nvPicPr>
        <p:blipFill>
          <a:blip r:embed="rId5"/>
          <a:srcRect l="-7143" r="-7143"/>
          <a:stretch/>
        </p:blipFill>
        <p:spPr>
          <a:xfrm>
            <a:off x="16459200" y="5911691"/>
            <a:ext cx="914400" cy="8001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6F0"/>
        </a:solidFill>
        <a:effectLst/>
      </p:bgPr>
    </p:bg>
    <p:spTree>
      <p:nvGrpSpPr>
        <p:cNvPr id="1" name=""/>
        <p:cNvGrpSpPr/>
        <p:nvPr/>
      </p:nvGrpSpPr>
      <p:grpSpPr>
        <a:xfrm>
          <a:off x="0" y="0"/>
          <a:ext cx="0" cy="0"/>
          <a:chOff x="0" y="0"/>
          <a:chExt cx="0" cy="0"/>
        </a:xfrm>
      </p:grpSpPr>
      <p:sp>
        <p:nvSpPr>
          <p:cNvPr id="2" name="Text 0"/>
          <p:cNvSpPr/>
          <p:nvPr/>
        </p:nvSpPr>
        <p:spPr>
          <a:xfrm>
            <a:off x="685800" y="590550"/>
            <a:ext cx="5145631" cy="645795"/>
          </a:xfrm>
          <a:prstGeom prst="rect">
            <a:avLst/>
          </a:prstGeom>
          <a:noFill/>
          <a:ln/>
        </p:spPr>
        <p:txBody>
          <a:bodyPr wrap="square" lIns="25400" tIns="25400" rIns="25400" bIns="25400" rtlCol="0" anchor="t">
            <a:normAutofit lnSpcReduction="10000"/>
          </a:bodyPr>
          <a:lstStyle/>
          <a:p>
            <a:pPr marL="0" indent="0" algn="l">
              <a:lnSpc>
                <a:spcPct val="94940"/>
              </a:lnSpc>
              <a:buNone/>
            </a:pPr>
            <a:endParaRPr lang="en-US" sz="4350" b="1" kern="0" spc="-65" dirty="0">
              <a:solidFill>
                <a:srgbClr val="201E1D"/>
              </a:solidFill>
              <a:latin typeface="Times New Roman"/>
              <a:cs typeface="Times New Roman"/>
            </a:endParaRPr>
          </a:p>
        </p:txBody>
      </p:sp>
      <p:sp>
        <p:nvSpPr>
          <p:cNvPr id="3" name="Text 1"/>
          <p:cNvSpPr/>
          <p:nvPr/>
        </p:nvSpPr>
        <p:spPr>
          <a:xfrm>
            <a:off x="699118" y="221525"/>
            <a:ext cx="9011993" cy="1221238"/>
          </a:xfrm>
          <a:prstGeom prst="rect">
            <a:avLst/>
          </a:prstGeom>
          <a:noFill/>
          <a:ln/>
        </p:spPr>
        <p:txBody>
          <a:bodyPr wrap="square" lIns="25400" tIns="25400" rIns="25400" bIns="25400" rtlCol="0" anchor="t">
            <a:noAutofit/>
          </a:bodyPr>
          <a:lstStyle/>
          <a:p>
            <a:pPr marL="0" indent="0" algn="l">
              <a:lnSpc>
                <a:spcPct val="135174"/>
              </a:lnSpc>
              <a:buNone/>
            </a:pPr>
            <a:r>
              <a:rPr lang="en-US" sz="4000" b="1" dirty="0">
                <a:latin typeface="Times New Roman"/>
                <a:ea typeface="Times New Roman" pitchFamily="34" charset="-122"/>
                <a:cs typeface="Times New Roman"/>
              </a:rPr>
              <a:t>9 </a:t>
            </a:r>
            <a:r>
              <a:rPr lang="en-US" sz="4000" b="1" dirty="0" err="1">
                <a:latin typeface="Times New Roman"/>
                <a:ea typeface="Times New Roman" pitchFamily="34" charset="-122"/>
                <a:cs typeface="Times New Roman"/>
              </a:rPr>
              <a:t>Bước</a:t>
            </a:r>
            <a:r>
              <a:rPr lang="en-US" sz="4000" b="1" dirty="0">
                <a:latin typeface="Times New Roman"/>
                <a:ea typeface="Times New Roman" pitchFamily="34" charset="-122"/>
                <a:cs typeface="Times New Roman"/>
              </a:rPr>
              <a:t> </a:t>
            </a:r>
            <a:r>
              <a:rPr lang="en-US" sz="4000" b="1" dirty="0" err="1">
                <a:latin typeface="Times New Roman"/>
                <a:ea typeface="Times New Roman" pitchFamily="34" charset="-122"/>
                <a:cs typeface="Times New Roman"/>
              </a:rPr>
              <a:t>trong</a:t>
            </a:r>
            <a:r>
              <a:rPr lang="en-US" sz="4000" b="1" dirty="0">
                <a:latin typeface="Times New Roman"/>
                <a:ea typeface="Times New Roman" pitchFamily="34" charset="-122"/>
                <a:cs typeface="Times New Roman"/>
              </a:rPr>
              <a:t> </a:t>
            </a:r>
            <a:r>
              <a:rPr lang="en-US" sz="4000" b="1" dirty="0" err="1">
                <a:latin typeface="Times New Roman"/>
                <a:ea typeface="Times New Roman" pitchFamily="34" charset="-122"/>
                <a:cs typeface="Times New Roman"/>
              </a:rPr>
              <a:t>một</a:t>
            </a:r>
            <a:r>
              <a:rPr lang="en-US" sz="4000" b="1" dirty="0">
                <a:latin typeface="Times New Roman"/>
                <a:ea typeface="Times New Roman" pitchFamily="34" charset="-122"/>
                <a:cs typeface="Times New Roman"/>
              </a:rPr>
              <a:t> </a:t>
            </a:r>
            <a:r>
              <a:rPr lang="en-US" sz="4000" b="1" dirty="0" err="1">
                <a:latin typeface="Times New Roman"/>
                <a:ea typeface="Times New Roman" pitchFamily="34" charset="-122"/>
                <a:cs typeface="Times New Roman"/>
              </a:rPr>
              <a:t>vòng</a:t>
            </a:r>
            <a:r>
              <a:rPr lang="en-US" sz="4000" b="1" dirty="0">
                <a:latin typeface="Times New Roman"/>
                <a:ea typeface="Times New Roman" pitchFamily="34" charset="-122"/>
                <a:cs typeface="Times New Roman"/>
              </a:rPr>
              <a:t> </a:t>
            </a:r>
            <a:r>
              <a:rPr lang="en-US" sz="4000" b="1" dirty="0" err="1">
                <a:latin typeface="Times New Roman"/>
                <a:ea typeface="Times New Roman" pitchFamily="34" charset="-122"/>
                <a:cs typeface="Times New Roman"/>
              </a:rPr>
              <a:t>lặp</a:t>
            </a:r>
            <a:r>
              <a:rPr lang="en-US" sz="4000" b="1" dirty="0">
                <a:latin typeface="Times New Roman"/>
                <a:ea typeface="Times New Roman" pitchFamily="34" charset="-122"/>
                <a:cs typeface="Times New Roman"/>
              </a:rPr>
              <a:t> </a:t>
            </a:r>
            <a:r>
              <a:rPr lang="en-US" sz="4000" b="1" dirty="0" err="1">
                <a:latin typeface="Times New Roman"/>
                <a:ea typeface="Times New Roman" pitchFamily="34" charset="-122"/>
                <a:cs typeface="Times New Roman"/>
              </a:rPr>
              <a:t>khung</a:t>
            </a:r>
            <a:r>
              <a:rPr lang="en-US" sz="4000" b="1" dirty="0">
                <a:latin typeface="Times New Roman"/>
                <a:ea typeface="Times New Roman" pitchFamily="34" charset="-122"/>
                <a:cs typeface="Times New Roman"/>
              </a:rPr>
              <a:t> </a:t>
            </a:r>
            <a:r>
              <a:rPr lang="en-US" sz="4000" b="1" dirty="0" err="1">
                <a:latin typeface="Times New Roman"/>
                <a:ea typeface="Times New Roman" pitchFamily="34" charset="-122"/>
                <a:cs typeface="Times New Roman"/>
              </a:rPr>
              <a:t>hình</a:t>
            </a:r>
            <a:endParaRPr lang="en-US" sz="4000" dirty="0">
              <a:latin typeface="Times New Roman"/>
              <a:ea typeface="Calibri"/>
              <a:cs typeface="Times New Roman"/>
            </a:endParaRPr>
          </a:p>
        </p:txBody>
      </p:sp>
      <p:sp>
        <p:nvSpPr>
          <p:cNvPr id="4" name="Shape 2"/>
          <p:cNvSpPr/>
          <p:nvPr/>
        </p:nvSpPr>
        <p:spPr>
          <a:xfrm>
            <a:off x="685800" y="1456373"/>
            <a:ext cx="3078480" cy="3364230"/>
          </a:xfrm>
          <a:prstGeom prst="roundRect">
            <a:avLst>
              <a:gd name="adj" fmla="val 6188"/>
            </a:avLst>
          </a:prstGeom>
          <a:solidFill>
            <a:srgbClr val="EFE0C6"/>
          </a:solidFill>
          <a:ln/>
        </p:spPr>
      </p:sp>
      <p:sp>
        <p:nvSpPr>
          <p:cNvPr id="5" name="Shape 3"/>
          <p:cNvSpPr/>
          <p:nvPr/>
        </p:nvSpPr>
        <p:spPr>
          <a:xfrm>
            <a:off x="914400" y="1665923"/>
            <a:ext cx="2621280" cy="990600"/>
          </a:xfrm>
          <a:prstGeom prst="rect">
            <a:avLst/>
          </a:prstGeom>
          <a:solidFill>
            <a:srgbClr val="7F7F7F">
              <a:alpha val="8000"/>
            </a:srgbClr>
          </a:solidFill>
          <a:ln/>
        </p:spPr>
      </p:sp>
      <p:pic>
        <p:nvPicPr>
          <p:cNvPr id="6" name="Image 0" descr="preencoded.png"/>
          <p:cNvPicPr>
            <a:picLocks noChangeAspect="1"/>
          </p:cNvPicPr>
          <p:nvPr/>
        </p:nvPicPr>
        <p:blipFill>
          <a:blip r:embed="rId3"/>
          <a:srcRect t="26322" b="26322"/>
          <a:stretch/>
        </p:blipFill>
        <p:spPr>
          <a:xfrm>
            <a:off x="914400" y="1665923"/>
            <a:ext cx="2621280" cy="990600"/>
          </a:xfrm>
          <a:prstGeom prst="rect">
            <a:avLst/>
          </a:prstGeom>
        </p:spPr>
      </p:pic>
      <p:sp>
        <p:nvSpPr>
          <p:cNvPr id="7" name="Shape 4"/>
          <p:cNvSpPr/>
          <p:nvPr/>
        </p:nvSpPr>
        <p:spPr>
          <a:xfrm>
            <a:off x="914400" y="2770822"/>
            <a:ext cx="381000" cy="381000"/>
          </a:xfrm>
          <a:prstGeom prst="ellipse">
            <a:avLst/>
          </a:prstGeom>
          <a:solidFill>
            <a:srgbClr val="C67139"/>
          </a:solidFill>
          <a:ln/>
        </p:spPr>
      </p:sp>
      <p:sp>
        <p:nvSpPr>
          <p:cNvPr id="8" name="Text 5"/>
          <p:cNvSpPr/>
          <p:nvPr/>
        </p:nvSpPr>
        <p:spPr>
          <a:xfrm>
            <a:off x="876300" y="2770822"/>
            <a:ext cx="457200" cy="419100"/>
          </a:xfrm>
          <a:prstGeom prst="rect">
            <a:avLst/>
          </a:prstGeom>
          <a:noFill/>
          <a:ln/>
        </p:spPr>
        <p:txBody>
          <a:bodyPr wrap="square" lIns="25400" tIns="25400" rIns="25400" bIns="25400" rtlCol="0" anchor="ctr">
            <a:normAutofit/>
          </a:bodyPr>
          <a:lstStyle/>
          <a:p>
            <a:pPr marL="0" indent="0" algn="ctr">
              <a:lnSpc>
                <a:spcPct val="135625"/>
              </a:lnSpc>
              <a:buNone/>
            </a:pPr>
            <a:r>
              <a:rPr lang="en-US" sz="2100" b="1" dirty="0">
                <a:solidFill>
                  <a:srgbClr val="FFFFFF"/>
                </a:solidFill>
                <a:latin typeface="Times New Roman" pitchFamily="34" charset="0"/>
                <a:ea typeface="Times New Roman" pitchFamily="34" charset="-122"/>
                <a:cs typeface="Times New Roman" pitchFamily="34" charset="-120"/>
              </a:rPr>
              <a:t>1</a:t>
            </a:r>
            <a:endParaRPr lang="en-US" sz="2100" dirty="0"/>
          </a:p>
        </p:txBody>
      </p:sp>
      <p:sp>
        <p:nvSpPr>
          <p:cNvPr id="9" name="Text 6"/>
          <p:cNvSpPr/>
          <p:nvPr/>
        </p:nvSpPr>
        <p:spPr>
          <a:xfrm>
            <a:off x="1409700" y="2789872"/>
            <a:ext cx="1685568" cy="381000"/>
          </a:xfrm>
          <a:prstGeom prst="rect">
            <a:avLst/>
          </a:prstGeom>
          <a:noFill/>
          <a:ln/>
        </p:spPr>
        <p:txBody>
          <a:bodyPr wrap="square" lIns="25400" tIns="25400" rIns="25400" bIns="25400" rtlCol="0" anchor="t">
            <a:normAutofit/>
          </a:bodyPr>
          <a:lstStyle/>
          <a:p>
            <a:pPr marL="0" indent="0" algn="l">
              <a:lnSpc>
                <a:spcPct val="104651"/>
              </a:lnSpc>
              <a:buNone/>
            </a:pPr>
            <a:r>
              <a:rPr lang="en-US" sz="2250" b="1" dirty="0">
                <a:solidFill>
                  <a:srgbClr val="201E1D"/>
                </a:solidFill>
                <a:latin typeface="Times New Roman" pitchFamily="34" charset="0"/>
                <a:ea typeface="Times New Roman" pitchFamily="34" charset="-122"/>
                <a:cs typeface="Times New Roman" pitchFamily="34" charset="-120"/>
              </a:rPr>
              <a:t>Nguồn video</a:t>
            </a:r>
            <a:endParaRPr lang="en-US" sz="2250" dirty="0"/>
          </a:p>
        </p:txBody>
      </p:sp>
      <p:sp>
        <p:nvSpPr>
          <p:cNvPr id="10" name="Text 7"/>
          <p:cNvSpPr/>
          <p:nvPr/>
        </p:nvSpPr>
        <p:spPr>
          <a:xfrm>
            <a:off x="914400" y="3266122"/>
            <a:ext cx="2699919" cy="1078230"/>
          </a:xfrm>
          <a:prstGeom prst="rect">
            <a:avLst/>
          </a:prstGeom>
          <a:noFill/>
          <a:ln/>
        </p:spPr>
        <p:txBody>
          <a:bodyPr wrap="square" lIns="25400" tIns="25400" rIns="25400" bIns="25400" rtlCol="0" anchor="t">
            <a:normAutofit/>
          </a:bodyPr>
          <a:lstStyle/>
          <a:p>
            <a:pPr marL="0" indent="0" algn="l">
              <a:lnSpc>
                <a:spcPct val="113750"/>
              </a:lnSpc>
              <a:buNone/>
            </a:pPr>
            <a:r>
              <a:rPr lang="en-US" sz="2100" dirty="0">
                <a:solidFill>
                  <a:srgbClr val="5A534C"/>
                </a:solidFill>
                <a:latin typeface="Times New Roman" pitchFamily="34" charset="0"/>
                <a:ea typeface="Times New Roman" pitchFamily="34" charset="-122"/>
                <a:cs typeface="Times New Roman" pitchFamily="34" charset="-120"/>
              </a:rPr>
              <a:t>Webcam, file mp4 hoặc điện thoại làm camera IP</a:t>
            </a:r>
            <a:endParaRPr lang="en-US" sz="2100" dirty="0"/>
          </a:p>
        </p:txBody>
      </p:sp>
      <p:sp>
        <p:nvSpPr>
          <p:cNvPr id="11" name="Shape 8"/>
          <p:cNvSpPr/>
          <p:nvPr/>
        </p:nvSpPr>
        <p:spPr>
          <a:xfrm>
            <a:off x="3886200" y="3047047"/>
            <a:ext cx="137160" cy="182880"/>
          </a:xfrm>
          <a:prstGeom prst="rect">
            <a:avLst/>
          </a:prstGeom>
          <a:solidFill>
            <a:srgbClr val="C67139"/>
          </a:solidFill>
          <a:ln/>
        </p:spPr>
      </p:sp>
      <p:sp>
        <p:nvSpPr>
          <p:cNvPr id="12" name="Shape 9"/>
          <p:cNvSpPr/>
          <p:nvPr/>
        </p:nvSpPr>
        <p:spPr>
          <a:xfrm>
            <a:off x="4145280" y="1456373"/>
            <a:ext cx="3078480" cy="3364230"/>
          </a:xfrm>
          <a:prstGeom prst="roundRect">
            <a:avLst>
              <a:gd name="adj" fmla="val 6188"/>
            </a:avLst>
          </a:prstGeom>
          <a:solidFill>
            <a:srgbClr val="EFE0C6"/>
          </a:solidFill>
          <a:ln/>
        </p:spPr>
      </p:sp>
      <p:sp>
        <p:nvSpPr>
          <p:cNvPr id="13" name="Shape 10"/>
          <p:cNvSpPr/>
          <p:nvPr/>
        </p:nvSpPr>
        <p:spPr>
          <a:xfrm>
            <a:off x="4373880" y="1665923"/>
            <a:ext cx="2621280" cy="990600"/>
          </a:xfrm>
          <a:prstGeom prst="rect">
            <a:avLst/>
          </a:prstGeom>
          <a:solidFill>
            <a:srgbClr val="7F7F7F">
              <a:alpha val="8000"/>
            </a:srgbClr>
          </a:solidFill>
          <a:ln/>
        </p:spPr>
      </p:sp>
      <p:pic>
        <p:nvPicPr>
          <p:cNvPr id="14" name="Image 1" descr="preencoded.png"/>
          <p:cNvPicPr>
            <a:picLocks noChangeAspect="1"/>
          </p:cNvPicPr>
          <p:nvPr/>
        </p:nvPicPr>
        <p:blipFill>
          <a:blip r:embed="rId4"/>
          <a:srcRect t="12792" b="12792"/>
          <a:stretch/>
        </p:blipFill>
        <p:spPr>
          <a:xfrm>
            <a:off x="4373880" y="1665923"/>
            <a:ext cx="2621280" cy="990600"/>
          </a:xfrm>
          <a:prstGeom prst="rect">
            <a:avLst/>
          </a:prstGeom>
        </p:spPr>
      </p:pic>
      <p:sp>
        <p:nvSpPr>
          <p:cNvPr id="15" name="Shape 11"/>
          <p:cNvSpPr/>
          <p:nvPr/>
        </p:nvSpPr>
        <p:spPr>
          <a:xfrm>
            <a:off x="4373880" y="2923222"/>
            <a:ext cx="381000" cy="381000"/>
          </a:xfrm>
          <a:prstGeom prst="ellipse">
            <a:avLst/>
          </a:prstGeom>
          <a:solidFill>
            <a:srgbClr val="C67139"/>
          </a:solidFill>
          <a:ln/>
        </p:spPr>
      </p:sp>
      <p:sp>
        <p:nvSpPr>
          <p:cNvPr id="16" name="Text 12"/>
          <p:cNvSpPr/>
          <p:nvPr/>
        </p:nvSpPr>
        <p:spPr>
          <a:xfrm>
            <a:off x="4335780" y="2923222"/>
            <a:ext cx="457200" cy="419100"/>
          </a:xfrm>
          <a:prstGeom prst="rect">
            <a:avLst/>
          </a:prstGeom>
          <a:noFill/>
          <a:ln/>
        </p:spPr>
        <p:txBody>
          <a:bodyPr wrap="square" lIns="25400" tIns="25400" rIns="25400" bIns="25400" rtlCol="0" anchor="ctr">
            <a:normAutofit/>
          </a:bodyPr>
          <a:lstStyle/>
          <a:p>
            <a:pPr marL="0" indent="0" algn="ctr">
              <a:lnSpc>
                <a:spcPct val="135625"/>
              </a:lnSpc>
              <a:buNone/>
            </a:pPr>
            <a:r>
              <a:rPr lang="en-US" sz="2100" b="1" dirty="0">
                <a:solidFill>
                  <a:srgbClr val="FFFFFF"/>
                </a:solidFill>
                <a:latin typeface="Times New Roman" pitchFamily="34" charset="0"/>
                <a:ea typeface="Times New Roman" pitchFamily="34" charset="-122"/>
                <a:cs typeface="Times New Roman" pitchFamily="34" charset="-120"/>
              </a:rPr>
              <a:t>2</a:t>
            </a:r>
            <a:endParaRPr lang="en-US" sz="2100" dirty="0"/>
          </a:p>
        </p:txBody>
      </p:sp>
      <p:sp>
        <p:nvSpPr>
          <p:cNvPr id="17" name="Text 13"/>
          <p:cNvSpPr/>
          <p:nvPr/>
        </p:nvSpPr>
        <p:spPr>
          <a:xfrm>
            <a:off x="4869180" y="2770822"/>
            <a:ext cx="2202180" cy="723900"/>
          </a:xfrm>
          <a:prstGeom prst="rect">
            <a:avLst/>
          </a:prstGeom>
          <a:noFill/>
          <a:ln/>
        </p:spPr>
        <p:txBody>
          <a:bodyPr wrap="square" lIns="25400" tIns="25400" rIns="25400" bIns="25400" rtlCol="0" anchor="t">
            <a:normAutofit/>
          </a:bodyPr>
          <a:lstStyle/>
          <a:p>
            <a:pPr marL="0" indent="0" algn="l">
              <a:lnSpc>
                <a:spcPct val="104651"/>
              </a:lnSpc>
              <a:buNone/>
            </a:pPr>
            <a:r>
              <a:rPr lang="en-US" sz="2250" b="1" dirty="0">
                <a:solidFill>
                  <a:srgbClr val="201E1D"/>
                </a:solidFill>
                <a:latin typeface="Times New Roman" pitchFamily="34" charset="0"/>
                <a:ea typeface="Times New Roman" pitchFamily="34" charset="-122"/>
                <a:cs typeface="Times New Roman" pitchFamily="34" charset="-120"/>
              </a:rPr>
              <a:t>Chuẩn bị khung hình</a:t>
            </a:r>
            <a:endParaRPr lang="en-US" sz="2250" dirty="0"/>
          </a:p>
        </p:txBody>
      </p:sp>
      <p:sp>
        <p:nvSpPr>
          <p:cNvPr id="18" name="Text 14"/>
          <p:cNvSpPr/>
          <p:nvPr/>
        </p:nvSpPr>
        <p:spPr>
          <a:xfrm>
            <a:off x="4373880" y="3570922"/>
            <a:ext cx="2699919" cy="1078230"/>
          </a:xfrm>
          <a:prstGeom prst="rect">
            <a:avLst/>
          </a:prstGeom>
          <a:noFill/>
          <a:ln/>
        </p:spPr>
        <p:txBody>
          <a:bodyPr wrap="square" lIns="25400" tIns="25400" rIns="25400" bIns="25400" rtlCol="0" anchor="t">
            <a:normAutofit/>
          </a:bodyPr>
          <a:lstStyle/>
          <a:p>
            <a:pPr marL="0" indent="0" algn="l">
              <a:lnSpc>
                <a:spcPct val="113750"/>
              </a:lnSpc>
              <a:buNone/>
            </a:pPr>
            <a:r>
              <a:rPr lang="en-US" sz="2100" dirty="0">
                <a:solidFill>
                  <a:srgbClr val="5A534C"/>
                </a:solidFill>
                <a:latin typeface="Times New Roman" pitchFamily="34" charset="0"/>
                <a:ea typeface="Times New Roman" pitchFamily="34" charset="-122"/>
                <a:cs typeface="Times New Roman" pitchFamily="34" charset="-120"/>
              </a:rPr>
              <a:t>Đọc frame, xác định vạch đếm ở 50% chiều cao</a:t>
            </a:r>
            <a:endParaRPr lang="en-US" sz="2100" dirty="0"/>
          </a:p>
        </p:txBody>
      </p:sp>
      <p:sp>
        <p:nvSpPr>
          <p:cNvPr id="19" name="Shape 15"/>
          <p:cNvSpPr/>
          <p:nvPr/>
        </p:nvSpPr>
        <p:spPr>
          <a:xfrm>
            <a:off x="7345680" y="3047047"/>
            <a:ext cx="137160" cy="182880"/>
          </a:xfrm>
          <a:prstGeom prst="rect">
            <a:avLst/>
          </a:prstGeom>
          <a:solidFill>
            <a:srgbClr val="C67139"/>
          </a:solidFill>
          <a:ln/>
        </p:spPr>
      </p:sp>
      <p:sp>
        <p:nvSpPr>
          <p:cNvPr id="20" name="Shape 16"/>
          <p:cNvSpPr/>
          <p:nvPr/>
        </p:nvSpPr>
        <p:spPr>
          <a:xfrm>
            <a:off x="7604760" y="1456373"/>
            <a:ext cx="3078480" cy="3364230"/>
          </a:xfrm>
          <a:prstGeom prst="roundRect">
            <a:avLst>
              <a:gd name="adj" fmla="val 6188"/>
            </a:avLst>
          </a:prstGeom>
          <a:solidFill>
            <a:srgbClr val="EFE0C6"/>
          </a:solidFill>
          <a:ln/>
        </p:spPr>
      </p:sp>
      <p:sp>
        <p:nvSpPr>
          <p:cNvPr id="21" name="Shape 17"/>
          <p:cNvSpPr/>
          <p:nvPr/>
        </p:nvSpPr>
        <p:spPr>
          <a:xfrm>
            <a:off x="7833360" y="1665923"/>
            <a:ext cx="2621280" cy="990600"/>
          </a:xfrm>
          <a:prstGeom prst="rect">
            <a:avLst/>
          </a:prstGeom>
          <a:solidFill>
            <a:srgbClr val="7F7F7F">
              <a:alpha val="8000"/>
            </a:srgbClr>
          </a:solidFill>
          <a:ln/>
        </p:spPr>
      </p:sp>
      <p:pic>
        <p:nvPicPr>
          <p:cNvPr id="22" name="Image 2" descr="preencoded.png"/>
          <p:cNvPicPr>
            <a:picLocks noChangeAspect="1"/>
          </p:cNvPicPr>
          <p:nvPr/>
        </p:nvPicPr>
        <p:blipFill>
          <a:blip r:embed="rId5"/>
          <a:srcRect t="12209" b="12209"/>
          <a:stretch/>
        </p:blipFill>
        <p:spPr>
          <a:xfrm>
            <a:off x="7833360" y="1665923"/>
            <a:ext cx="2621280" cy="990600"/>
          </a:xfrm>
          <a:prstGeom prst="rect">
            <a:avLst/>
          </a:prstGeom>
        </p:spPr>
      </p:pic>
      <p:sp>
        <p:nvSpPr>
          <p:cNvPr id="23" name="Shape 18"/>
          <p:cNvSpPr/>
          <p:nvPr/>
        </p:nvSpPr>
        <p:spPr>
          <a:xfrm>
            <a:off x="7833360" y="2923222"/>
            <a:ext cx="381000" cy="381000"/>
          </a:xfrm>
          <a:prstGeom prst="ellipse">
            <a:avLst/>
          </a:prstGeom>
          <a:solidFill>
            <a:srgbClr val="C67139"/>
          </a:solidFill>
          <a:ln/>
        </p:spPr>
      </p:sp>
      <p:sp>
        <p:nvSpPr>
          <p:cNvPr id="24" name="Text 19"/>
          <p:cNvSpPr/>
          <p:nvPr/>
        </p:nvSpPr>
        <p:spPr>
          <a:xfrm>
            <a:off x="7795260" y="2923222"/>
            <a:ext cx="457200" cy="419100"/>
          </a:xfrm>
          <a:prstGeom prst="rect">
            <a:avLst/>
          </a:prstGeom>
          <a:noFill/>
          <a:ln/>
        </p:spPr>
        <p:txBody>
          <a:bodyPr wrap="square" lIns="25400" tIns="25400" rIns="25400" bIns="25400" rtlCol="0" anchor="ctr">
            <a:normAutofit/>
          </a:bodyPr>
          <a:lstStyle/>
          <a:p>
            <a:pPr marL="0" indent="0" algn="ctr">
              <a:lnSpc>
                <a:spcPct val="135625"/>
              </a:lnSpc>
              <a:buNone/>
            </a:pPr>
            <a:r>
              <a:rPr lang="en-US" sz="2100" b="1" dirty="0">
                <a:solidFill>
                  <a:srgbClr val="FFFFFF"/>
                </a:solidFill>
                <a:latin typeface="Times New Roman" pitchFamily="34" charset="0"/>
                <a:ea typeface="Times New Roman" pitchFamily="34" charset="-122"/>
                <a:cs typeface="Times New Roman" pitchFamily="34" charset="-120"/>
              </a:rPr>
              <a:t>3</a:t>
            </a:r>
            <a:endParaRPr lang="en-US" sz="2100" dirty="0"/>
          </a:p>
        </p:txBody>
      </p:sp>
      <p:sp>
        <p:nvSpPr>
          <p:cNvPr id="25" name="Text 20"/>
          <p:cNvSpPr/>
          <p:nvPr/>
        </p:nvSpPr>
        <p:spPr>
          <a:xfrm>
            <a:off x="8328660" y="2770822"/>
            <a:ext cx="2202180" cy="723900"/>
          </a:xfrm>
          <a:prstGeom prst="rect">
            <a:avLst/>
          </a:prstGeom>
          <a:noFill/>
          <a:ln/>
        </p:spPr>
        <p:txBody>
          <a:bodyPr wrap="square" lIns="25400" tIns="25400" rIns="25400" bIns="25400" rtlCol="0" anchor="t">
            <a:normAutofit/>
          </a:bodyPr>
          <a:lstStyle/>
          <a:p>
            <a:pPr marL="0" indent="0" algn="l">
              <a:lnSpc>
                <a:spcPct val="104651"/>
              </a:lnSpc>
              <a:buNone/>
            </a:pPr>
            <a:r>
              <a:rPr lang="en-US" sz="2250" b="1" dirty="0">
                <a:solidFill>
                  <a:srgbClr val="201E1D"/>
                </a:solidFill>
                <a:latin typeface="Times New Roman" pitchFamily="34" charset="0"/>
                <a:ea typeface="Times New Roman" pitchFamily="34" charset="-122"/>
                <a:cs typeface="Times New Roman" pitchFamily="34" charset="-120"/>
              </a:rPr>
              <a:t>YOLOv8 phát hiện người</a:t>
            </a:r>
            <a:endParaRPr lang="en-US" sz="2250" dirty="0"/>
          </a:p>
        </p:txBody>
      </p:sp>
      <p:sp>
        <p:nvSpPr>
          <p:cNvPr id="26" name="Text 21"/>
          <p:cNvSpPr/>
          <p:nvPr/>
        </p:nvSpPr>
        <p:spPr>
          <a:xfrm>
            <a:off x="7833360" y="3570922"/>
            <a:ext cx="2699919" cy="731520"/>
          </a:xfrm>
          <a:prstGeom prst="rect">
            <a:avLst/>
          </a:prstGeom>
          <a:noFill/>
          <a:ln/>
        </p:spPr>
        <p:txBody>
          <a:bodyPr wrap="square" lIns="25400" tIns="25400" rIns="25400" bIns="25400" rtlCol="0" anchor="t">
            <a:normAutofit/>
          </a:bodyPr>
          <a:lstStyle/>
          <a:p>
            <a:pPr marL="0" indent="0" algn="l">
              <a:lnSpc>
                <a:spcPct val="113750"/>
              </a:lnSpc>
              <a:buNone/>
            </a:pPr>
            <a:r>
              <a:rPr lang="en-US" sz="2100" dirty="0">
                <a:solidFill>
                  <a:srgbClr val="5A534C"/>
                </a:solidFill>
                <a:latin typeface="Times New Roman" pitchFamily="34" charset="0"/>
                <a:ea typeface="Times New Roman" pitchFamily="34" charset="-122"/>
                <a:cs typeface="Times New Roman" pitchFamily="34" charset="-120"/>
              </a:rPr>
              <a:t>Chỉ lớp person, độ tin cậy từ 0.5 trở lên</a:t>
            </a:r>
            <a:endParaRPr lang="en-US" sz="2100" dirty="0"/>
          </a:p>
        </p:txBody>
      </p:sp>
      <p:sp>
        <p:nvSpPr>
          <p:cNvPr id="27" name="Shape 22"/>
          <p:cNvSpPr/>
          <p:nvPr/>
        </p:nvSpPr>
        <p:spPr>
          <a:xfrm>
            <a:off x="10805160" y="3047047"/>
            <a:ext cx="137160" cy="182880"/>
          </a:xfrm>
          <a:prstGeom prst="rect">
            <a:avLst/>
          </a:prstGeom>
          <a:solidFill>
            <a:srgbClr val="C67139"/>
          </a:solidFill>
          <a:ln/>
        </p:spPr>
      </p:sp>
      <p:sp>
        <p:nvSpPr>
          <p:cNvPr id="28" name="Shape 23"/>
          <p:cNvSpPr/>
          <p:nvPr/>
        </p:nvSpPr>
        <p:spPr>
          <a:xfrm>
            <a:off x="11064240" y="1456373"/>
            <a:ext cx="3078480" cy="3364230"/>
          </a:xfrm>
          <a:prstGeom prst="roundRect">
            <a:avLst>
              <a:gd name="adj" fmla="val 6188"/>
            </a:avLst>
          </a:prstGeom>
          <a:solidFill>
            <a:srgbClr val="EFE0C6"/>
          </a:solidFill>
          <a:ln/>
        </p:spPr>
      </p:sp>
      <p:sp>
        <p:nvSpPr>
          <p:cNvPr id="29" name="Shape 24"/>
          <p:cNvSpPr/>
          <p:nvPr/>
        </p:nvSpPr>
        <p:spPr>
          <a:xfrm>
            <a:off x="11292840" y="1665923"/>
            <a:ext cx="2621280" cy="990600"/>
          </a:xfrm>
          <a:prstGeom prst="rect">
            <a:avLst/>
          </a:prstGeom>
          <a:solidFill>
            <a:srgbClr val="7F7F7F">
              <a:alpha val="8000"/>
            </a:srgbClr>
          </a:solidFill>
          <a:ln/>
        </p:spPr>
      </p:sp>
      <p:pic>
        <p:nvPicPr>
          <p:cNvPr id="30" name="Image 3" descr="preencoded.png"/>
          <p:cNvPicPr>
            <a:picLocks noChangeAspect="1"/>
          </p:cNvPicPr>
          <p:nvPr/>
        </p:nvPicPr>
        <p:blipFill>
          <a:blip r:embed="rId6"/>
          <a:srcRect t="12209" b="12209"/>
          <a:stretch/>
        </p:blipFill>
        <p:spPr>
          <a:xfrm>
            <a:off x="11292840" y="1665923"/>
            <a:ext cx="2621280" cy="990600"/>
          </a:xfrm>
          <a:prstGeom prst="rect">
            <a:avLst/>
          </a:prstGeom>
        </p:spPr>
      </p:pic>
      <p:sp>
        <p:nvSpPr>
          <p:cNvPr id="31" name="Shape 25"/>
          <p:cNvSpPr/>
          <p:nvPr/>
        </p:nvSpPr>
        <p:spPr>
          <a:xfrm>
            <a:off x="11292840" y="2923222"/>
            <a:ext cx="381000" cy="381000"/>
          </a:xfrm>
          <a:prstGeom prst="ellipse">
            <a:avLst/>
          </a:prstGeom>
          <a:solidFill>
            <a:srgbClr val="C67139"/>
          </a:solidFill>
          <a:ln/>
        </p:spPr>
      </p:sp>
      <p:sp>
        <p:nvSpPr>
          <p:cNvPr id="32" name="Text 26"/>
          <p:cNvSpPr/>
          <p:nvPr/>
        </p:nvSpPr>
        <p:spPr>
          <a:xfrm>
            <a:off x="11254740" y="2923222"/>
            <a:ext cx="457200" cy="419100"/>
          </a:xfrm>
          <a:prstGeom prst="rect">
            <a:avLst/>
          </a:prstGeom>
          <a:noFill/>
          <a:ln/>
        </p:spPr>
        <p:txBody>
          <a:bodyPr wrap="square" lIns="25400" tIns="25400" rIns="25400" bIns="25400" rtlCol="0" anchor="ctr">
            <a:normAutofit/>
          </a:bodyPr>
          <a:lstStyle/>
          <a:p>
            <a:pPr marL="0" indent="0" algn="ctr">
              <a:lnSpc>
                <a:spcPct val="135625"/>
              </a:lnSpc>
              <a:buNone/>
            </a:pPr>
            <a:r>
              <a:rPr lang="en-US" sz="2100" b="1" dirty="0">
                <a:solidFill>
                  <a:srgbClr val="FFFFFF"/>
                </a:solidFill>
                <a:latin typeface="Times New Roman" pitchFamily="34" charset="0"/>
                <a:ea typeface="Times New Roman" pitchFamily="34" charset="-122"/>
                <a:cs typeface="Times New Roman" pitchFamily="34" charset="-120"/>
              </a:rPr>
              <a:t>4</a:t>
            </a:r>
            <a:endParaRPr lang="en-US" sz="2100" dirty="0"/>
          </a:p>
        </p:txBody>
      </p:sp>
      <p:sp>
        <p:nvSpPr>
          <p:cNvPr id="33" name="Text 27"/>
          <p:cNvSpPr/>
          <p:nvPr/>
        </p:nvSpPr>
        <p:spPr>
          <a:xfrm>
            <a:off x="11788140" y="2770822"/>
            <a:ext cx="2202180" cy="723900"/>
          </a:xfrm>
          <a:prstGeom prst="rect">
            <a:avLst/>
          </a:prstGeom>
          <a:noFill/>
          <a:ln/>
        </p:spPr>
        <p:txBody>
          <a:bodyPr wrap="square" lIns="25400" tIns="25400" rIns="25400" bIns="25400" rtlCol="0" anchor="t">
            <a:normAutofit/>
          </a:bodyPr>
          <a:lstStyle/>
          <a:p>
            <a:pPr marL="0" indent="0" algn="l">
              <a:lnSpc>
                <a:spcPct val="104651"/>
              </a:lnSpc>
              <a:buNone/>
            </a:pPr>
            <a:r>
              <a:rPr lang="en-US" sz="2250" b="1" dirty="0">
                <a:solidFill>
                  <a:srgbClr val="201E1D"/>
                </a:solidFill>
                <a:latin typeface="Times New Roman" pitchFamily="34" charset="0"/>
                <a:ea typeface="Times New Roman" pitchFamily="34" charset="-122"/>
                <a:cs typeface="Times New Roman" pitchFamily="34" charset="-120"/>
              </a:rPr>
              <a:t>ByteTrack gán ID</a:t>
            </a:r>
            <a:endParaRPr lang="en-US" sz="2250" dirty="0"/>
          </a:p>
        </p:txBody>
      </p:sp>
      <p:sp>
        <p:nvSpPr>
          <p:cNvPr id="34" name="Text 28"/>
          <p:cNvSpPr/>
          <p:nvPr/>
        </p:nvSpPr>
        <p:spPr>
          <a:xfrm>
            <a:off x="11292840" y="3570922"/>
            <a:ext cx="2699919" cy="731520"/>
          </a:xfrm>
          <a:prstGeom prst="rect">
            <a:avLst/>
          </a:prstGeom>
          <a:noFill/>
          <a:ln/>
        </p:spPr>
        <p:txBody>
          <a:bodyPr wrap="square" lIns="25400" tIns="25400" rIns="25400" bIns="25400" rtlCol="0" anchor="t">
            <a:normAutofit/>
          </a:bodyPr>
          <a:lstStyle/>
          <a:p>
            <a:pPr marL="0" indent="0" algn="l">
              <a:lnSpc>
                <a:spcPct val="113750"/>
              </a:lnSpc>
              <a:buNone/>
            </a:pPr>
            <a:r>
              <a:rPr lang="en-US" sz="2100" dirty="0">
                <a:solidFill>
                  <a:srgbClr val="5A534C"/>
                </a:solidFill>
                <a:latin typeface="Times New Roman" pitchFamily="34" charset="0"/>
                <a:ea typeface="Times New Roman" pitchFamily="34" charset="-122"/>
                <a:cs typeface="Times New Roman" pitchFamily="34" charset="-120"/>
              </a:rPr>
              <a:t>Ghép khung bao giữa hai frame liên tiếp</a:t>
            </a:r>
            <a:endParaRPr lang="en-US" sz="2100" dirty="0"/>
          </a:p>
        </p:txBody>
      </p:sp>
      <p:sp>
        <p:nvSpPr>
          <p:cNvPr id="35" name="Shape 29"/>
          <p:cNvSpPr/>
          <p:nvPr/>
        </p:nvSpPr>
        <p:spPr>
          <a:xfrm>
            <a:off x="14264640" y="3047047"/>
            <a:ext cx="137160" cy="182880"/>
          </a:xfrm>
          <a:prstGeom prst="rect">
            <a:avLst/>
          </a:prstGeom>
          <a:solidFill>
            <a:srgbClr val="C67139"/>
          </a:solidFill>
          <a:ln/>
        </p:spPr>
      </p:sp>
      <p:sp>
        <p:nvSpPr>
          <p:cNvPr id="36" name="Shape 30"/>
          <p:cNvSpPr/>
          <p:nvPr/>
        </p:nvSpPr>
        <p:spPr>
          <a:xfrm>
            <a:off x="14523720" y="1456373"/>
            <a:ext cx="3078480" cy="3364230"/>
          </a:xfrm>
          <a:prstGeom prst="roundRect">
            <a:avLst>
              <a:gd name="adj" fmla="val 6188"/>
            </a:avLst>
          </a:prstGeom>
          <a:solidFill>
            <a:srgbClr val="EFE0C6"/>
          </a:solidFill>
          <a:ln/>
        </p:spPr>
      </p:sp>
      <p:sp>
        <p:nvSpPr>
          <p:cNvPr id="37" name="Shape 31"/>
          <p:cNvSpPr/>
          <p:nvPr/>
        </p:nvSpPr>
        <p:spPr>
          <a:xfrm>
            <a:off x="14752320" y="1665923"/>
            <a:ext cx="2621280" cy="990600"/>
          </a:xfrm>
          <a:prstGeom prst="rect">
            <a:avLst/>
          </a:prstGeom>
          <a:solidFill>
            <a:srgbClr val="7F7F7F">
              <a:alpha val="8000"/>
            </a:srgbClr>
          </a:solidFill>
          <a:ln/>
        </p:spPr>
      </p:sp>
      <p:pic>
        <p:nvPicPr>
          <p:cNvPr id="38" name="Image 4" descr="preencoded.png"/>
          <p:cNvPicPr>
            <a:picLocks noChangeAspect="1"/>
          </p:cNvPicPr>
          <p:nvPr/>
        </p:nvPicPr>
        <p:blipFill>
          <a:blip r:embed="rId7"/>
          <a:srcRect t="12209" b="12209"/>
          <a:stretch/>
        </p:blipFill>
        <p:spPr>
          <a:xfrm>
            <a:off x="14752320" y="1665923"/>
            <a:ext cx="2621280" cy="990600"/>
          </a:xfrm>
          <a:prstGeom prst="rect">
            <a:avLst/>
          </a:prstGeom>
        </p:spPr>
      </p:pic>
      <p:sp>
        <p:nvSpPr>
          <p:cNvPr id="39" name="Shape 32"/>
          <p:cNvSpPr/>
          <p:nvPr/>
        </p:nvSpPr>
        <p:spPr>
          <a:xfrm>
            <a:off x="14752320" y="2923222"/>
            <a:ext cx="381000" cy="381000"/>
          </a:xfrm>
          <a:prstGeom prst="ellipse">
            <a:avLst/>
          </a:prstGeom>
          <a:solidFill>
            <a:srgbClr val="C67139"/>
          </a:solidFill>
          <a:ln/>
        </p:spPr>
      </p:sp>
      <p:sp>
        <p:nvSpPr>
          <p:cNvPr id="40" name="Text 33"/>
          <p:cNvSpPr/>
          <p:nvPr/>
        </p:nvSpPr>
        <p:spPr>
          <a:xfrm>
            <a:off x="14714220" y="2923222"/>
            <a:ext cx="457200" cy="419100"/>
          </a:xfrm>
          <a:prstGeom prst="rect">
            <a:avLst/>
          </a:prstGeom>
          <a:noFill/>
          <a:ln/>
        </p:spPr>
        <p:txBody>
          <a:bodyPr wrap="square" lIns="25400" tIns="25400" rIns="25400" bIns="25400" rtlCol="0" anchor="ctr">
            <a:normAutofit/>
          </a:bodyPr>
          <a:lstStyle/>
          <a:p>
            <a:pPr marL="0" indent="0" algn="ctr">
              <a:lnSpc>
                <a:spcPct val="135625"/>
              </a:lnSpc>
              <a:buNone/>
            </a:pPr>
            <a:r>
              <a:rPr lang="en-US" sz="2100" b="1" dirty="0">
                <a:solidFill>
                  <a:srgbClr val="FFFFFF"/>
                </a:solidFill>
                <a:latin typeface="Times New Roman" pitchFamily="34" charset="0"/>
                <a:ea typeface="Times New Roman" pitchFamily="34" charset="-122"/>
                <a:cs typeface="Times New Roman" pitchFamily="34" charset="-120"/>
              </a:rPr>
              <a:t>5</a:t>
            </a:r>
            <a:endParaRPr lang="en-US" sz="2100" dirty="0"/>
          </a:p>
        </p:txBody>
      </p:sp>
      <p:sp>
        <p:nvSpPr>
          <p:cNvPr id="41" name="Text 34"/>
          <p:cNvSpPr/>
          <p:nvPr/>
        </p:nvSpPr>
        <p:spPr>
          <a:xfrm>
            <a:off x="15247620" y="2770822"/>
            <a:ext cx="2202180" cy="723900"/>
          </a:xfrm>
          <a:prstGeom prst="rect">
            <a:avLst/>
          </a:prstGeom>
          <a:noFill/>
          <a:ln/>
        </p:spPr>
        <p:txBody>
          <a:bodyPr wrap="square" lIns="25400" tIns="25400" rIns="25400" bIns="25400" rtlCol="0" anchor="t">
            <a:normAutofit/>
          </a:bodyPr>
          <a:lstStyle/>
          <a:p>
            <a:pPr marL="0" indent="0" algn="l">
              <a:lnSpc>
                <a:spcPct val="104651"/>
              </a:lnSpc>
              <a:buNone/>
            </a:pPr>
            <a:r>
              <a:rPr lang="en-US" sz="2250" b="1" dirty="0">
                <a:solidFill>
                  <a:srgbClr val="201E1D"/>
                </a:solidFill>
                <a:latin typeface="Times New Roman" pitchFamily="34" charset="0"/>
                <a:ea typeface="Times New Roman" pitchFamily="34" charset="-122"/>
                <a:cs typeface="Times New Roman" pitchFamily="34" charset="-120"/>
              </a:rPr>
              <a:t>Lọc &amp; gộp khung bao</a:t>
            </a:r>
            <a:endParaRPr lang="en-US" sz="2250" dirty="0"/>
          </a:p>
        </p:txBody>
      </p:sp>
      <p:sp>
        <p:nvSpPr>
          <p:cNvPr id="42" name="Text 35"/>
          <p:cNvSpPr/>
          <p:nvPr/>
        </p:nvSpPr>
        <p:spPr>
          <a:xfrm>
            <a:off x="14752320" y="3570922"/>
            <a:ext cx="2699919" cy="1078230"/>
          </a:xfrm>
          <a:prstGeom prst="rect">
            <a:avLst/>
          </a:prstGeom>
          <a:noFill/>
          <a:ln/>
        </p:spPr>
        <p:txBody>
          <a:bodyPr wrap="square" lIns="25400" tIns="25400" rIns="25400" bIns="25400" rtlCol="0" anchor="t">
            <a:normAutofit/>
          </a:bodyPr>
          <a:lstStyle/>
          <a:p>
            <a:pPr marL="0" indent="0" algn="l">
              <a:lnSpc>
                <a:spcPct val="113750"/>
              </a:lnSpc>
              <a:buNone/>
            </a:pPr>
            <a:r>
              <a:rPr lang="en-US" sz="2100" dirty="0">
                <a:solidFill>
                  <a:srgbClr val="5A534C"/>
                </a:solidFill>
                <a:latin typeface="Times New Roman" pitchFamily="34" charset="0"/>
                <a:ea typeface="Times New Roman" pitchFamily="34" charset="-122"/>
                <a:cs typeface="Times New Roman" pitchFamily="34" charset="-120"/>
              </a:rPr>
              <a:t>Bỏ khung quá nhỏ, gộp cặp chồng nhau theo IoU</a:t>
            </a:r>
            <a:endParaRPr lang="en-US" sz="2100" dirty="0"/>
          </a:p>
        </p:txBody>
      </p:sp>
      <p:sp>
        <p:nvSpPr>
          <p:cNvPr id="43" name="Shape 36"/>
          <p:cNvSpPr/>
          <p:nvPr/>
        </p:nvSpPr>
        <p:spPr>
          <a:xfrm>
            <a:off x="16009620" y="5068253"/>
            <a:ext cx="182880" cy="137160"/>
          </a:xfrm>
          <a:prstGeom prst="rect">
            <a:avLst/>
          </a:prstGeom>
          <a:solidFill>
            <a:srgbClr val="7A8A5E"/>
          </a:solidFill>
          <a:ln/>
        </p:spPr>
      </p:sp>
      <p:sp>
        <p:nvSpPr>
          <p:cNvPr id="44" name="Shape 37"/>
          <p:cNvSpPr/>
          <p:nvPr/>
        </p:nvSpPr>
        <p:spPr>
          <a:xfrm>
            <a:off x="685800" y="5453063"/>
            <a:ext cx="3943350" cy="3059430"/>
          </a:xfrm>
          <a:prstGeom prst="roundRect">
            <a:avLst>
              <a:gd name="adj" fmla="val 6227"/>
            </a:avLst>
          </a:prstGeom>
          <a:solidFill>
            <a:srgbClr val="E4E8D8"/>
          </a:solidFill>
          <a:ln/>
        </p:spPr>
      </p:sp>
      <p:sp>
        <p:nvSpPr>
          <p:cNvPr id="45" name="Shape 38"/>
          <p:cNvSpPr/>
          <p:nvPr/>
        </p:nvSpPr>
        <p:spPr>
          <a:xfrm>
            <a:off x="914400" y="5662613"/>
            <a:ext cx="3486150" cy="990600"/>
          </a:xfrm>
          <a:prstGeom prst="rect">
            <a:avLst/>
          </a:prstGeom>
          <a:solidFill>
            <a:srgbClr val="7F7F7F">
              <a:alpha val="8000"/>
            </a:srgbClr>
          </a:solidFill>
          <a:ln/>
        </p:spPr>
      </p:sp>
      <p:pic>
        <p:nvPicPr>
          <p:cNvPr id="46" name="Image 5" descr="preencoded.png"/>
          <p:cNvPicPr>
            <a:picLocks noChangeAspect="1"/>
          </p:cNvPicPr>
          <p:nvPr/>
        </p:nvPicPr>
        <p:blipFill>
          <a:blip r:embed="rId8"/>
          <a:srcRect t="21585" b="21585"/>
          <a:stretch/>
        </p:blipFill>
        <p:spPr>
          <a:xfrm>
            <a:off x="914400" y="5662613"/>
            <a:ext cx="3486150" cy="990600"/>
          </a:xfrm>
          <a:prstGeom prst="rect">
            <a:avLst/>
          </a:prstGeom>
        </p:spPr>
      </p:pic>
      <p:sp>
        <p:nvSpPr>
          <p:cNvPr id="47" name="Shape 39"/>
          <p:cNvSpPr/>
          <p:nvPr/>
        </p:nvSpPr>
        <p:spPr>
          <a:xfrm>
            <a:off x="914400" y="6767513"/>
            <a:ext cx="381000" cy="381000"/>
          </a:xfrm>
          <a:prstGeom prst="ellipse">
            <a:avLst/>
          </a:prstGeom>
          <a:solidFill>
            <a:srgbClr val="7A8A5E"/>
          </a:solidFill>
          <a:ln/>
        </p:spPr>
      </p:sp>
      <p:sp>
        <p:nvSpPr>
          <p:cNvPr id="48" name="Text 40"/>
          <p:cNvSpPr/>
          <p:nvPr/>
        </p:nvSpPr>
        <p:spPr>
          <a:xfrm>
            <a:off x="876300" y="6767513"/>
            <a:ext cx="457200" cy="419100"/>
          </a:xfrm>
          <a:prstGeom prst="rect">
            <a:avLst/>
          </a:prstGeom>
          <a:noFill/>
          <a:ln/>
        </p:spPr>
        <p:txBody>
          <a:bodyPr wrap="square" lIns="25400" tIns="25400" rIns="25400" bIns="25400" rtlCol="0" anchor="ctr">
            <a:normAutofit/>
          </a:bodyPr>
          <a:lstStyle/>
          <a:p>
            <a:pPr marL="0" indent="0" algn="ctr">
              <a:lnSpc>
                <a:spcPct val="135625"/>
              </a:lnSpc>
              <a:buNone/>
            </a:pPr>
            <a:r>
              <a:rPr lang="en-US" sz="2100" b="1" dirty="0">
                <a:solidFill>
                  <a:srgbClr val="FFFFFF"/>
                </a:solidFill>
                <a:latin typeface="Times New Roman" pitchFamily="34" charset="0"/>
                <a:ea typeface="Times New Roman" pitchFamily="34" charset="-122"/>
                <a:cs typeface="Times New Roman" pitchFamily="34" charset="-120"/>
              </a:rPr>
              <a:t>9</a:t>
            </a:r>
            <a:endParaRPr lang="en-US" sz="2100" dirty="0"/>
          </a:p>
        </p:txBody>
      </p:sp>
      <p:sp>
        <p:nvSpPr>
          <p:cNvPr id="49" name="Text 41"/>
          <p:cNvSpPr/>
          <p:nvPr/>
        </p:nvSpPr>
        <p:spPr>
          <a:xfrm>
            <a:off x="1409700" y="6786563"/>
            <a:ext cx="2305574" cy="381000"/>
          </a:xfrm>
          <a:prstGeom prst="rect">
            <a:avLst/>
          </a:prstGeom>
          <a:noFill/>
          <a:ln/>
        </p:spPr>
        <p:txBody>
          <a:bodyPr wrap="square" lIns="25400" tIns="25400" rIns="25400" bIns="25400" rtlCol="0" anchor="t">
            <a:normAutofit/>
          </a:bodyPr>
          <a:lstStyle/>
          <a:p>
            <a:pPr marL="0" indent="0" algn="l">
              <a:lnSpc>
                <a:spcPct val="104651"/>
              </a:lnSpc>
              <a:buNone/>
            </a:pPr>
            <a:r>
              <a:rPr lang="en-US" sz="2250" b="1" dirty="0">
                <a:solidFill>
                  <a:srgbClr val="2F3A20"/>
                </a:solidFill>
                <a:latin typeface="Times New Roman" pitchFamily="34" charset="0"/>
                <a:ea typeface="Times New Roman" pitchFamily="34" charset="-122"/>
                <a:cs typeface="Times New Roman" pitchFamily="34" charset="-120"/>
              </a:rPr>
              <a:t>Ghi sổ &amp; hiển thị</a:t>
            </a:r>
            <a:endParaRPr lang="en-US" sz="2250" dirty="0"/>
          </a:p>
        </p:txBody>
      </p:sp>
      <p:sp>
        <p:nvSpPr>
          <p:cNvPr id="50" name="Text 42"/>
          <p:cNvSpPr/>
          <p:nvPr/>
        </p:nvSpPr>
        <p:spPr>
          <a:xfrm>
            <a:off x="914400" y="7262813"/>
            <a:ext cx="3590735" cy="731520"/>
          </a:xfrm>
          <a:prstGeom prst="rect">
            <a:avLst/>
          </a:prstGeom>
          <a:noFill/>
          <a:ln/>
        </p:spPr>
        <p:txBody>
          <a:bodyPr wrap="square" lIns="25400" tIns="25400" rIns="25400" bIns="25400" rtlCol="0" anchor="t">
            <a:normAutofit/>
          </a:bodyPr>
          <a:lstStyle/>
          <a:p>
            <a:pPr marL="0" indent="0" algn="l">
              <a:lnSpc>
                <a:spcPct val="113750"/>
              </a:lnSpc>
              <a:buNone/>
            </a:pPr>
            <a:r>
              <a:rPr lang="en-US" sz="2100" dirty="0">
                <a:solidFill>
                  <a:srgbClr val="4A5436"/>
                </a:solidFill>
                <a:latin typeface="Times New Roman" pitchFamily="34" charset="0"/>
                <a:ea typeface="Times New Roman" pitchFamily="34" charset="-122"/>
                <a:cs typeface="Times New Roman" pitchFamily="34" charset="-120"/>
              </a:rPr>
              <a:t>Xuất hai file CSV, vẽ bảng số liệu và heatmap lên khung hình</a:t>
            </a:r>
            <a:endParaRPr lang="en-US" sz="2100" dirty="0"/>
          </a:p>
        </p:txBody>
      </p:sp>
      <p:sp>
        <p:nvSpPr>
          <p:cNvPr id="51" name="Shape 43"/>
          <p:cNvSpPr/>
          <p:nvPr/>
        </p:nvSpPr>
        <p:spPr>
          <a:xfrm>
            <a:off x="4751070" y="6891338"/>
            <a:ext cx="137160" cy="182880"/>
          </a:xfrm>
          <a:prstGeom prst="rect">
            <a:avLst/>
          </a:prstGeom>
          <a:solidFill>
            <a:srgbClr val="7A8A5E"/>
          </a:solidFill>
          <a:ln/>
        </p:spPr>
      </p:sp>
      <p:sp>
        <p:nvSpPr>
          <p:cNvPr id="52" name="Shape 44"/>
          <p:cNvSpPr/>
          <p:nvPr/>
        </p:nvSpPr>
        <p:spPr>
          <a:xfrm>
            <a:off x="5010150" y="5453063"/>
            <a:ext cx="3943350" cy="3059430"/>
          </a:xfrm>
          <a:prstGeom prst="roundRect">
            <a:avLst>
              <a:gd name="adj" fmla="val 6227"/>
            </a:avLst>
          </a:prstGeom>
          <a:solidFill>
            <a:srgbClr val="E4E8D8"/>
          </a:solidFill>
          <a:ln/>
        </p:spPr>
      </p:sp>
      <p:sp>
        <p:nvSpPr>
          <p:cNvPr id="53" name="Shape 45"/>
          <p:cNvSpPr/>
          <p:nvPr/>
        </p:nvSpPr>
        <p:spPr>
          <a:xfrm>
            <a:off x="5238750" y="5662613"/>
            <a:ext cx="3486150" cy="990600"/>
          </a:xfrm>
          <a:prstGeom prst="roundRect">
            <a:avLst>
              <a:gd name="adj" fmla="val 11538"/>
            </a:avLst>
          </a:prstGeom>
          <a:solidFill>
            <a:srgbClr val="1C1A18"/>
          </a:solidFill>
          <a:ln/>
        </p:spPr>
      </p:sp>
      <p:pic>
        <p:nvPicPr>
          <p:cNvPr id="54" name="Image 6" descr="preencoded.png"/>
          <p:cNvPicPr>
            <a:picLocks noChangeAspect="1"/>
          </p:cNvPicPr>
          <p:nvPr/>
        </p:nvPicPr>
        <p:blipFill>
          <a:blip r:embed="rId9"/>
          <a:srcRect l="-54460" r="-54460"/>
          <a:stretch/>
        </p:blipFill>
        <p:spPr>
          <a:xfrm>
            <a:off x="5238750" y="5662613"/>
            <a:ext cx="3486150" cy="990600"/>
          </a:xfrm>
          <a:prstGeom prst="rect">
            <a:avLst/>
          </a:prstGeom>
        </p:spPr>
      </p:pic>
      <p:sp>
        <p:nvSpPr>
          <p:cNvPr id="55" name="Shape 46"/>
          <p:cNvSpPr/>
          <p:nvPr/>
        </p:nvSpPr>
        <p:spPr>
          <a:xfrm>
            <a:off x="5238750" y="6767513"/>
            <a:ext cx="381000" cy="381000"/>
          </a:xfrm>
          <a:prstGeom prst="ellipse">
            <a:avLst/>
          </a:prstGeom>
          <a:solidFill>
            <a:srgbClr val="7A8A5E"/>
          </a:solidFill>
          <a:ln/>
        </p:spPr>
      </p:sp>
      <p:sp>
        <p:nvSpPr>
          <p:cNvPr id="56" name="Text 47"/>
          <p:cNvSpPr/>
          <p:nvPr/>
        </p:nvSpPr>
        <p:spPr>
          <a:xfrm>
            <a:off x="5200650" y="6767513"/>
            <a:ext cx="457200" cy="419100"/>
          </a:xfrm>
          <a:prstGeom prst="rect">
            <a:avLst/>
          </a:prstGeom>
          <a:noFill/>
          <a:ln/>
        </p:spPr>
        <p:txBody>
          <a:bodyPr wrap="square" lIns="25400" tIns="25400" rIns="25400" bIns="25400" rtlCol="0" anchor="ctr">
            <a:normAutofit/>
          </a:bodyPr>
          <a:lstStyle/>
          <a:p>
            <a:pPr marL="0" indent="0" algn="ctr">
              <a:lnSpc>
                <a:spcPct val="135625"/>
              </a:lnSpc>
              <a:buNone/>
            </a:pPr>
            <a:r>
              <a:rPr lang="en-US" sz="2100" b="1" dirty="0">
                <a:solidFill>
                  <a:srgbClr val="FFFFFF"/>
                </a:solidFill>
                <a:latin typeface="Times New Roman" pitchFamily="34" charset="0"/>
                <a:ea typeface="Times New Roman" pitchFamily="34" charset="-122"/>
                <a:cs typeface="Times New Roman" pitchFamily="34" charset="-120"/>
              </a:rPr>
              <a:t>8</a:t>
            </a:r>
            <a:endParaRPr lang="en-US" sz="2100" dirty="0"/>
          </a:p>
        </p:txBody>
      </p:sp>
      <p:sp>
        <p:nvSpPr>
          <p:cNvPr id="57" name="Text 48"/>
          <p:cNvSpPr/>
          <p:nvPr/>
        </p:nvSpPr>
        <p:spPr>
          <a:xfrm>
            <a:off x="5734050" y="6786563"/>
            <a:ext cx="2314349" cy="381000"/>
          </a:xfrm>
          <a:prstGeom prst="rect">
            <a:avLst/>
          </a:prstGeom>
          <a:noFill/>
          <a:ln/>
        </p:spPr>
        <p:txBody>
          <a:bodyPr wrap="square" lIns="25400" tIns="25400" rIns="25400" bIns="25400" rtlCol="0" anchor="t">
            <a:normAutofit/>
          </a:bodyPr>
          <a:lstStyle/>
          <a:p>
            <a:pPr marL="0" indent="0" algn="l">
              <a:lnSpc>
                <a:spcPct val="104651"/>
              </a:lnSpc>
              <a:buNone/>
            </a:pPr>
            <a:r>
              <a:rPr lang="en-US" sz="2250" b="1" dirty="0">
                <a:solidFill>
                  <a:srgbClr val="2F3A20"/>
                </a:solidFill>
                <a:latin typeface="Times New Roman" pitchFamily="34" charset="0"/>
                <a:ea typeface="Times New Roman" pitchFamily="34" charset="-122"/>
                <a:cs typeface="Times New Roman" pitchFamily="34" charset="-120"/>
              </a:rPr>
              <a:t>Cập nhật bộ đếm</a:t>
            </a:r>
            <a:endParaRPr lang="en-US" sz="2250" dirty="0"/>
          </a:p>
        </p:txBody>
      </p:sp>
      <p:sp>
        <p:nvSpPr>
          <p:cNvPr id="58" name="Text 49"/>
          <p:cNvSpPr/>
          <p:nvPr/>
        </p:nvSpPr>
        <p:spPr>
          <a:xfrm>
            <a:off x="5238750" y="7262813"/>
            <a:ext cx="3590735" cy="1078230"/>
          </a:xfrm>
          <a:prstGeom prst="rect">
            <a:avLst/>
          </a:prstGeom>
          <a:noFill/>
          <a:ln/>
        </p:spPr>
        <p:txBody>
          <a:bodyPr wrap="square" lIns="25400" tIns="25400" rIns="25400" bIns="25400" rtlCol="0" anchor="t">
            <a:normAutofit/>
          </a:bodyPr>
          <a:lstStyle/>
          <a:p>
            <a:pPr marL="0" indent="0" algn="l">
              <a:lnSpc>
                <a:spcPct val="113750"/>
              </a:lnSpc>
              <a:buNone/>
            </a:pPr>
            <a:r>
              <a:rPr lang="en-US" sz="2100" dirty="0">
                <a:solidFill>
                  <a:srgbClr val="4A5436"/>
                </a:solidFill>
                <a:latin typeface="Times New Roman" pitchFamily="34" charset="0"/>
                <a:ea typeface="Times New Roman" pitchFamily="34" charset="-122"/>
                <a:cs typeface="Times New Roman" pitchFamily="34" charset="-120"/>
              </a:rPr>
              <a:t>Cộng lượt vào hoặc ra, tính số người đang có mặt, cảnh báo quá tải</a:t>
            </a:r>
            <a:endParaRPr lang="en-US" sz="2100" dirty="0"/>
          </a:p>
        </p:txBody>
      </p:sp>
      <p:sp>
        <p:nvSpPr>
          <p:cNvPr id="59" name="Shape 50"/>
          <p:cNvSpPr/>
          <p:nvPr/>
        </p:nvSpPr>
        <p:spPr>
          <a:xfrm>
            <a:off x="9075420" y="6891338"/>
            <a:ext cx="137160" cy="182880"/>
          </a:xfrm>
          <a:prstGeom prst="rect">
            <a:avLst/>
          </a:prstGeom>
          <a:solidFill>
            <a:srgbClr val="7A8A5E"/>
          </a:solidFill>
          <a:ln/>
        </p:spPr>
      </p:sp>
      <p:sp>
        <p:nvSpPr>
          <p:cNvPr id="60" name="Shape 51"/>
          <p:cNvSpPr/>
          <p:nvPr/>
        </p:nvSpPr>
        <p:spPr>
          <a:xfrm>
            <a:off x="9334500" y="5453063"/>
            <a:ext cx="3943350" cy="3059430"/>
          </a:xfrm>
          <a:prstGeom prst="roundRect">
            <a:avLst>
              <a:gd name="adj" fmla="val 6227"/>
            </a:avLst>
          </a:prstGeom>
          <a:solidFill>
            <a:srgbClr val="E4E8D8"/>
          </a:solidFill>
          <a:ln/>
        </p:spPr>
      </p:sp>
      <p:sp>
        <p:nvSpPr>
          <p:cNvPr id="61" name="Shape 52"/>
          <p:cNvSpPr/>
          <p:nvPr/>
        </p:nvSpPr>
        <p:spPr>
          <a:xfrm>
            <a:off x="9563100" y="5662613"/>
            <a:ext cx="3486150" cy="990600"/>
          </a:xfrm>
          <a:prstGeom prst="rect">
            <a:avLst/>
          </a:prstGeom>
          <a:solidFill>
            <a:srgbClr val="7F7F7F">
              <a:alpha val="8000"/>
            </a:srgbClr>
          </a:solidFill>
          <a:ln/>
        </p:spPr>
      </p:sp>
      <p:pic>
        <p:nvPicPr>
          <p:cNvPr id="62" name="Image 7" descr="preencoded.png"/>
          <p:cNvPicPr>
            <a:picLocks noChangeAspect="1"/>
          </p:cNvPicPr>
          <p:nvPr/>
        </p:nvPicPr>
        <p:blipFill>
          <a:blip r:embed="rId10"/>
          <a:srcRect t="21585" b="21585"/>
          <a:stretch/>
        </p:blipFill>
        <p:spPr>
          <a:xfrm>
            <a:off x="9563100" y="5662613"/>
            <a:ext cx="3486150" cy="990600"/>
          </a:xfrm>
          <a:prstGeom prst="rect">
            <a:avLst/>
          </a:prstGeom>
        </p:spPr>
      </p:pic>
      <p:sp>
        <p:nvSpPr>
          <p:cNvPr id="63" name="Shape 53"/>
          <p:cNvSpPr/>
          <p:nvPr/>
        </p:nvSpPr>
        <p:spPr>
          <a:xfrm>
            <a:off x="9563100" y="6767513"/>
            <a:ext cx="381000" cy="381000"/>
          </a:xfrm>
          <a:prstGeom prst="ellipse">
            <a:avLst/>
          </a:prstGeom>
          <a:solidFill>
            <a:srgbClr val="7A8A5E"/>
          </a:solidFill>
          <a:ln/>
        </p:spPr>
      </p:sp>
      <p:sp>
        <p:nvSpPr>
          <p:cNvPr id="64" name="Text 54"/>
          <p:cNvSpPr/>
          <p:nvPr/>
        </p:nvSpPr>
        <p:spPr>
          <a:xfrm>
            <a:off x="9525000" y="6767513"/>
            <a:ext cx="457200" cy="419100"/>
          </a:xfrm>
          <a:prstGeom prst="rect">
            <a:avLst/>
          </a:prstGeom>
          <a:noFill/>
          <a:ln/>
        </p:spPr>
        <p:txBody>
          <a:bodyPr wrap="square" lIns="25400" tIns="25400" rIns="25400" bIns="25400" rtlCol="0" anchor="ctr">
            <a:normAutofit/>
          </a:bodyPr>
          <a:lstStyle/>
          <a:p>
            <a:pPr marL="0" indent="0" algn="ctr">
              <a:lnSpc>
                <a:spcPct val="135625"/>
              </a:lnSpc>
              <a:buNone/>
            </a:pPr>
            <a:r>
              <a:rPr lang="en-US" sz="2100" b="1" dirty="0">
                <a:solidFill>
                  <a:srgbClr val="FFFFFF"/>
                </a:solidFill>
                <a:latin typeface="Times New Roman" pitchFamily="34" charset="0"/>
                <a:ea typeface="Times New Roman" pitchFamily="34" charset="-122"/>
                <a:cs typeface="Times New Roman" pitchFamily="34" charset="-120"/>
              </a:rPr>
              <a:t>7</a:t>
            </a:r>
            <a:endParaRPr lang="en-US" sz="2100" dirty="0"/>
          </a:p>
        </p:txBody>
      </p:sp>
      <p:sp>
        <p:nvSpPr>
          <p:cNvPr id="65" name="Text 55"/>
          <p:cNvSpPr/>
          <p:nvPr/>
        </p:nvSpPr>
        <p:spPr>
          <a:xfrm>
            <a:off x="10058400" y="6786563"/>
            <a:ext cx="2623435" cy="381000"/>
          </a:xfrm>
          <a:prstGeom prst="rect">
            <a:avLst/>
          </a:prstGeom>
          <a:noFill/>
          <a:ln/>
        </p:spPr>
        <p:txBody>
          <a:bodyPr wrap="square" lIns="25400" tIns="25400" rIns="25400" bIns="25400" rtlCol="0" anchor="t">
            <a:normAutofit/>
          </a:bodyPr>
          <a:lstStyle/>
          <a:p>
            <a:pPr marL="0" indent="0" algn="l">
              <a:lnSpc>
                <a:spcPct val="104651"/>
              </a:lnSpc>
              <a:buNone/>
            </a:pPr>
            <a:r>
              <a:rPr lang="en-US" sz="2250" b="1" dirty="0">
                <a:solidFill>
                  <a:srgbClr val="2F3A20"/>
                </a:solidFill>
                <a:latin typeface="Times New Roman" pitchFamily="34" charset="0"/>
                <a:ea typeface="Times New Roman" pitchFamily="34" charset="-122"/>
                <a:cs typeface="Times New Roman" pitchFamily="34" charset="-120"/>
              </a:rPr>
              <a:t>Kiểm tra vượt vạch</a:t>
            </a:r>
            <a:endParaRPr lang="en-US" sz="2250" dirty="0"/>
          </a:p>
        </p:txBody>
      </p:sp>
      <p:sp>
        <p:nvSpPr>
          <p:cNvPr id="66" name="Text 56"/>
          <p:cNvSpPr/>
          <p:nvPr/>
        </p:nvSpPr>
        <p:spPr>
          <a:xfrm>
            <a:off x="9563100" y="7262813"/>
            <a:ext cx="3590735" cy="731520"/>
          </a:xfrm>
          <a:prstGeom prst="rect">
            <a:avLst/>
          </a:prstGeom>
          <a:noFill/>
          <a:ln/>
        </p:spPr>
        <p:txBody>
          <a:bodyPr wrap="square" lIns="25400" tIns="25400" rIns="25400" bIns="25400" rtlCol="0" anchor="t">
            <a:normAutofit/>
          </a:bodyPr>
          <a:lstStyle/>
          <a:p>
            <a:pPr marL="0" indent="0" algn="l">
              <a:lnSpc>
                <a:spcPct val="113750"/>
              </a:lnSpc>
              <a:buNone/>
            </a:pPr>
            <a:r>
              <a:rPr lang="en-US" sz="2100" dirty="0">
                <a:solidFill>
                  <a:srgbClr val="4A5436"/>
                </a:solidFill>
                <a:latin typeface="Times New Roman" pitchFamily="34" charset="0"/>
                <a:ea typeface="Times New Roman" pitchFamily="34" charset="-122"/>
                <a:cs typeface="Times New Roman" pitchFamily="34" charset="-120"/>
              </a:rPr>
              <a:t>So vị trí tâm ở frame trước và frame hiện tại với vạch đếm</a:t>
            </a:r>
            <a:endParaRPr lang="en-US" sz="2100" dirty="0"/>
          </a:p>
        </p:txBody>
      </p:sp>
      <p:sp>
        <p:nvSpPr>
          <p:cNvPr id="67" name="Shape 57"/>
          <p:cNvSpPr/>
          <p:nvPr/>
        </p:nvSpPr>
        <p:spPr>
          <a:xfrm>
            <a:off x="13399770" y="6891338"/>
            <a:ext cx="137160" cy="182880"/>
          </a:xfrm>
          <a:prstGeom prst="rect">
            <a:avLst/>
          </a:prstGeom>
          <a:solidFill>
            <a:srgbClr val="7A8A5E"/>
          </a:solidFill>
          <a:ln/>
        </p:spPr>
      </p:sp>
      <p:sp>
        <p:nvSpPr>
          <p:cNvPr id="68" name="Shape 58"/>
          <p:cNvSpPr/>
          <p:nvPr/>
        </p:nvSpPr>
        <p:spPr>
          <a:xfrm>
            <a:off x="13658850" y="5453063"/>
            <a:ext cx="3943350" cy="3059430"/>
          </a:xfrm>
          <a:prstGeom prst="roundRect">
            <a:avLst>
              <a:gd name="adj" fmla="val 6227"/>
            </a:avLst>
          </a:prstGeom>
          <a:solidFill>
            <a:srgbClr val="E4E8D8"/>
          </a:solidFill>
          <a:ln/>
        </p:spPr>
      </p:sp>
      <p:sp>
        <p:nvSpPr>
          <p:cNvPr id="69" name="Shape 59"/>
          <p:cNvSpPr/>
          <p:nvPr/>
        </p:nvSpPr>
        <p:spPr>
          <a:xfrm>
            <a:off x="13887450" y="5662613"/>
            <a:ext cx="3486150" cy="990600"/>
          </a:xfrm>
          <a:prstGeom prst="rect">
            <a:avLst/>
          </a:prstGeom>
          <a:solidFill>
            <a:srgbClr val="7F7F7F">
              <a:alpha val="8000"/>
            </a:srgbClr>
          </a:solidFill>
          <a:ln/>
        </p:spPr>
      </p:sp>
      <p:pic>
        <p:nvPicPr>
          <p:cNvPr id="70" name="Image 8" descr="preencoded.png"/>
          <p:cNvPicPr>
            <a:picLocks noChangeAspect="1"/>
          </p:cNvPicPr>
          <p:nvPr/>
        </p:nvPicPr>
        <p:blipFill>
          <a:blip r:embed="rId11"/>
          <a:srcRect t="21585" b="21585"/>
          <a:stretch/>
        </p:blipFill>
        <p:spPr>
          <a:xfrm>
            <a:off x="13887450" y="5662613"/>
            <a:ext cx="3486150" cy="990600"/>
          </a:xfrm>
          <a:prstGeom prst="rect">
            <a:avLst/>
          </a:prstGeom>
        </p:spPr>
      </p:pic>
      <p:sp>
        <p:nvSpPr>
          <p:cNvPr id="71" name="Shape 60"/>
          <p:cNvSpPr/>
          <p:nvPr/>
        </p:nvSpPr>
        <p:spPr>
          <a:xfrm>
            <a:off x="13887450" y="6767513"/>
            <a:ext cx="381000" cy="381000"/>
          </a:xfrm>
          <a:prstGeom prst="ellipse">
            <a:avLst/>
          </a:prstGeom>
          <a:solidFill>
            <a:srgbClr val="7A8A5E"/>
          </a:solidFill>
          <a:ln/>
        </p:spPr>
      </p:sp>
      <p:sp>
        <p:nvSpPr>
          <p:cNvPr id="72" name="Text 61"/>
          <p:cNvSpPr/>
          <p:nvPr/>
        </p:nvSpPr>
        <p:spPr>
          <a:xfrm>
            <a:off x="13849350" y="6767513"/>
            <a:ext cx="457200" cy="419100"/>
          </a:xfrm>
          <a:prstGeom prst="rect">
            <a:avLst/>
          </a:prstGeom>
          <a:noFill/>
          <a:ln/>
        </p:spPr>
        <p:txBody>
          <a:bodyPr wrap="square" lIns="25400" tIns="25400" rIns="25400" bIns="25400" rtlCol="0" anchor="ctr">
            <a:normAutofit/>
          </a:bodyPr>
          <a:lstStyle/>
          <a:p>
            <a:pPr marL="0" indent="0" algn="ctr">
              <a:lnSpc>
                <a:spcPct val="135625"/>
              </a:lnSpc>
              <a:buNone/>
            </a:pPr>
            <a:r>
              <a:rPr lang="en-US" sz="2100" b="1" dirty="0">
                <a:solidFill>
                  <a:srgbClr val="FFFFFF"/>
                </a:solidFill>
                <a:latin typeface="Times New Roman" pitchFamily="34" charset="0"/>
                <a:ea typeface="Times New Roman" pitchFamily="34" charset="-122"/>
                <a:cs typeface="Times New Roman" pitchFamily="34" charset="-120"/>
              </a:rPr>
              <a:t>6</a:t>
            </a:r>
            <a:endParaRPr lang="en-US" sz="2100" dirty="0"/>
          </a:p>
        </p:txBody>
      </p:sp>
      <p:sp>
        <p:nvSpPr>
          <p:cNvPr id="73" name="Text 62"/>
          <p:cNvSpPr/>
          <p:nvPr/>
        </p:nvSpPr>
        <p:spPr>
          <a:xfrm>
            <a:off x="14382750" y="6786563"/>
            <a:ext cx="1904679" cy="381000"/>
          </a:xfrm>
          <a:prstGeom prst="rect">
            <a:avLst/>
          </a:prstGeom>
          <a:noFill/>
          <a:ln/>
        </p:spPr>
        <p:txBody>
          <a:bodyPr wrap="square" lIns="25400" tIns="25400" rIns="25400" bIns="25400" rtlCol="0" anchor="t">
            <a:normAutofit/>
          </a:bodyPr>
          <a:lstStyle/>
          <a:p>
            <a:pPr marL="0" indent="0" algn="l">
              <a:lnSpc>
                <a:spcPct val="104651"/>
              </a:lnSpc>
              <a:buNone/>
            </a:pPr>
            <a:r>
              <a:rPr lang="en-US" sz="2250" b="1" dirty="0">
                <a:solidFill>
                  <a:srgbClr val="2F3A20"/>
                </a:solidFill>
                <a:latin typeface="Times New Roman" pitchFamily="34" charset="0"/>
                <a:ea typeface="Times New Roman" pitchFamily="34" charset="-122"/>
                <a:cs typeface="Times New Roman" pitchFamily="34" charset="-120"/>
              </a:rPr>
              <a:t>Tái định danh</a:t>
            </a:r>
            <a:endParaRPr lang="en-US" sz="2250" dirty="0"/>
          </a:p>
        </p:txBody>
      </p:sp>
      <p:sp>
        <p:nvSpPr>
          <p:cNvPr id="74" name="Text 63"/>
          <p:cNvSpPr/>
          <p:nvPr/>
        </p:nvSpPr>
        <p:spPr>
          <a:xfrm>
            <a:off x="13887450" y="7262813"/>
            <a:ext cx="3590735" cy="731520"/>
          </a:xfrm>
          <a:prstGeom prst="rect">
            <a:avLst/>
          </a:prstGeom>
          <a:noFill/>
          <a:ln/>
        </p:spPr>
        <p:txBody>
          <a:bodyPr wrap="square" lIns="25400" tIns="25400" rIns="25400" bIns="25400" rtlCol="0" anchor="t">
            <a:normAutofit/>
          </a:bodyPr>
          <a:lstStyle/>
          <a:p>
            <a:pPr marL="0" indent="0" algn="l">
              <a:lnSpc>
                <a:spcPct val="113750"/>
              </a:lnSpc>
              <a:buNone/>
            </a:pPr>
            <a:r>
              <a:rPr lang="en-US" sz="2100" dirty="0">
                <a:solidFill>
                  <a:srgbClr val="4A5436"/>
                </a:solidFill>
                <a:latin typeface="Times New Roman" pitchFamily="34" charset="0"/>
                <a:ea typeface="Times New Roman" pitchFamily="34" charset="-122"/>
                <a:cs typeface="Times New Roman" pitchFamily="34" charset="-120"/>
              </a:rPr>
              <a:t>So histogram màu để nối lại người vừa mất dấu</a:t>
            </a:r>
            <a:endParaRPr lang="en-US" sz="2100" dirty="0"/>
          </a:p>
        </p:txBody>
      </p:sp>
      <p:sp>
        <p:nvSpPr>
          <p:cNvPr id="75" name="Shape 64"/>
          <p:cNvSpPr/>
          <p:nvPr/>
        </p:nvSpPr>
        <p:spPr>
          <a:xfrm>
            <a:off x="685800" y="8760143"/>
            <a:ext cx="16916400" cy="1453515"/>
          </a:xfrm>
          <a:prstGeom prst="roundRect">
            <a:avLst>
              <a:gd name="adj" fmla="val 13106"/>
            </a:avLst>
          </a:prstGeom>
          <a:solidFill>
            <a:srgbClr val="E5D3B6"/>
          </a:solidFill>
          <a:ln/>
        </p:spPr>
      </p:sp>
      <p:sp>
        <p:nvSpPr>
          <p:cNvPr id="76" name="Text 65"/>
          <p:cNvSpPr/>
          <p:nvPr/>
        </p:nvSpPr>
        <p:spPr>
          <a:xfrm>
            <a:off x="933450" y="9280207"/>
            <a:ext cx="2842153" cy="451485"/>
          </a:xfrm>
          <a:prstGeom prst="rect">
            <a:avLst/>
          </a:prstGeom>
          <a:noFill/>
          <a:ln/>
        </p:spPr>
        <p:txBody>
          <a:bodyPr wrap="square" lIns="25400" tIns="25400" rIns="25400" bIns="25400" rtlCol="0" anchor="t">
            <a:normAutofit/>
          </a:bodyPr>
          <a:lstStyle/>
          <a:p>
            <a:pPr marL="0" indent="0" algn="l">
              <a:lnSpc>
                <a:spcPct val="135625"/>
              </a:lnSpc>
              <a:buNone/>
            </a:pPr>
            <a:r>
              <a:rPr lang="en-US" sz="2100" b="1" kern="0" spc="168" dirty="0">
                <a:solidFill>
                  <a:srgbClr val="6B5B45"/>
                </a:solidFill>
                <a:latin typeface="Times New Roman" pitchFamily="34" charset="0"/>
                <a:ea typeface="Times New Roman" pitchFamily="34" charset="-122"/>
                <a:cs typeface="Times New Roman" pitchFamily="34" charset="-120"/>
              </a:rPr>
              <a:t>HÀM PHỤ TRÁCH</a:t>
            </a:r>
            <a:endParaRPr lang="en-US" sz="2100" dirty="0"/>
          </a:p>
        </p:txBody>
      </p:sp>
      <p:sp>
        <p:nvSpPr>
          <p:cNvPr id="77" name="Shape 66"/>
          <p:cNvSpPr/>
          <p:nvPr/>
        </p:nvSpPr>
        <p:spPr>
          <a:xfrm>
            <a:off x="3726775" y="8893493"/>
            <a:ext cx="2979420" cy="536257"/>
          </a:xfrm>
          <a:prstGeom prst="roundRect">
            <a:avLst>
              <a:gd name="adj" fmla="val 50000"/>
            </a:avLst>
          </a:prstGeom>
          <a:solidFill>
            <a:srgbClr val="F5EAD8"/>
          </a:solidFill>
          <a:ln/>
        </p:spPr>
      </p:sp>
      <p:sp>
        <p:nvSpPr>
          <p:cNvPr id="78" name="Text 67"/>
          <p:cNvSpPr/>
          <p:nvPr/>
        </p:nvSpPr>
        <p:spPr>
          <a:xfrm>
            <a:off x="3879175" y="8969693"/>
            <a:ext cx="2764003" cy="421957"/>
          </a:xfrm>
          <a:prstGeom prst="rect">
            <a:avLst/>
          </a:prstGeom>
          <a:noFill/>
          <a:ln/>
        </p:spPr>
        <p:txBody>
          <a:bodyPr wrap="square" lIns="25400" tIns="25400" rIns="25400" bIns="25400" rtlCol="0" anchor="t">
            <a:normAutofit/>
          </a:bodyPr>
          <a:lstStyle/>
          <a:p>
            <a:pPr marL="0" indent="0" algn="l">
              <a:lnSpc>
                <a:spcPct val="136149"/>
              </a:lnSpc>
              <a:buNone/>
            </a:pPr>
            <a:r>
              <a:rPr lang="en-US" sz="1950" dirty="0">
                <a:solidFill>
                  <a:srgbClr val="8A5A2E"/>
                </a:solidFill>
                <a:latin typeface="Courier New" pitchFamily="34" charset="0"/>
                <a:ea typeface="Courier New" pitchFamily="34" charset="-122"/>
                <a:cs typeface="Courier New" pitchFamily="34" charset="-120"/>
              </a:rPr>
              <a:t>filter_and_merge()</a:t>
            </a:r>
            <a:endParaRPr lang="en-US" sz="1950" dirty="0"/>
          </a:p>
        </p:txBody>
      </p:sp>
      <p:sp>
        <p:nvSpPr>
          <p:cNvPr id="79" name="Shape 68"/>
          <p:cNvSpPr/>
          <p:nvPr/>
        </p:nvSpPr>
        <p:spPr>
          <a:xfrm>
            <a:off x="6820495" y="8893493"/>
            <a:ext cx="2236470" cy="536257"/>
          </a:xfrm>
          <a:prstGeom prst="roundRect">
            <a:avLst>
              <a:gd name="adj" fmla="val 50000"/>
            </a:avLst>
          </a:prstGeom>
          <a:solidFill>
            <a:srgbClr val="F5EAD8"/>
          </a:solidFill>
          <a:ln/>
        </p:spPr>
      </p:sp>
      <p:sp>
        <p:nvSpPr>
          <p:cNvPr id="80" name="Text 69"/>
          <p:cNvSpPr/>
          <p:nvPr/>
        </p:nvSpPr>
        <p:spPr>
          <a:xfrm>
            <a:off x="6972895" y="8969693"/>
            <a:ext cx="2007870" cy="421957"/>
          </a:xfrm>
          <a:prstGeom prst="rect">
            <a:avLst/>
          </a:prstGeom>
          <a:noFill/>
          <a:ln/>
        </p:spPr>
        <p:txBody>
          <a:bodyPr wrap="square" lIns="25400" tIns="25400" rIns="25400" bIns="25400" rtlCol="0" anchor="t">
            <a:normAutofit/>
          </a:bodyPr>
          <a:lstStyle/>
          <a:p>
            <a:pPr marL="0" indent="0" algn="l">
              <a:lnSpc>
                <a:spcPct val="136149"/>
              </a:lnSpc>
              <a:buNone/>
            </a:pPr>
            <a:r>
              <a:rPr lang="en-US" sz="1950" dirty="0">
                <a:solidFill>
                  <a:srgbClr val="8A5A2E"/>
                </a:solidFill>
                <a:latin typeface="Courier New" pitchFamily="34" charset="0"/>
                <a:ea typeface="Courier New" pitchFamily="34" charset="-122"/>
                <a:cs typeface="Courier New" pitchFamily="34" charset="-120"/>
              </a:rPr>
              <a:t>compute_iou()</a:t>
            </a:r>
            <a:endParaRPr lang="en-US" sz="1950" dirty="0"/>
          </a:p>
        </p:txBody>
      </p:sp>
      <p:sp>
        <p:nvSpPr>
          <p:cNvPr id="81" name="Shape 70"/>
          <p:cNvSpPr/>
          <p:nvPr/>
        </p:nvSpPr>
        <p:spPr>
          <a:xfrm>
            <a:off x="9171265" y="8893493"/>
            <a:ext cx="4019550" cy="536257"/>
          </a:xfrm>
          <a:prstGeom prst="roundRect">
            <a:avLst>
              <a:gd name="adj" fmla="val 50000"/>
            </a:avLst>
          </a:prstGeom>
          <a:solidFill>
            <a:srgbClr val="F5EAD8"/>
          </a:solidFill>
          <a:ln/>
        </p:spPr>
      </p:sp>
      <p:sp>
        <p:nvSpPr>
          <p:cNvPr id="82" name="Text 71"/>
          <p:cNvSpPr/>
          <p:nvPr/>
        </p:nvSpPr>
        <p:spPr>
          <a:xfrm>
            <a:off x="9323665" y="8969693"/>
            <a:ext cx="3835337" cy="421957"/>
          </a:xfrm>
          <a:prstGeom prst="rect">
            <a:avLst/>
          </a:prstGeom>
          <a:noFill/>
          <a:ln/>
        </p:spPr>
        <p:txBody>
          <a:bodyPr wrap="square" lIns="25400" tIns="25400" rIns="25400" bIns="25400" rtlCol="0" anchor="t">
            <a:normAutofit/>
          </a:bodyPr>
          <a:lstStyle/>
          <a:p>
            <a:pPr marL="0" indent="0" algn="l">
              <a:lnSpc>
                <a:spcPct val="136149"/>
              </a:lnSpc>
              <a:buNone/>
            </a:pPr>
            <a:r>
              <a:rPr lang="en-US" sz="1950" dirty="0">
                <a:solidFill>
                  <a:srgbClr val="8A5A2E"/>
                </a:solidFill>
                <a:latin typeface="Courier New" pitchFamily="34" charset="0"/>
                <a:ea typeface="Courier New" pitchFamily="34" charset="-122"/>
                <a:cs typeface="Courier New" pitchFamily="34" charset="-120"/>
              </a:rPr>
              <a:t>merge_overlapping_boxes()</a:t>
            </a:r>
            <a:endParaRPr lang="en-US" sz="1950" dirty="0"/>
          </a:p>
        </p:txBody>
      </p:sp>
      <p:sp>
        <p:nvSpPr>
          <p:cNvPr id="83" name="Shape 72"/>
          <p:cNvSpPr/>
          <p:nvPr/>
        </p:nvSpPr>
        <p:spPr>
          <a:xfrm>
            <a:off x="13305116" y="8893493"/>
            <a:ext cx="2087880" cy="536257"/>
          </a:xfrm>
          <a:prstGeom prst="roundRect">
            <a:avLst>
              <a:gd name="adj" fmla="val 50000"/>
            </a:avLst>
          </a:prstGeom>
          <a:solidFill>
            <a:srgbClr val="F5EAD8"/>
          </a:solidFill>
          <a:ln/>
        </p:spPr>
      </p:sp>
      <p:sp>
        <p:nvSpPr>
          <p:cNvPr id="84" name="Text 73"/>
          <p:cNvSpPr/>
          <p:nvPr/>
        </p:nvSpPr>
        <p:spPr>
          <a:xfrm>
            <a:off x="13457516" y="8969693"/>
            <a:ext cx="1859280" cy="421957"/>
          </a:xfrm>
          <a:prstGeom prst="rect">
            <a:avLst/>
          </a:prstGeom>
          <a:noFill/>
          <a:ln/>
        </p:spPr>
        <p:txBody>
          <a:bodyPr wrap="square" lIns="25400" tIns="25400" rIns="25400" bIns="25400" rtlCol="0" anchor="t">
            <a:normAutofit/>
          </a:bodyPr>
          <a:lstStyle/>
          <a:p>
            <a:pPr marL="0" indent="0" algn="l">
              <a:lnSpc>
                <a:spcPct val="136149"/>
              </a:lnSpc>
              <a:buNone/>
            </a:pPr>
            <a:r>
              <a:rPr lang="en-US" sz="1950" dirty="0">
                <a:solidFill>
                  <a:srgbClr val="4C5A35"/>
                </a:solidFill>
                <a:latin typeface="Courier New" pitchFamily="34" charset="0"/>
                <a:ea typeface="Courier New" pitchFamily="34" charset="-122"/>
                <a:cs typeface="Courier New" pitchFamily="34" charset="-120"/>
              </a:rPr>
              <a:t>color_hist()</a:t>
            </a:r>
            <a:endParaRPr lang="en-US" sz="1950" dirty="0"/>
          </a:p>
        </p:txBody>
      </p:sp>
      <p:sp>
        <p:nvSpPr>
          <p:cNvPr id="85" name="Shape 74"/>
          <p:cNvSpPr/>
          <p:nvPr/>
        </p:nvSpPr>
        <p:spPr>
          <a:xfrm>
            <a:off x="3726775" y="9544050"/>
            <a:ext cx="2236470" cy="536257"/>
          </a:xfrm>
          <a:prstGeom prst="roundRect">
            <a:avLst>
              <a:gd name="adj" fmla="val 50000"/>
            </a:avLst>
          </a:prstGeom>
          <a:solidFill>
            <a:srgbClr val="F5EAD8"/>
          </a:solidFill>
          <a:ln/>
        </p:spPr>
      </p:sp>
      <p:sp>
        <p:nvSpPr>
          <p:cNvPr id="86" name="Text 75"/>
          <p:cNvSpPr/>
          <p:nvPr/>
        </p:nvSpPr>
        <p:spPr>
          <a:xfrm>
            <a:off x="3879175" y="9620250"/>
            <a:ext cx="2007870" cy="421957"/>
          </a:xfrm>
          <a:prstGeom prst="rect">
            <a:avLst/>
          </a:prstGeom>
          <a:noFill/>
          <a:ln/>
        </p:spPr>
        <p:txBody>
          <a:bodyPr wrap="square" lIns="25400" tIns="25400" rIns="25400" bIns="25400" rtlCol="0" anchor="t">
            <a:normAutofit/>
          </a:bodyPr>
          <a:lstStyle/>
          <a:p>
            <a:pPr marL="0" indent="0" algn="l">
              <a:lnSpc>
                <a:spcPct val="136149"/>
              </a:lnSpc>
              <a:buNone/>
            </a:pPr>
            <a:r>
              <a:rPr lang="en-US" sz="1950" dirty="0">
                <a:solidFill>
                  <a:srgbClr val="4C5A35"/>
                </a:solidFill>
                <a:latin typeface="Courier New" pitchFamily="34" charset="0"/>
                <a:ea typeface="Courier New" pitchFamily="34" charset="-122"/>
                <a:cs typeface="Courier New" pitchFamily="34" charset="-120"/>
              </a:rPr>
              <a:t>log_visitor()</a:t>
            </a:r>
            <a:endParaRPr lang="en-US" sz="1950" dirty="0"/>
          </a:p>
        </p:txBody>
      </p:sp>
      <p:sp>
        <p:nvSpPr>
          <p:cNvPr id="87" name="Shape 76"/>
          <p:cNvSpPr/>
          <p:nvPr/>
        </p:nvSpPr>
        <p:spPr>
          <a:xfrm>
            <a:off x="6077545" y="9544050"/>
            <a:ext cx="2979420" cy="536257"/>
          </a:xfrm>
          <a:prstGeom prst="roundRect">
            <a:avLst>
              <a:gd name="adj" fmla="val 50000"/>
            </a:avLst>
          </a:prstGeom>
          <a:solidFill>
            <a:srgbClr val="F5EAD8"/>
          </a:solidFill>
          <a:ln/>
        </p:spPr>
      </p:sp>
      <p:sp>
        <p:nvSpPr>
          <p:cNvPr id="88" name="Text 77"/>
          <p:cNvSpPr/>
          <p:nvPr/>
        </p:nvSpPr>
        <p:spPr>
          <a:xfrm>
            <a:off x="6229945" y="9620250"/>
            <a:ext cx="2764003" cy="421957"/>
          </a:xfrm>
          <a:prstGeom prst="rect">
            <a:avLst/>
          </a:prstGeom>
          <a:noFill/>
          <a:ln/>
        </p:spPr>
        <p:txBody>
          <a:bodyPr wrap="square" lIns="25400" tIns="25400" rIns="25400" bIns="25400" rtlCol="0" anchor="t">
            <a:normAutofit/>
          </a:bodyPr>
          <a:lstStyle/>
          <a:p>
            <a:pPr marL="0" indent="0" algn="l">
              <a:lnSpc>
                <a:spcPct val="136149"/>
              </a:lnSpc>
              <a:buNone/>
            </a:pPr>
            <a:r>
              <a:rPr lang="en-US" sz="1950" dirty="0">
                <a:solidFill>
                  <a:srgbClr val="4C5A35"/>
                </a:solidFill>
                <a:latin typeface="Courier New" pitchFamily="34" charset="0"/>
                <a:ea typeface="Courier New" pitchFamily="34" charset="-122"/>
                <a:cs typeface="Courier New" pitchFamily="34" charset="-120"/>
              </a:rPr>
              <a:t>save_daily_count()</a:t>
            </a:r>
            <a:endParaRPr lang="en-US" sz="1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6F0"/>
        </a:solidFill>
        <a:effectLst/>
      </p:bgPr>
    </p:bg>
    <p:spTree>
      <p:nvGrpSpPr>
        <p:cNvPr id="1" name=""/>
        <p:cNvGrpSpPr/>
        <p:nvPr/>
      </p:nvGrpSpPr>
      <p:grpSpPr>
        <a:xfrm>
          <a:off x="0" y="0"/>
          <a:ext cx="0" cy="0"/>
          <a:chOff x="0" y="0"/>
          <a:chExt cx="0" cy="0"/>
        </a:xfrm>
      </p:grpSpPr>
      <p:sp>
        <p:nvSpPr>
          <p:cNvPr id="2" name="Text 0"/>
          <p:cNvSpPr/>
          <p:nvPr/>
        </p:nvSpPr>
        <p:spPr>
          <a:xfrm>
            <a:off x="914400" y="800100"/>
            <a:ext cx="18105120" cy="451485"/>
          </a:xfrm>
          <a:prstGeom prst="rect">
            <a:avLst/>
          </a:prstGeom>
          <a:noFill/>
          <a:ln/>
        </p:spPr>
        <p:txBody>
          <a:bodyPr wrap="square" lIns="25400" tIns="25400" rIns="25400" bIns="25400" rtlCol="0" anchor="t">
            <a:normAutofit/>
          </a:bodyPr>
          <a:lstStyle/>
          <a:p>
            <a:pPr marL="0" indent="0" algn="l">
              <a:lnSpc>
                <a:spcPct val="135625"/>
              </a:lnSpc>
              <a:buNone/>
            </a:pPr>
            <a:r>
              <a:rPr lang="en-US" sz="2100" b="1" kern="0" spc="294" dirty="0">
                <a:solidFill>
                  <a:srgbClr val="8A5A2E"/>
                </a:solidFill>
                <a:latin typeface="Times New Roman" pitchFamily="34" charset="0"/>
                <a:ea typeface="Times New Roman" pitchFamily="34" charset="-122"/>
                <a:cs typeface="Times New Roman" pitchFamily="34" charset="-120"/>
              </a:rPr>
              <a:t>NỀN TẢNG</a:t>
            </a:r>
            <a:endParaRPr lang="en-US" sz="2100" dirty="0"/>
          </a:p>
        </p:txBody>
      </p:sp>
      <p:sp>
        <p:nvSpPr>
          <p:cNvPr id="3" name="Text 1"/>
          <p:cNvSpPr/>
          <p:nvPr/>
        </p:nvSpPr>
        <p:spPr>
          <a:xfrm>
            <a:off x="914400" y="1346835"/>
            <a:ext cx="18105120" cy="687705"/>
          </a:xfrm>
          <a:prstGeom prst="rect">
            <a:avLst/>
          </a:prstGeom>
          <a:noFill/>
          <a:ln/>
        </p:spPr>
        <p:txBody>
          <a:bodyPr wrap="square" lIns="25400" tIns="25400" rIns="25400" bIns="25400" rtlCol="0" anchor="t">
            <a:normAutofit/>
          </a:bodyPr>
          <a:lstStyle/>
          <a:p>
            <a:pPr marL="0" indent="0" algn="l">
              <a:lnSpc>
                <a:spcPct val="95787"/>
              </a:lnSpc>
              <a:buNone/>
            </a:pPr>
            <a:r>
              <a:rPr lang="en-US" sz="4650" b="1" kern="0" spc="-70" dirty="0">
                <a:solidFill>
                  <a:srgbClr val="201E1D"/>
                </a:solidFill>
                <a:latin typeface="Times New Roman" pitchFamily="34" charset="0"/>
                <a:ea typeface="Times New Roman" pitchFamily="34" charset="-122"/>
                <a:cs typeface="Times New Roman" pitchFamily="34" charset="-120"/>
              </a:rPr>
              <a:t>Công nghệ và thư viện sử dụng</a:t>
            </a:r>
            <a:endParaRPr lang="en-US" sz="4650" dirty="0"/>
          </a:p>
        </p:txBody>
      </p:sp>
      <p:sp>
        <p:nvSpPr>
          <p:cNvPr id="4" name="Shape 2"/>
          <p:cNvSpPr/>
          <p:nvPr/>
        </p:nvSpPr>
        <p:spPr>
          <a:xfrm>
            <a:off x="914400" y="2415540"/>
            <a:ext cx="5308521" cy="2057400"/>
          </a:xfrm>
          <a:prstGeom prst="roundRect">
            <a:avLst>
              <a:gd name="adj" fmla="val 10185"/>
            </a:avLst>
          </a:prstGeom>
          <a:solidFill>
            <a:srgbClr val="EFE0C6"/>
          </a:solidFill>
          <a:ln/>
        </p:spPr>
      </p:sp>
      <p:sp>
        <p:nvSpPr>
          <p:cNvPr id="5" name="Shape 3"/>
          <p:cNvSpPr/>
          <p:nvPr/>
        </p:nvSpPr>
        <p:spPr>
          <a:xfrm>
            <a:off x="1219200" y="2701290"/>
            <a:ext cx="647700" cy="571500"/>
          </a:xfrm>
          <a:prstGeom prst="rect">
            <a:avLst/>
          </a:prstGeom>
          <a:solidFill>
            <a:srgbClr val="7F7F7F">
              <a:alpha val="8000"/>
            </a:srgbClr>
          </a:solidFill>
          <a:ln/>
        </p:spPr>
      </p:sp>
      <p:pic>
        <p:nvPicPr>
          <p:cNvPr id="6" name="Image 0" descr="preencoded.png"/>
          <p:cNvPicPr>
            <a:picLocks noChangeAspect="1"/>
          </p:cNvPicPr>
          <p:nvPr/>
        </p:nvPicPr>
        <p:blipFill>
          <a:blip r:embed="rId3"/>
          <a:srcRect l="-6667" r="-6667"/>
          <a:stretch/>
        </p:blipFill>
        <p:spPr>
          <a:xfrm>
            <a:off x="1219200" y="2701290"/>
            <a:ext cx="647700" cy="571500"/>
          </a:xfrm>
          <a:prstGeom prst="rect">
            <a:avLst/>
          </a:prstGeom>
        </p:spPr>
      </p:pic>
      <p:sp>
        <p:nvSpPr>
          <p:cNvPr id="7" name="Text 4"/>
          <p:cNvSpPr/>
          <p:nvPr/>
        </p:nvSpPr>
        <p:spPr>
          <a:xfrm>
            <a:off x="2019300" y="2765584"/>
            <a:ext cx="1509022" cy="481012"/>
          </a:xfrm>
          <a:prstGeom prst="rect">
            <a:avLst/>
          </a:prstGeom>
          <a:noFill/>
          <a:ln/>
        </p:spPr>
        <p:txBody>
          <a:bodyPr wrap="square" lIns="25400" tIns="25400" rIns="25400" bIns="25400" rtlCol="0" anchor="t">
            <a:normAutofit/>
          </a:bodyPr>
          <a:lstStyle/>
          <a:p>
            <a:pPr marL="0" indent="0" algn="l">
              <a:lnSpc>
                <a:spcPct val="138393"/>
              </a:lnSpc>
              <a:buNone/>
            </a:pPr>
            <a:r>
              <a:rPr lang="en-US" sz="2250" b="1" dirty="0">
                <a:solidFill>
                  <a:srgbClr val="8A5A2E"/>
                </a:solidFill>
                <a:latin typeface="Courier New" pitchFamily="34" charset="0"/>
                <a:ea typeface="Courier New" pitchFamily="34" charset="-122"/>
                <a:cs typeface="Courier New" pitchFamily="34" charset="-120"/>
              </a:rPr>
              <a:t>Python 3</a:t>
            </a:r>
            <a:endParaRPr lang="en-US" sz="2250" dirty="0"/>
          </a:p>
        </p:txBody>
      </p:sp>
      <p:sp>
        <p:nvSpPr>
          <p:cNvPr id="8" name="Text 5"/>
          <p:cNvSpPr/>
          <p:nvPr/>
        </p:nvSpPr>
        <p:spPr>
          <a:xfrm>
            <a:off x="1219200" y="3387090"/>
            <a:ext cx="4839888" cy="838200"/>
          </a:xfrm>
          <a:prstGeom prst="rect">
            <a:avLst/>
          </a:prstGeom>
          <a:noFill/>
          <a:ln/>
        </p:spPr>
        <p:txBody>
          <a:bodyPr wrap="square" lIns="25400" tIns="25400" rIns="25400" bIns="25400" rtlCol="0" anchor="t">
            <a:normAutofit/>
          </a:bodyPr>
          <a:lstStyle/>
          <a:p>
            <a:pPr marL="0" indent="0" algn="l">
              <a:lnSpc>
                <a:spcPct val="122093"/>
              </a:lnSpc>
              <a:buNone/>
            </a:pPr>
            <a:r>
              <a:rPr lang="en-US" sz="2250" dirty="0">
                <a:solidFill>
                  <a:srgbClr val="4A443F"/>
                </a:solidFill>
                <a:latin typeface="Times New Roman" pitchFamily="34" charset="0"/>
                <a:ea typeface="Times New Roman" pitchFamily="34" charset="-122"/>
                <a:cs typeface="Times New Roman" pitchFamily="34" charset="-120"/>
              </a:rPr>
              <a:t>Ngôn ngữ chính, chạy trực tiếp bằng dòng lệnh, không cần biên dịch.</a:t>
            </a:r>
            <a:endParaRPr lang="en-US" sz="2250" dirty="0"/>
          </a:p>
        </p:txBody>
      </p:sp>
      <p:sp>
        <p:nvSpPr>
          <p:cNvPr id="9" name="Shape 6"/>
          <p:cNvSpPr/>
          <p:nvPr/>
        </p:nvSpPr>
        <p:spPr>
          <a:xfrm>
            <a:off x="6489621" y="2415540"/>
            <a:ext cx="5308640" cy="2057400"/>
          </a:xfrm>
          <a:prstGeom prst="roundRect">
            <a:avLst>
              <a:gd name="adj" fmla="val 10185"/>
            </a:avLst>
          </a:prstGeom>
          <a:solidFill>
            <a:srgbClr val="E4E8D8"/>
          </a:solidFill>
          <a:ln/>
        </p:spPr>
      </p:sp>
      <p:sp>
        <p:nvSpPr>
          <p:cNvPr id="10" name="Shape 7"/>
          <p:cNvSpPr/>
          <p:nvPr/>
        </p:nvSpPr>
        <p:spPr>
          <a:xfrm>
            <a:off x="6794421" y="2701290"/>
            <a:ext cx="647700" cy="571500"/>
          </a:xfrm>
          <a:prstGeom prst="rect">
            <a:avLst/>
          </a:prstGeom>
          <a:solidFill>
            <a:srgbClr val="7F7F7F">
              <a:alpha val="8000"/>
            </a:srgbClr>
          </a:solidFill>
          <a:ln/>
        </p:spPr>
      </p:sp>
      <p:pic>
        <p:nvPicPr>
          <p:cNvPr id="11" name="Image 1" descr="preencoded.png"/>
          <p:cNvPicPr>
            <a:picLocks noChangeAspect="1"/>
          </p:cNvPicPr>
          <p:nvPr/>
        </p:nvPicPr>
        <p:blipFill>
          <a:blip r:embed="rId4"/>
          <a:srcRect t="-195524" b="-195524"/>
          <a:stretch/>
        </p:blipFill>
        <p:spPr>
          <a:xfrm>
            <a:off x="6794421" y="2701290"/>
            <a:ext cx="647700" cy="571500"/>
          </a:xfrm>
          <a:prstGeom prst="rect">
            <a:avLst/>
          </a:prstGeom>
        </p:spPr>
      </p:pic>
      <p:sp>
        <p:nvSpPr>
          <p:cNvPr id="12" name="Text 8"/>
          <p:cNvSpPr/>
          <p:nvPr/>
        </p:nvSpPr>
        <p:spPr>
          <a:xfrm>
            <a:off x="7594521" y="2765584"/>
            <a:ext cx="2074938" cy="481012"/>
          </a:xfrm>
          <a:prstGeom prst="rect">
            <a:avLst/>
          </a:prstGeom>
          <a:noFill/>
          <a:ln/>
        </p:spPr>
        <p:txBody>
          <a:bodyPr wrap="square" lIns="25400" tIns="25400" rIns="25400" bIns="25400" rtlCol="0" anchor="t">
            <a:normAutofit/>
          </a:bodyPr>
          <a:lstStyle/>
          <a:p>
            <a:pPr marL="0" indent="0" algn="l">
              <a:lnSpc>
                <a:spcPct val="138393"/>
              </a:lnSpc>
              <a:buNone/>
            </a:pPr>
            <a:r>
              <a:rPr lang="en-US" sz="2250" b="1" dirty="0">
                <a:solidFill>
                  <a:srgbClr val="4C5A35"/>
                </a:solidFill>
                <a:latin typeface="Courier New" pitchFamily="34" charset="0"/>
                <a:ea typeface="Courier New" pitchFamily="34" charset="-122"/>
                <a:cs typeface="Courier New" pitchFamily="34" charset="-120"/>
              </a:rPr>
              <a:t>ultralytics</a:t>
            </a:r>
            <a:endParaRPr lang="en-US" sz="2250" dirty="0"/>
          </a:p>
        </p:txBody>
      </p:sp>
      <p:sp>
        <p:nvSpPr>
          <p:cNvPr id="13" name="Text 9"/>
          <p:cNvSpPr/>
          <p:nvPr/>
        </p:nvSpPr>
        <p:spPr>
          <a:xfrm>
            <a:off x="6794421" y="3387090"/>
            <a:ext cx="4840011" cy="838200"/>
          </a:xfrm>
          <a:prstGeom prst="rect">
            <a:avLst/>
          </a:prstGeom>
          <a:noFill/>
          <a:ln/>
        </p:spPr>
        <p:txBody>
          <a:bodyPr wrap="square" lIns="25400" tIns="25400" rIns="25400" bIns="25400" rtlCol="0" anchor="t">
            <a:normAutofit/>
          </a:bodyPr>
          <a:lstStyle/>
          <a:p>
            <a:pPr marL="0" indent="0" algn="l">
              <a:lnSpc>
                <a:spcPct val="122093"/>
              </a:lnSpc>
              <a:buNone/>
            </a:pPr>
            <a:r>
              <a:rPr lang="en-US" sz="2250" dirty="0">
                <a:solidFill>
                  <a:srgbClr val="3A4429"/>
                </a:solidFill>
                <a:latin typeface="Times New Roman" pitchFamily="34" charset="0"/>
                <a:ea typeface="Times New Roman" pitchFamily="34" charset="-122"/>
                <a:cs typeface="Times New Roman" pitchFamily="34" charset="-120"/>
              </a:rPr>
              <a:t>Cung cấp YOLOv8n và gọi luôn tracker ByteTrack qua một lời gọi track().</a:t>
            </a:r>
            <a:endParaRPr lang="en-US" sz="2250" dirty="0"/>
          </a:p>
        </p:txBody>
      </p:sp>
      <p:sp>
        <p:nvSpPr>
          <p:cNvPr id="14" name="Shape 10"/>
          <p:cNvSpPr/>
          <p:nvPr/>
        </p:nvSpPr>
        <p:spPr>
          <a:xfrm>
            <a:off x="12064960" y="2415540"/>
            <a:ext cx="5308640" cy="2057400"/>
          </a:xfrm>
          <a:prstGeom prst="roundRect">
            <a:avLst>
              <a:gd name="adj" fmla="val 10185"/>
            </a:avLst>
          </a:prstGeom>
          <a:solidFill>
            <a:srgbClr val="EFE0C6"/>
          </a:solidFill>
          <a:ln/>
        </p:spPr>
      </p:sp>
      <p:sp>
        <p:nvSpPr>
          <p:cNvPr id="15" name="Shape 11"/>
          <p:cNvSpPr/>
          <p:nvPr/>
        </p:nvSpPr>
        <p:spPr>
          <a:xfrm>
            <a:off x="12369760" y="2701290"/>
            <a:ext cx="647700" cy="571500"/>
          </a:xfrm>
          <a:prstGeom prst="rect">
            <a:avLst/>
          </a:prstGeom>
          <a:solidFill>
            <a:srgbClr val="7F7F7F">
              <a:alpha val="8000"/>
            </a:srgbClr>
          </a:solidFill>
          <a:ln/>
        </p:spPr>
      </p:sp>
      <p:pic>
        <p:nvPicPr>
          <p:cNvPr id="16" name="Image 2" descr="preencoded.png"/>
          <p:cNvPicPr>
            <a:picLocks noChangeAspect="1"/>
          </p:cNvPicPr>
          <p:nvPr/>
        </p:nvPicPr>
        <p:blipFill>
          <a:blip r:embed="rId5"/>
          <a:srcRect l="-6667" r="-6667"/>
          <a:stretch/>
        </p:blipFill>
        <p:spPr>
          <a:xfrm>
            <a:off x="12369760" y="2701290"/>
            <a:ext cx="647700" cy="571500"/>
          </a:xfrm>
          <a:prstGeom prst="rect">
            <a:avLst/>
          </a:prstGeom>
        </p:spPr>
      </p:pic>
      <p:sp>
        <p:nvSpPr>
          <p:cNvPr id="17" name="Text 12"/>
          <p:cNvSpPr/>
          <p:nvPr/>
        </p:nvSpPr>
        <p:spPr>
          <a:xfrm>
            <a:off x="13169860" y="2765584"/>
            <a:ext cx="2452259" cy="481012"/>
          </a:xfrm>
          <a:prstGeom prst="rect">
            <a:avLst/>
          </a:prstGeom>
          <a:noFill/>
          <a:ln/>
        </p:spPr>
        <p:txBody>
          <a:bodyPr wrap="square" lIns="25400" tIns="25400" rIns="25400" bIns="25400" rtlCol="0" anchor="t">
            <a:normAutofit/>
          </a:bodyPr>
          <a:lstStyle/>
          <a:p>
            <a:pPr marL="0" indent="0" algn="l">
              <a:lnSpc>
                <a:spcPct val="138393"/>
              </a:lnSpc>
              <a:buNone/>
            </a:pPr>
            <a:r>
              <a:rPr lang="en-US" sz="2250" b="1" dirty="0">
                <a:solidFill>
                  <a:srgbClr val="8A5A2E"/>
                </a:solidFill>
                <a:latin typeface="Courier New" pitchFamily="34" charset="0"/>
                <a:ea typeface="Courier New" pitchFamily="34" charset="-122"/>
                <a:cs typeface="Courier New" pitchFamily="34" charset="-120"/>
              </a:rPr>
              <a:t>opencv-python</a:t>
            </a:r>
            <a:endParaRPr lang="en-US" sz="2250" dirty="0"/>
          </a:p>
        </p:txBody>
      </p:sp>
      <p:sp>
        <p:nvSpPr>
          <p:cNvPr id="18" name="Text 13"/>
          <p:cNvSpPr/>
          <p:nvPr/>
        </p:nvSpPr>
        <p:spPr>
          <a:xfrm>
            <a:off x="12369760" y="3387090"/>
            <a:ext cx="4840011" cy="838200"/>
          </a:xfrm>
          <a:prstGeom prst="rect">
            <a:avLst/>
          </a:prstGeom>
          <a:noFill/>
          <a:ln/>
        </p:spPr>
        <p:txBody>
          <a:bodyPr wrap="square" lIns="25400" tIns="25400" rIns="25400" bIns="25400" rtlCol="0" anchor="t">
            <a:normAutofit/>
          </a:bodyPr>
          <a:lstStyle/>
          <a:p>
            <a:pPr marL="0" indent="0" algn="l">
              <a:lnSpc>
                <a:spcPct val="122093"/>
              </a:lnSpc>
              <a:buNone/>
            </a:pPr>
            <a:r>
              <a:rPr lang="en-US" sz="2250" dirty="0">
                <a:solidFill>
                  <a:srgbClr val="4A443F"/>
                </a:solidFill>
                <a:latin typeface="Times New Roman" pitchFamily="34" charset="0"/>
                <a:ea typeface="Times New Roman" pitchFamily="34" charset="-122"/>
                <a:cs typeface="Times New Roman" pitchFamily="34" charset="-120"/>
              </a:rPr>
              <a:t>Đọc video, vẽ overlay, tính histogram HSV và dựng lớp heatmap.</a:t>
            </a:r>
            <a:endParaRPr lang="en-US" sz="2250" dirty="0"/>
          </a:p>
        </p:txBody>
      </p:sp>
      <p:sp>
        <p:nvSpPr>
          <p:cNvPr id="19" name="Shape 14"/>
          <p:cNvSpPr/>
          <p:nvPr/>
        </p:nvSpPr>
        <p:spPr>
          <a:xfrm>
            <a:off x="914400" y="4739640"/>
            <a:ext cx="5308521" cy="2328863"/>
          </a:xfrm>
          <a:prstGeom prst="roundRect">
            <a:avLst>
              <a:gd name="adj" fmla="val 8998"/>
            </a:avLst>
          </a:prstGeom>
          <a:solidFill>
            <a:srgbClr val="E4E8D8"/>
          </a:solidFill>
          <a:ln/>
        </p:spPr>
      </p:sp>
      <p:sp>
        <p:nvSpPr>
          <p:cNvPr id="20" name="Shape 15"/>
          <p:cNvSpPr/>
          <p:nvPr/>
        </p:nvSpPr>
        <p:spPr>
          <a:xfrm>
            <a:off x="1219200" y="5025390"/>
            <a:ext cx="647700" cy="571500"/>
          </a:xfrm>
          <a:prstGeom prst="rect">
            <a:avLst/>
          </a:prstGeom>
          <a:solidFill>
            <a:srgbClr val="7F7F7F">
              <a:alpha val="8000"/>
            </a:srgbClr>
          </a:solidFill>
          <a:ln/>
        </p:spPr>
      </p:sp>
      <p:pic>
        <p:nvPicPr>
          <p:cNvPr id="21" name="Image 3" descr="preencoded.png"/>
          <p:cNvPicPr>
            <a:picLocks noChangeAspect="1"/>
          </p:cNvPicPr>
          <p:nvPr/>
        </p:nvPicPr>
        <p:blipFill>
          <a:blip r:embed="rId6"/>
          <a:srcRect l="-6667" r="-6667"/>
          <a:stretch/>
        </p:blipFill>
        <p:spPr>
          <a:xfrm>
            <a:off x="1219200" y="5025390"/>
            <a:ext cx="647700" cy="571500"/>
          </a:xfrm>
          <a:prstGeom prst="rect">
            <a:avLst/>
          </a:prstGeom>
        </p:spPr>
      </p:pic>
      <p:sp>
        <p:nvSpPr>
          <p:cNvPr id="22" name="Text 16"/>
          <p:cNvSpPr/>
          <p:nvPr/>
        </p:nvSpPr>
        <p:spPr>
          <a:xfrm>
            <a:off x="2019300" y="5089684"/>
            <a:ext cx="933688" cy="481012"/>
          </a:xfrm>
          <a:prstGeom prst="rect">
            <a:avLst/>
          </a:prstGeom>
          <a:noFill/>
          <a:ln/>
        </p:spPr>
        <p:txBody>
          <a:bodyPr wrap="square" lIns="25400" tIns="25400" rIns="25400" bIns="25400" rtlCol="0" anchor="t">
            <a:normAutofit/>
          </a:bodyPr>
          <a:lstStyle/>
          <a:p>
            <a:pPr marL="0" indent="0" algn="l">
              <a:lnSpc>
                <a:spcPct val="138393"/>
              </a:lnSpc>
              <a:buNone/>
            </a:pPr>
            <a:r>
              <a:rPr lang="en-US" sz="2250" b="1" dirty="0">
                <a:solidFill>
                  <a:srgbClr val="4C5A35"/>
                </a:solidFill>
                <a:latin typeface="Courier New" pitchFamily="34" charset="0"/>
                <a:ea typeface="Courier New" pitchFamily="34" charset="-122"/>
                <a:cs typeface="Courier New" pitchFamily="34" charset="-120"/>
              </a:rPr>
              <a:t>numpy</a:t>
            </a:r>
            <a:endParaRPr lang="en-US" sz="2250" dirty="0"/>
          </a:p>
        </p:txBody>
      </p:sp>
      <p:sp>
        <p:nvSpPr>
          <p:cNvPr id="23" name="Text 17"/>
          <p:cNvSpPr/>
          <p:nvPr/>
        </p:nvSpPr>
        <p:spPr>
          <a:xfrm>
            <a:off x="1219200" y="5711190"/>
            <a:ext cx="4839888" cy="838200"/>
          </a:xfrm>
          <a:prstGeom prst="rect">
            <a:avLst/>
          </a:prstGeom>
          <a:noFill/>
          <a:ln/>
        </p:spPr>
        <p:txBody>
          <a:bodyPr wrap="square" lIns="25400" tIns="25400" rIns="25400" bIns="25400" rtlCol="0" anchor="t">
            <a:normAutofit/>
          </a:bodyPr>
          <a:lstStyle/>
          <a:p>
            <a:pPr marL="0" indent="0" algn="l">
              <a:lnSpc>
                <a:spcPct val="122093"/>
              </a:lnSpc>
              <a:buNone/>
            </a:pPr>
            <a:r>
              <a:rPr lang="en-US" sz="2250" dirty="0">
                <a:solidFill>
                  <a:srgbClr val="3A4429"/>
                </a:solidFill>
                <a:latin typeface="Times New Roman" pitchFamily="34" charset="0"/>
                <a:ea typeface="Times New Roman" pitchFamily="34" charset="-122"/>
                <a:cs typeface="Times New Roman" pitchFamily="34" charset="-120"/>
              </a:rPr>
              <a:t>Tính IoU, xử lý mảng khung hình và ma trận tích nhiệt.</a:t>
            </a:r>
            <a:endParaRPr lang="en-US" sz="2250" dirty="0"/>
          </a:p>
        </p:txBody>
      </p:sp>
      <p:sp>
        <p:nvSpPr>
          <p:cNvPr id="24" name="Shape 18"/>
          <p:cNvSpPr/>
          <p:nvPr/>
        </p:nvSpPr>
        <p:spPr>
          <a:xfrm>
            <a:off x="6489621" y="4739640"/>
            <a:ext cx="5308640" cy="2328863"/>
          </a:xfrm>
          <a:prstGeom prst="roundRect">
            <a:avLst>
              <a:gd name="adj" fmla="val 8998"/>
            </a:avLst>
          </a:prstGeom>
          <a:solidFill>
            <a:srgbClr val="EFE0C6"/>
          </a:solidFill>
          <a:ln/>
        </p:spPr>
      </p:sp>
      <p:sp>
        <p:nvSpPr>
          <p:cNvPr id="25" name="Text 19"/>
          <p:cNvSpPr/>
          <p:nvPr/>
        </p:nvSpPr>
        <p:spPr>
          <a:xfrm>
            <a:off x="6794421" y="5025390"/>
            <a:ext cx="5168944" cy="481012"/>
          </a:xfrm>
          <a:prstGeom prst="rect">
            <a:avLst/>
          </a:prstGeom>
          <a:noFill/>
          <a:ln/>
        </p:spPr>
        <p:txBody>
          <a:bodyPr wrap="square" lIns="25400" tIns="25400" rIns="25400" bIns="25400" rtlCol="0" anchor="t">
            <a:normAutofit/>
          </a:bodyPr>
          <a:lstStyle/>
          <a:p>
            <a:pPr marL="0" indent="0" algn="l">
              <a:lnSpc>
                <a:spcPct val="138393"/>
              </a:lnSpc>
              <a:buNone/>
            </a:pPr>
            <a:r>
              <a:rPr lang="en-US" sz="2250" b="1" dirty="0">
                <a:solidFill>
                  <a:srgbClr val="8A5A2E"/>
                </a:solidFill>
                <a:latin typeface="Courier New" pitchFamily="34" charset="0"/>
                <a:ea typeface="Courier New" pitchFamily="34" charset="-122"/>
                <a:cs typeface="Courier New" pitchFamily="34" charset="-120"/>
              </a:rPr>
              <a:t>matplotlib</a:t>
            </a:r>
            <a:endParaRPr lang="en-US" sz="2250" dirty="0"/>
          </a:p>
        </p:txBody>
      </p:sp>
      <p:sp>
        <p:nvSpPr>
          <p:cNvPr id="26" name="Text 20"/>
          <p:cNvSpPr/>
          <p:nvPr/>
        </p:nvSpPr>
        <p:spPr>
          <a:xfrm>
            <a:off x="6794421" y="5582603"/>
            <a:ext cx="4840011" cy="838200"/>
          </a:xfrm>
          <a:prstGeom prst="rect">
            <a:avLst/>
          </a:prstGeom>
          <a:noFill/>
          <a:ln/>
        </p:spPr>
        <p:txBody>
          <a:bodyPr wrap="square" lIns="25400" tIns="25400" rIns="25400" bIns="25400" rtlCol="0" anchor="t">
            <a:normAutofit/>
          </a:bodyPr>
          <a:lstStyle/>
          <a:p>
            <a:pPr marL="0" indent="0" algn="l">
              <a:lnSpc>
                <a:spcPct val="122093"/>
              </a:lnSpc>
              <a:buNone/>
            </a:pPr>
            <a:r>
              <a:rPr lang="en-US" sz="2250" dirty="0">
                <a:solidFill>
                  <a:srgbClr val="4A443F"/>
                </a:solidFill>
                <a:latin typeface="Times New Roman" pitchFamily="34" charset="0"/>
                <a:ea typeface="Times New Roman" pitchFamily="34" charset="-122"/>
                <a:cs typeface="Times New Roman" pitchFamily="34" charset="-120"/>
              </a:rPr>
              <a:t>Vẽ Dashboard thống kê khách theo giờ và theo ngày từ hai file CSV.</a:t>
            </a:r>
            <a:endParaRPr lang="en-US" sz="2250" dirty="0"/>
          </a:p>
        </p:txBody>
      </p:sp>
      <p:sp>
        <p:nvSpPr>
          <p:cNvPr id="27" name="Shape 21"/>
          <p:cNvSpPr/>
          <p:nvPr/>
        </p:nvSpPr>
        <p:spPr>
          <a:xfrm>
            <a:off x="12064960" y="4739640"/>
            <a:ext cx="5308640" cy="2328863"/>
          </a:xfrm>
          <a:prstGeom prst="roundRect">
            <a:avLst>
              <a:gd name="adj" fmla="val 8998"/>
            </a:avLst>
          </a:prstGeom>
          <a:solidFill>
            <a:srgbClr val="26221F"/>
          </a:solidFill>
          <a:ln/>
        </p:spPr>
      </p:sp>
      <p:sp>
        <p:nvSpPr>
          <p:cNvPr id="28" name="Text 22"/>
          <p:cNvSpPr/>
          <p:nvPr/>
        </p:nvSpPr>
        <p:spPr>
          <a:xfrm>
            <a:off x="12369760" y="5025390"/>
            <a:ext cx="5168944" cy="481012"/>
          </a:xfrm>
          <a:prstGeom prst="rect">
            <a:avLst/>
          </a:prstGeom>
          <a:noFill/>
          <a:ln/>
        </p:spPr>
        <p:txBody>
          <a:bodyPr wrap="square" lIns="25400" tIns="25400" rIns="25400" bIns="25400" rtlCol="0" anchor="t">
            <a:normAutofit/>
          </a:bodyPr>
          <a:lstStyle/>
          <a:p>
            <a:pPr marL="0" indent="0" algn="l">
              <a:lnSpc>
                <a:spcPct val="135174"/>
              </a:lnSpc>
              <a:buNone/>
            </a:pPr>
            <a:r>
              <a:rPr lang="en-US" sz="2250" b="1" dirty="0">
                <a:solidFill>
                  <a:srgbClr val="E0A06A"/>
                </a:solidFill>
                <a:latin typeface="Times New Roman" pitchFamily="34" charset="0"/>
                <a:ea typeface="Times New Roman" pitchFamily="34" charset="-122"/>
                <a:cs typeface="Times New Roman" pitchFamily="34" charset="-120"/>
              </a:rPr>
              <a:t>Cấu hình thực nghiệm</a:t>
            </a:r>
            <a:endParaRPr lang="en-US" sz="2250" dirty="0"/>
          </a:p>
        </p:txBody>
      </p:sp>
      <p:sp>
        <p:nvSpPr>
          <p:cNvPr id="29" name="Text 23"/>
          <p:cNvSpPr/>
          <p:nvPr/>
        </p:nvSpPr>
        <p:spPr>
          <a:xfrm>
            <a:off x="12369760" y="5582603"/>
            <a:ext cx="4840011" cy="1238250"/>
          </a:xfrm>
          <a:prstGeom prst="rect">
            <a:avLst/>
          </a:prstGeom>
          <a:noFill/>
          <a:ln/>
        </p:spPr>
        <p:txBody>
          <a:bodyPr wrap="square" lIns="25400" tIns="25400" rIns="25400" bIns="25400" rtlCol="0" anchor="t">
            <a:normAutofit/>
          </a:bodyPr>
          <a:lstStyle/>
          <a:p>
            <a:pPr marL="0" indent="0" algn="l">
              <a:lnSpc>
                <a:spcPct val="122093"/>
              </a:lnSpc>
              <a:buNone/>
            </a:pPr>
            <a:r>
              <a:rPr lang="en-US" sz="2250" dirty="0">
                <a:solidFill>
                  <a:srgbClr val="E6DAC6"/>
                </a:solidFill>
                <a:latin typeface="Times New Roman" pitchFamily="34" charset="0"/>
                <a:ea typeface="Times New Roman" pitchFamily="34" charset="-122"/>
                <a:cs typeface="Times New Roman" pitchFamily="34" charset="-120"/>
              </a:rPr>
              <a:t>Laptop Intel Core i5-1135G7, RAM 8GB, Windows 11 — chạy trên CPU với YOLOv8n.</a:t>
            </a:r>
            <a:endParaRPr lang="en-US" sz="2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6F0"/>
        </a:solidFill>
        <a:effectLst/>
      </p:bgPr>
    </p:bg>
    <p:spTree>
      <p:nvGrpSpPr>
        <p:cNvPr id="1" name=""/>
        <p:cNvGrpSpPr/>
        <p:nvPr/>
      </p:nvGrpSpPr>
      <p:grpSpPr>
        <a:xfrm>
          <a:off x="0" y="0"/>
          <a:ext cx="0" cy="0"/>
          <a:chOff x="0" y="0"/>
          <a:chExt cx="0" cy="0"/>
        </a:xfrm>
      </p:grpSpPr>
      <p:sp>
        <p:nvSpPr>
          <p:cNvPr id="2" name="Text 0"/>
          <p:cNvSpPr/>
          <p:nvPr/>
        </p:nvSpPr>
        <p:spPr>
          <a:xfrm>
            <a:off x="914400" y="800100"/>
            <a:ext cx="18105120" cy="451485"/>
          </a:xfrm>
          <a:prstGeom prst="rect">
            <a:avLst/>
          </a:prstGeom>
          <a:noFill/>
          <a:ln/>
        </p:spPr>
        <p:txBody>
          <a:bodyPr wrap="square" lIns="25400" tIns="25400" rIns="25400" bIns="25400" rtlCol="0" anchor="t">
            <a:normAutofit/>
          </a:bodyPr>
          <a:lstStyle/>
          <a:p>
            <a:pPr marL="0" indent="0" algn="l">
              <a:lnSpc>
                <a:spcPct val="135625"/>
              </a:lnSpc>
              <a:buNone/>
            </a:pPr>
            <a:r>
              <a:rPr lang="en-US" sz="2100" b="1" kern="0" spc="294" dirty="0">
                <a:solidFill>
                  <a:srgbClr val="8A5A2E"/>
                </a:solidFill>
                <a:latin typeface="Times New Roman" pitchFamily="34" charset="0"/>
                <a:ea typeface="Times New Roman" pitchFamily="34" charset="-122"/>
                <a:cs typeface="Times New Roman" pitchFamily="34" charset="-120"/>
              </a:rPr>
              <a:t>CẤU HÌNH</a:t>
            </a:r>
            <a:endParaRPr lang="en-US" sz="2100" dirty="0"/>
          </a:p>
        </p:txBody>
      </p:sp>
      <p:sp>
        <p:nvSpPr>
          <p:cNvPr id="3" name="Text 1"/>
          <p:cNvSpPr/>
          <p:nvPr/>
        </p:nvSpPr>
        <p:spPr>
          <a:xfrm>
            <a:off x="914400" y="1346835"/>
            <a:ext cx="18105120" cy="687705"/>
          </a:xfrm>
          <a:prstGeom prst="rect">
            <a:avLst/>
          </a:prstGeom>
          <a:noFill/>
          <a:ln/>
        </p:spPr>
        <p:txBody>
          <a:bodyPr wrap="square" lIns="25400" tIns="25400" rIns="25400" bIns="25400" rtlCol="0" anchor="t">
            <a:normAutofit/>
          </a:bodyPr>
          <a:lstStyle/>
          <a:p>
            <a:pPr marL="0" indent="0" algn="l">
              <a:lnSpc>
                <a:spcPct val="95787"/>
              </a:lnSpc>
              <a:buNone/>
            </a:pPr>
            <a:r>
              <a:rPr lang="en-US" sz="4650" b="1" kern="0" spc="-70" dirty="0">
                <a:solidFill>
                  <a:srgbClr val="201E1D"/>
                </a:solidFill>
                <a:latin typeface="Times New Roman" pitchFamily="34" charset="0"/>
                <a:ea typeface="Times New Roman" pitchFamily="34" charset="-122"/>
                <a:cs typeface="Times New Roman" pitchFamily="34" charset="-120"/>
              </a:rPr>
              <a:t>Tham số điều chỉnh theo hiện trường</a:t>
            </a:r>
            <a:endParaRPr lang="en-US" sz="4650" dirty="0"/>
          </a:p>
        </p:txBody>
      </p:sp>
      <p:sp>
        <p:nvSpPr>
          <p:cNvPr id="4" name="Shape 2"/>
          <p:cNvSpPr/>
          <p:nvPr/>
        </p:nvSpPr>
        <p:spPr>
          <a:xfrm>
            <a:off x="914400" y="2377440"/>
            <a:ext cx="4727377" cy="771049"/>
          </a:xfrm>
          <a:custGeom>
            <a:avLst/>
            <a:gdLst/>
            <a:ahLst/>
            <a:cxnLst/>
            <a:rect l="l" t="t" r="r" b="b"/>
            <a:pathLst>
              <a:path w="4727377" h="771049">
                <a:moveTo>
                  <a:pt x="152400" y="0"/>
                </a:moveTo>
                <a:lnTo>
                  <a:pt x="4727377" y="0"/>
                </a:lnTo>
                <a:lnTo>
                  <a:pt x="4727377" y="771049"/>
                </a:lnTo>
                <a:lnTo>
                  <a:pt x="152400" y="771049"/>
                </a:lnTo>
                <a:arcTo wR="152400" hR="152400" stAng="5400000" swAng="5400000"/>
                <a:lnTo>
                  <a:pt x="0" y="152400"/>
                </a:lnTo>
                <a:arcTo wR="152400" hR="152400" stAng="10800000" swAng="5400000"/>
                <a:close/>
              </a:path>
            </a:pathLst>
          </a:custGeom>
          <a:solidFill>
            <a:srgbClr val="E5D3B6"/>
          </a:solidFill>
          <a:ln/>
        </p:spPr>
      </p:sp>
      <p:sp>
        <p:nvSpPr>
          <p:cNvPr id="5" name="Text 3"/>
          <p:cNvSpPr/>
          <p:nvPr/>
        </p:nvSpPr>
        <p:spPr>
          <a:xfrm>
            <a:off x="1143000" y="2548890"/>
            <a:ext cx="4411998" cy="466249"/>
          </a:xfrm>
          <a:prstGeom prst="rect">
            <a:avLst/>
          </a:prstGeom>
          <a:noFill/>
          <a:ln/>
        </p:spPr>
        <p:txBody>
          <a:bodyPr wrap="square" lIns="25400" tIns="25400" rIns="25400" bIns="25400" rtlCol="0" anchor="ctr">
            <a:normAutofit/>
          </a:bodyPr>
          <a:lstStyle/>
          <a:p>
            <a:pPr marL="0" indent="0" algn="l">
              <a:lnSpc>
                <a:spcPct val="133780"/>
              </a:lnSpc>
              <a:buNone/>
            </a:pPr>
            <a:r>
              <a:rPr lang="en-US" sz="2175" b="1" kern="0" spc="131" dirty="0">
                <a:solidFill>
                  <a:srgbClr val="4A443F"/>
                </a:solidFill>
                <a:latin typeface="Times New Roman" pitchFamily="34" charset="0"/>
                <a:ea typeface="Times New Roman" pitchFamily="34" charset="-122"/>
                <a:cs typeface="Times New Roman" pitchFamily="34" charset="-120"/>
              </a:rPr>
              <a:t>HẰNG SỐ</a:t>
            </a:r>
            <a:endParaRPr lang="en-US" sz="2175" dirty="0"/>
          </a:p>
        </p:txBody>
      </p:sp>
      <p:sp>
        <p:nvSpPr>
          <p:cNvPr id="6" name="Shape 4"/>
          <p:cNvSpPr/>
          <p:nvPr/>
        </p:nvSpPr>
        <p:spPr>
          <a:xfrm>
            <a:off x="5641777" y="2377440"/>
            <a:ext cx="2267784" cy="771049"/>
          </a:xfrm>
          <a:prstGeom prst="rect">
            <a:avLst/>
          </a:prstGeom>
          <a:solidFill>
            <a:srgbClr val="E5D3B6"/>
          </a:solidFill>
          <a:ln/>
        </p:spPr>
      </p:sp>
      <p:sp>
        <p:nvSpPr>
          <p:cNvPr id="7" name="Text 5"/>
          <p:cNvSpPr/>
          <p:nvPr/>
        </p:nvSpPr>
        <p:spPr>
          <a:xfrm>
            <a:off x="5870377" y="2548890"/>
            <a:ext cx="1886784" cy="466249"/>
          </a:xfrm>
          <a:prstGeom prst="rect">
            <a:avLst/>
          </a:prstGeom>
          <a:noFill/>
          <a:ln/>
        </p:spPr>
        <p:txBody>
          <a:bodyPr wrap="square" lIns="25400" tIns="25400" rIns="25400" bIns="25400" rtlCol="0" anchor="ctr">
            <a:normAutofit/>
          </a:bodyPr>
          <a:lstStyle/>
          <a:p>
            <a:pPr marL="0" indent="0" algn="l">
              <a:lnSpc>
                <a:spcPct val="133780"/>
              </a:lnSpc>
              <a:buNone/>
            </a:pPr>
            <a:r>
              <a:rPr lang="en-US" sz="2175" b="1" kern="0" spc="131" dirty="0">
                <a:solidFill>
                  <a:srgbClr val="4A443F"/>
                </a:solidFill>
                <a:latin typeface="Times New Roman" pitchFamily="34" charset="0"/>
                <a:ea typeface="Times New Roman" pitchFamily="34" charset="-122"/>
                <a:cs typeface="Times New Roman" pitchFamily="34" charset="-120"/>
              </a:rPr>
              <a:t>GIÁ TRỊ</a:t>
            </a:r>
            <a:endParaRPr lang="en-US" sz="2175" dirty="0"/>
          </a:p>
        </p:txBody>
      </p:sp>
      <p:sp>
        <p:nvSpPr>
          <p:cNvPr id="8" name="Shape 6"/>
          <p:cNvSpPr/>
          <p:nvPr/>
        </p:nvSpPr>
        <p:spPr>
          <a:xfrm>
            <a:off x="7909560" y="2377440"/>
            <a:ext cx="9464040" cy="771049"/>
          </a:xfrm>
          <a:custGeom>
            <a:avLst/>
            <a:gdLst/>
            <a:ahLst/>
            <a:cxnLst/>
            <a:rect l="l" t="t" r="r" b="b"/>
            <a:pathLst>
              <a:path w="9464040" h="771049">
                <a:moveTo>
                  <a:pt x="0" y="0"/>
                </a:moveTo>
                <a:lnTo>
                  <a:pt x="9311640" y="0"/>
                </a:lnTo>
                <a:arcTo wR="152400" hR="152400" stAng="16200000" swAng="5400000"/>
                <a:lnTo>
                  <a:pt x="9464040" y="618649"/>
                </a:lnTo>
                <a:arcTo wR="152400" hR="152400" stAng="0" swAng="5400000"/>
                <a:lnTo>
                  <a:pt x="0" y="771049"/>
                </a:lnTo>
                <a:lnTo>
                  <a:pt x="0" y="0"/>
                </a:lnTo>
                <a:close/>
              </a:path>
            </a:pathLst>
          </a:custGeom>
          <a:solidFill>
            <a:srgbClr val="E5D3B6"/>
          </a:solidFill>
          <a:ln/>
        </p:spPr>
      </p:sp>
      <p:sp>
        <p:nvSpPr>
          <p:cNvPr id="9" name="Text 7"/>
          <p:cNvSpPr/>
          <p:nvPr/>
        </p:nvSpPr>
        <p:spPr>
          <a:xfrm>
            <a:off x="8138160" y="2548890"/>
            <a:ext cx="9290762" cy="466249"/>
          </a:xfrm>
          <a:prstGeom prst="rect">
            <a:avLst/>
          </a:prstGeom>
          <a:noFill/>
          <a:ln/>
        </p:spPr>
        <p:txBody>
          <a:bodyPr wrap="square" lIns="25400" tIns="25400" rIns="25400" bIns="25400" rtlCol="0" anchor="ctr">
            <a:normAutofit/>
          </a:bodyPr>
          <a:lstStyle/>
          <a:p>
            <a:pPr marL="0" indent="0" algn="l">
              <a:lnSpc>
                <a:spcPct val="133780"/>
              </a:lnSpc>
              <a:buNone/>
            </a:pPr>
            <a:r>
              <a:rPr lang="en-US" sz="2175" b="1" kern="0" spc="131" dirty="0">
                <a:solidFill>
                  <a:srgbClr val="4A443F"/>
                </a:solidFill>
                <a:latin typeface="Times New Roman" pitchFamily="34" charset="0"/>
                <a:ea typeface="Times New Roman" pitchFamily="34" charset="-122"/>
                <a:cs typeface="Times New Roman" pitchFamily="34" charset="-120"/>
              </a:rPr>
              <a:t>VAI TRÒ</a:t>
            </a:r>
            <a:endParaRPr lang="en-US" sz="2175" dirty="0"/>
          </a:p>
        </p:txBody>
      </p:sp>
      <p:sp>
        <p:nvSpPr>
          <p:cNvPr id="10" name="Shape 8"/>
          <p:cNvSpPr/>
          <p:nvPr/>
        </p:nvSpPr>
        <p:spPr>
          <a:xfrm>
            <a:off x="914400" y="3979545"/>
            <a:ext cx="4727377" cy="15240"/>
          </a:xfrm>
          <a:prstGeom prst="rect">
            <a:avLst/>
          </a:prstGeom>
          <a:solidFill>
            <a:srgbClr val="E5D3B6"/>
          </a:solidFill>
          <a:ln/>
        </p:spPr>
      </p:sp>
      <p:sp>
        <p:nvSpPr>
          <p:cNvPr id="11" name="Text 9"/>
          <p:cNvSpPr/>
          <p:nvPr/>
        </p:nvSpPr>
        <p:spPr>
          <a:xfrm>
            <a:off x="1143000" y="3338989"/>
            <a:ext cx="4411998" cy="488156"/>
          </a:xfrm>
          <a:prstGeom prst="rect">
            <a:avLst/>
          </a:prstGeom>
          <a:noFill/>
          <a:ln/>
        </p:spPr>
        <p:txBody>
          <a:bodyPr wrap="square" lIns="25400" tIns="25400" rIns="25400" bIns="25400" rtlCol="0" anchor="ctr">
            <a:normAutofit/>
          </a:bodyPr>
          <a:lstStyle/>
          <a:p>
            <a:pPr marL="0" indent="0" algn="l">
              <a:lnSpc>
                <a:spcPct val="137043"/>
              </a:lnSpc>
              <a:buNone/>
            </a:pPr>
            <a:r>
              <a:rPr lang="en-US" sz="2175" dirty="0">
                <a:solidFill>
                  <a:srgbClr val="8A5A2E"/>
                </a:solidFill>
                <a:latin typeface="Courier New" pitchFamily="34" charset="0"/>
                <a:ea typeface="Courier New" pitchFamily="34" charset="-122"/>
                <a:cs typeface="Courier New" pitchFamily="34" charset="-120"/>
              </a:rPr>
              <a:t>LINE_RATIO</a:t>
            </a:r>
            <a:endParaRPr lang="en-US" sz="2175" dirty="0"/>
          </a:p>
        </p:txBody>
      </p:sp>
      <p:sp>
        <p:nvSpPr>
          <p:cNvPr id="12" name="Shape 10"/>
          <p:cNvSpPr/>
          <p:nvPr/>
        </p:nvSpPr>
        <p:spPr>
          <a:xfrm>
            <a:off x="5641777" y="3979545"/>
            <a:ext cx="2267784" cy="15240"/>
          </a:xfrm>
          <a:prstGeom prst="rect">
            <a:avLst/>
          </a:prstGeom>
          <a:solidFill>
            <a:srgbClr val="E5D3B6"/>
          </a:solidFill>
          <a:ln/>
        </p:spPr>
      </p:sp>
      <p:sp>
        <p:nvSpPr>
          <p:cNvPr id="13" name="Text 11"/>
          <p:cNvSpPr/>
          <p:nvPr/>
        </p:nvSpPr>
        <p:spPr>
          <a:xfrm>
            <a:off x="5870377" y="3338989"/>
            <a:ext cx="1886784" cy="488156"/>
          </a:xfrm>
          <a:prstGeom prst="rect">
            <a:avLst/>
          </a:prstGeom>
          <a:noFill/>
          <a:ln/>
        </p:spPr>
        <p:txBody>
          <a:bodyPr wrap="square" lIns="25400" tIns="25400" rIns="25400" bIns="25400" rtlCol="0" anchor="ctr">
            <a:normAutofit/>
          </a:bodyPr>
          <a:lstStyle/>
          <a:p>
            <a:pPr marL="0" indent="0" algn="l">
              <a:lnSpc>
                <a:spcPct val="133472"/>
              </a:lnSpc>
              <a:buNone/>
            </a:pPr>
            <a:r>
              <a:rPr lang="en-US" sz="2325" b="1" dirty="0">
                <a:solidFill>
                  <a:srgbClr val="201E1D"/>
                </a:solidFill>
                <a:latin typeface="Times New Roman" pitchFamily="34" charset="0"/>
                <a:ea typeface="Times New Roman" pitchFamily="34" charset="-122"/>
                <a:cs typeface="Times New Roman" pitchFamily="34" charset="-120"/>
              </a:rPr>
              <a:t>0.5</a:t>
            </a:r>
            <a:endParaRPr lang="en-US" sz="2325" dirty="0"/>
          </a:p>
        </p:txBody>
      </p:sp>
      <p:sp>
        <p:nvSpPr>
          <p:cNvPr id="14" name="Shape 12"/>
          <p:cNvSpPr/>
          <p:nvPr/>
        </p:nvSpPr>
        <p:spPr>
          <a:xfrm>
            <a:off x="7909560" y="3979545"/>
            <a:ext cx="9464040" cy="15240"/>
          </a:xfrm>
          <a:prstGeom prst="rect">
            <a:avLst/>
          </a:prstGeom>
          <a:solidFill>
            <a:srgbClr val="E5D3B6"/>
          </a:solidFill>
          <a:ln/>
        </p:spPr>
      </p:sp>
      <p:sp>
        <p:nvSpPr>
          <p:cNvPr id="15" name="Text 13"/>
          <p:cNvSpPr/>
          <p:nvPr/>
        </p:nvSpPr>
        <p:spPr>
          <a:xfrm>
            <a:off x="8138160" y="3338989"/>
            <a:ext cx="9290762" cy="488156"/>
          </a:xfrm>
          <a:prstGeom prst="rect">
            <a:avLst/>
          </a:prstGeom>
          <a:noFill/>
          <a:ln/>
        </p:spPr>
        <p:txBody>
          <a:bodyPr wrap="square" lIns="25400" tIns="25400" rIns="25400" bIns="25400" rtlCol="0" anchor="ctr">
            <a:normAutofit/>
          </a:bodyPr>
          <a:lstStyle/>
          <a:p>
            <a:pPr marL="0" indent="0" algn="l">
              <a:lnSpc>
                <a:spcPct val="133472"/>
              </a:lnSpc>
              <a:buNone/>
            </a:pPr>
            <a:r>
              <a:rPr lang="en-US" sz="2325" dirty="0">
                <a:solidFill>
                  <a:srgbClr val="4A443F"/>
                </a:solidFill>
                <a:latin typeface="Times New Roman" pitchFamily="34" charset="0"/>
                <a:ea typeface="Times New Roman" pitchFamily="34" charset="-122"/>
                <a:cs typeface="Times New Roman" pitchFamily="34" charset="-120"/>
              </a:rPr>
              <a:t>Vạch đếm nằm ở 50% chiều cao khung hình</a:t>
            </a:r>
            <a:endParaRPr lang="en-US" sz="2325" dirty="0"/>
          </a:p>
        </p:txBody>
      </p:sp>
      <p:sp>
        <p:nvSpPr>
          <p:cNvPr id="16" name="Shape 14"/>
          <p:cNvSpPr/>
          <p:nvPr/>
        </p:nvSpPr>
        <p:spPr>
          <a:xfrm>
            <a:off x="914400" y="4833461"/>
            <a:ext cx="4727377" cy="15240"/>
          </a:xfrm>
          <a:prstGeom prst="rect">
            <a:avLst/>
          </a:prstGeom>
          <a:solidFill>
            <a:srgbClr val="E5D3B6"/>
          </a:solidFill>
          <a:ln/>
        </p:spPr>
      </p:sp>
      <p:sp>
        <p:nvSpPr>
          <p:cNvPr id="17" name="Text 15"/>
          <p:cNvSpPr/>
          <p:nvPr/>
        </p:nvSpPr>
        <p:spPr>
          <a:xfrm>
            <a:off x="1143000" y="4185285"/>
            <a:ext cx="4411998" cy="495776"/>
          </a:xfrm>
          <a:prstGeom prst="rect">
            <a:avLst/>
          </a:prstGeom>
          <a:noFill/>
          <a:ln/>
        </p:spPr>
        <p:txBody>
          <a:bodyPr wrap="square" lIns="25400" tIns="25400" rIns="25400" bIns="25400" rtlCol="0" anchor="ctr">
            <a:normAutofit/>
          </a:bodyPr>
          <a:lstStyle/>
          <a:p>
            <a:pPr marL="0" indent="0" algn="l">
              <a:lnSpc>
                <a:spcPct val="137043"/>
              </a:lnSpc>
              <a:buNone/>
            </a:pPr>
            <a:r>
              <a:rPr lang="en-US" sz="2175" dirty="0">
                <a:solidFill>
                  <a:srgbClr val="8A5A2E"/>
                </a:solidFill>
                <a:latin typeface="Courier New" pitchFamily="34" charset="0"/>
                <a:ea typeface="Courier New" pitchFamily="34" charset="-122"/>
                <a:cs typeface="Courier New" pitchFamily="34" charset="-120"/>
              </a:rPr>
              <a:t>CONF_THRESHOLD</a:t>
            </a:r>
            <a:endParaRPr lang="en-US" sz="2175" dirty="0"/>
          </a:p>
        </p:txBody>
      </p:sp>
      <p:sp>
        <p:nvSpPr>
          <p:cNvPr id="18" name="Shape 16"/>
          <p:cNvSpPr/>
          <p:nvPr/>
        </p:nvSpPr>
        <p:spPr>
          <a:xfrm>
            <a:off x="5641777" y="4833461"/>
            <a:ext cx="2267784" cy="15240"/>
          </a:xfrm>
          <a:prstGeom prst="rect">
            <a:avLst/>
          </a:prstGeom>
          <a:solidFill>
            <a:srgbClr val="E5D3B6"/>
          </a:solidFill>
          <a:ln/>
        </p:spPr>
      </p:sp>
      <p:sp>
        <p:nvSpPr>
          <p:cNvPr id="19" name="Text 17"/>
          <p:cNvSpPr/>
          <p:nvPr/>
        </p:nvSpPr>
        <p:spPr>
          <a:xfrm>
            <a:off x="5870377" y="4185285"/>
            <a:ext cx="1886784" cy="495776"/>
          </a:xfrm>
          <a:prstGeom prst="rect">
            <a:avLst/>
          </a:prstGeom>
          <a:noFill/>
          <a:ln/>
        </p:spPr>
        <p:txBody>
          <a:bodyPr wrap="square" lIns="25400" tIns="25400" rIns="25400" bIns="25400" rtlCol="0" anchor="ctr">
            <a:normAutofit/>
          </a:bodyPr>
          <a:lstStyle/>
          <a:p>
            <a:pPr marL="0" indent="0" algn="l">
              <a:lnSpc>
                <a:spcPct val="133472"/>
              </a:lnSpc>
              <a:buNone/>
            </a:pPr>
            <a:r>
              <a:rPr lang="en-US" sz="2325" b="1" dirty="0">
                <a:solidFill>
                  <a:srgbClr val="201E1D"/>
                </a:solidFill>
                <a:latin typeface="Times New Roman" pitchFamily="34" charset="0"/>
                <a:ea typeface="Times New Roman" pitchFamily="34" charset="-122"/>
                <a:cs typeface="Times New Roman" pitchFamily="34" charset="-120"/>
              </a:rPr>
              <a:t>0.5</a:t>
            </a:r>
            <a:endParaRPr lang="en-US" sz="2325" dirty="0"/>
          </a:p>
        </p:txBody>
      </p:sp>
      <p:sp>
        <p:nvSpPr>
          <p:cNvPr id="20" name="Shape 18"/>
          <p:cNvSpPr/>
          <p:nvPr/>
        </p:nvSpPr>
        <p:spPr>
          <a:xfrm>
            <a:off x="7909560" y="4833461"/>
            <a:ext cx="9464040" cy="15240"/>
          </a:xfrm>
          <a:prstGeom prst="rect">
            <a:avLst/>
          </a:prstGeom>
          <a:solidFill>
            <a:srgbClr val="E5D3B6"/>
          </a:solidFill>
          <a:ln/>
        </p:spPr>
      </p:sp>
      <p:sp>
        <p:nvSpPr>
          <p:cNvPr id="21" name="Text 19"/>
          <p:cNvSpPr/>
          <p:nvPr/>
        </p:nvSpPr>
        <p:spPr>
          <a:xfrm>
            <a:off x="8138160" y="4185285"/>
            <a:ext cx="9290762" cy="495776"/>
          </a:xfrm>
          <a:prstGeom prst="rect">
            <a:avLst/>
          </a:prstGeom>
          <a:noFill/>
          <a:ln/>
        </p:spPr>
        <p:txBody>
          <a:bodyPr wrap="square" lIns="25400" tIns="25400" rIns="25400" bIns="25400" rtlCol="0" anchor="ctr">
            <a:normAutofit/>
          </a:bodyPr>
          <a:lstStyle/>
          <a:p>
            <a:pPr marL="0" indent="0" algn="l">
              <a:lnSpc>
                <a:spcPct val="133472"/>
              </a:lnSpc>
              <a:buNone/>
            </a:pPr>
            <a:r>
              <a:rPr lang="en-US" sz="2325" dirty="0">
                <a:solidFill>
                  <a:srgbClr val="4A443F"/>
                </a:solidFill>
                <a:latin typeface="Times New Roman" pitchFamily="34" charset="0"/>
                <a:ea typeface="Times New Roman" pitchFamily="34" charset="-122"/>
                <a:cs typeface="Times New Roman" pitchFamily="34" charset="-120"/>
              </a:rPr>
              <a:t>Nâng từ 0.4 lên 0.5 để bớt phát hiện nhầm</a:t>
            </a:r>
            <a:endParaRPr lang="en-US" sz="2325" dirty="0"/>
          </a:p>
        </p:txBody>
      </p:sp>
      <p:sp>
        <p:nvSpPr>
          <p:cNvPr id="22" name="Shape 20"/>
          <p:cNvSpPr/>
          <p:nvPr/>
        </p:nvSpPr>
        <p:spPr>
          <a:xfrm>
            <a:off x="914400" y="5687378"/>
            <a:ext cx="4727377" cy="15240"/>
          </a:xfrm>
          <a:prstGeom prst="rect">
            <a:avLst/>
          </a:prstGeom>
          <a:solidFill>
            <a:srgbClr val="E5D3B6"/>
          </a:solidFill>
          <a:ln/>
        </p:spPr>
      </p:sp>
      <p:sp>
        <p:nvSpPr>
          <p:cNvPr id="23" name="Text 21"/>
          <p:cNvSpPr/>
          <p:nvPr/>
        </p:nvSpPr>
        <p:spPr>
          <a:xfrm>
            <a:off x="1143000" y="5039201"/>
            <a:ext cx="4411998" cy="495776"/>
          </a:xfrm>
          <a:prstGeom prst="rect">
            <a:avLst/>
          </a:prstGeom>
          <a:noFill/>
          <a:ln/>
        </p:spPr>
        <p:txBody>
          <a:bodyPr wrap="square" lIns="25400" tIns="25400" rIns="25400" bIns="25400" rtlCol="0" anchor="ctr">
            <a:normAutofit/>
          </a:bodyPr>
          <a:lstStyle/>
          <a:p>
            <a:pPr marL="0" indent="0" algn="l">
              <a:lnSpc>
                <a:spcPct val="137043"/>
              </a:lnSpc>
              <a:buNone/>
            </a:pPr>
            <a:r>
              <a:rPr lang="en-US" sz="2175" dirty="0">
                <a:solidFill>
                  <a:srgbClr val="8A5A2E"/>
                </a:solidFill>
                <a:latin typeface="Courier New" pitchFamily="34" charset="0"/>
                <a:ea typeface="Courier New" pitchFamily="34" charset="-122"/>
                <a:cs typeface="Courier New" pitchFamily="34" charset="-120"/>
              </a:rPr>
              <a:t>MIN_BOX_AREA</a:t>
            </a:r>
            <a:endParaRPr lang="en-US" sz="2175" dirty="0"/>
          </a:p>
        </p:txBody>
      </p:sp>
      <p:sp>
        <p:nvSpPr>
          <p:cNvPr id="24" name="Shape 22"/>
          <p:cNvSpPr/>
          <p:nvPr/>
        </p:nvSpPr>
        <p:spPr>
          <a:xfrm>
            <a:off x="5641777" y="5687378"/>
            <a:ext cx="2267784" cy="15240"/>
          </a:xfrm>
          <a:prstGeom prst="rect">
            <a:avLst/>
          </a:prstGeom>
          <a:solidFill>
            <a:srgbClr val="E5D3B6"/>
          </a:solidFill>
          <a:ln/>
        </p:spPr>
      </p:sp>
      <p:sp>
        <p:nvSpPr>
          <p:cNvPr id="25" name="Text 23"/>
          <p:cNvSpPr/>
          <p:nvPr/>
        </p:nvSpPr>
        <p:spPr>
          <a:xfrm>
            <a:off x="5870377" y="5039201"/>
            <a:ext cx="1886784" cy="495776"/>
          </a:xfrm>
          <a:prstGeom prst="rect">
            <a:avLst/>
          </a:prstGeom>
          <a:noFill/>
          <a:ln/>
        </p:spPr>
        <p:txBody>
          <a:bodyPr wrap="square" lIns="25400" tIns="25400" rIns="25400" bIns="25400" rtlCol="0" anchor="ctr">
            <a:normAutofit/>
          </a:bodyPr>
          <a:lstStyle/>
          <a:p>
            <a:pPr marL="0" indent="0" algn="l">
              <a:lnSpc>
                <a:spcPct val="133472"/>
              </a:lnSpc>
              <a:buNone/>
            </a:pPr>
            <a:r>
              <a:rPr lang="en-US" sz="2325" b="1" dirty="0">
                <a:solidFill>
                  <a:srgbClr val="201E1D"/>
                </a:solidFill>
                <a:latin typeface="Times New Roman" pitchFamily="34" charset="0"/>
                <a:ea typeface="Times New Roman" pitchFamily="34" charset="-122"/>
                <a:cs typeface="Times New Roman" pitchFamily="34" charset="-120"/>
              </a:rPr>
              <a:t>4000 px²</a:t>
            </a:r>
            <a:endParaRPr lang="en-US" sz="2325" dirty="0"/>
          </a:p>
        </p:txBody>
      </p:sp>
      <p:sp>
        <p:nvSpPr>
          <p:cNvPr id="26" name="Shape 24"/>
          <p:cNvSpPr/>
          <p:nvPr/>
        </p:nvSpPr>
        <p:spPr>
          <a:xfrm>
            <a:off x="7909560" y="5687378"/>
            <a:ext cx="9464040" cy="15240"/>
          </a:xfrm>
          <a:prstGeom prst="rect">
            <a:avLst/>
          </a:prstGeom>
          <a:solidFill>
            <a:srgbClr val="E5D3B6"/>
          </a:solidFill>
          <a:ln/>
        </p:spPr>
      </p:sp>
      <p:sp>
        <p:nvSpPr>
          <p:cNvPr id="27" name="Text 25"/>
          <p:cNvSpPr/>
          <p:nvPr/>
        </p:nvSpPr>
        <p:spPr>
          <a:xfrm>
            <a:off x="8138160" y="5039201"/>
            <a:ext cx="9290762" cy="495776"/>
          </a:xfrm>
          <a:prstGeom prst="rect">
            <a:avLst/>
          </a:prstGeom>
          <a:noFill/>
          <a:ln/>
        </p:spPr>
        <p:txBody>
          <a:bodyPr wrap="square" lIns="25400" tIns="25400" rIns="25400" bIns="25400" rtlCol="0" anchor="ctr">
            <a:normAutofit/>
          </a:bodyPr>
          <a:lstStyle/>
          <a:p>
            <a:pPr marL="0" indent="0" algn="l">
              <a:lnSpc>
                <a:spcPct val="133472"/>
              </a:lnSpc>
              <a:buNone/>
            </a:pPr>
            <a:r>
              <a:rPr lang="en-US" sz="2325" dirty="0">
                <a:solidFill>
                  <a:srgbClr val="4A443F"/>
                </a:solidFill>
                <a:latin typeface="Times New Roman" pitchFamily="34" charset="0"/>
                <a:ea typeface="Times New Roman" pitchFamily="34" charset="-122"/>
                <a:cs typeface="Times New Roman" pitchFamily="34" charset="-120"/>
              </a:rPr>
              <a:t>Loại khung bao quá nhỏ như bàn tay, cánh tay</a:t>
            </a:r>
            <a:endParaRPr lang="en-US" sz="2325" dirty="0"/>
          </a:p>
        </p:txBody>
      </p:sp>
      <p:sp>
        <p:nvSpPr>
          <p:cNvPr id="28" name="Shape 26"/>
          <p:cNvSpPr/>
          <p:nvPr/>
        </p:nvSpPr>
        <p:spPr>
          <a:xfrm>
            <a:off x="914400" y="6541294"/>
            <a:ext cx="4727377" cy="15240"/>
          </a:xfrm>
          <a:prstGeom prst="rect">
            <a:avLst/>
          </a:prstGeom>
          <a:solidFill>
            <a:srgbClr val="E5D3B6"/>
          </a:solidFill>
          <a:ln/>
        </p:spPr>
      </p:sp>
      <p:sp>
        <p:nvSpPr>
          <p:cNvPr id="29" name="Text 27"/>
          <p:cNvSpPr/>
          <p:nvPr/>
        </p:nvSpPr>
        <p:spPr>
          <a:xfrm>
            <a:off x="1143000" y="5893118"/>
            <a:ext cx="4411998" cy="495776"/>
          </a:xfrm>
          <a:prstGeom prst="rect">
            <a:avLst/>
          </a:prstGeom>
          <a:noFill/>
          <a:ln/>
        </p:spPr>
        <p:txBody>
          <a:bodyPr wrap="square" lIns="25400" tIns="25400" rIns="25400" bIns="25400" rtlCol="0" anchor="ctr">
            <a:normAutofit/>
          </a:bodyPr>
          <a:lstStyle/>
          <a:p>
            <a:pPr marL="0" indent="0" algn="l">
              <a:lnSpc>
                <a:spcPct val="137043"/>
              </a:lnSpc>
              <a:buNone/>
            </a:pPr>
            <a:r>
              <a:rPr lang="en-US" sz="2175" dirty="0">
                <a:solidFill>
                  <a:srgbClr val="8A5A2E"/>
                </a:solidFill>
                <a:latin typeface="Courier New" pitchFamily="34" charset="0"/>
                <a:ea typeface="Courier New" pitchFamily="34" charset="-122"/>
                <a:cs typeface="Courier New" pitchFamily="34" charset="-120"/>
              </a:rPr>
              <a:t>IOU_THRESHOLD</a:t>
            </a:r>
            <a:endParaRPr lang="en-US" sz="2175" dirty="0"/>
          </a:p>
        </p:txBody>
      </p:sp>
      <p:sp>
        <p:nvSpPr>
          <p:cNvPr id="30" name="Shape 28"/>
          <p:cNvSpPr/>
          <p:nvPr/>
        </p:nvSpPr>
        <p:spPr>
          <a:xfrm>
            <a:off x="5641777" y="6541294"/>
            <a:ext cx="2267784" cy="15240"/>
          </a:xfrm>
          <a:prstGeom prst="rect">
            <a:avLst/>
          </a:prstGeom>
          <a:solidFill>
            <a:srgbClr val="E5D3B6"/>
          </a:solidFill>
          <a:ln/>
        </p:spPr>
      </p:sp>
      <p:sp>
        <p:nvSpPr>
          <p:cNvPr id="31" name="Text 29"/>
          <p:cNvSpPr/>
          <p:nvPr/>
        </p:nvSpPr>
        <p:spPr>
          <a:xfrm>
            <a:off x="5870377" y="5893118"/>
            <a:ext cx="1886784" cy="495776"/>
          </a:xfrm>
          <a:prstGeom prst="rect">
            <a:avLst/>
          </a:prstGeom>
          <a:noFill/>
          <a:ln/>
        </p:spPr>
        <p:txBody>
          <a:bodyPr wrap="square" lIns="25400" tIns="25400" rIns="25400" bIns="25400" rtlCol="0" anchor="ctr">
            <a:normAutofit/>
          </a:bodyPr>
          <a:lstStyle/>
          <a:p>
            <a:pPr marL="0" indent="0" algn="l">
              <a:lnSpc>
                <a:spcPct val="133472"/>
              </a:lnSpc>
              <a:buNone/>
            </a:pPr>
            <a:r>
              <a:rPr lang="en-US" sz="2325" b="1" dirty="0">
                <a:solidFill>
                  <a:srgbClr val="201E1D"/>
                </a:solidFill>
                <a:latin typeface="Times New Roman" pitchFamily="34" charset="0"/>
                <a:ea typeface="Times New Roman" pitchFamily="34" charset="-122"/>
                <a:cs typeface="Times New Roman" pitchFamily="34" charset="-120"/>
              </a:rPr>
              <a:t>0.4</a:t>
            </a:r>
            <a:endParaRPr lang="en-US" sz="2325" dirty="0"/>
          </a:p>
        </p:txBody>
      </p:sp>
      <p:sp>
        <p:nvSpPr>
          <p:cNvPr id="32" name="Shape 30"/>
          <p:cNvSpPr/>
          <p:nvPr/>
        </p:nvSpPr>
        <p:spPr>
          <a:xfrm>
            <a:off x="7909560" y="6541294"/>
            <a:ext cx="9464040" cy="15240"/>
          </a:xfrm>
          <a:prstGeom prst="rect">
            <a:avLst/>
          </a:prstGeom>
          <a:solidFill>
            <a:srgbClr val="E5D3B6"/>
          </a:solidFill>
          <a:ln/>
        </p:spPr>
      </p:sp>
      <p:sp>
        <p:nvSpPr>
          <p:cNvPr id="33" name="Text 31"/>
          <p:cNvSpPr/>
          <p:nvPr/>
        </p:nvSpPr>
        <p:spPr>
          <a:xfrm>
            <a:off x="8138160" y="5893118"/>
            <a:ext cx="9290762" cy="495776"/>
          </a:xfrm>
          <a:prstGeom prst="rect">
            <a:avLst/>
          </a:prstGeom>
          <a:noFill/>
          <a:ln/>
        </p:spPr>
        <p:txBody>
          <a:bodyPr wrap="square" lIns="25400" tIns="25400" rIns="25400" bIns="25400" rtlCol="0" anchor="ctr">
            <a:normAutofit/>
          </a:bodyPr>
          <a:lstStyle/>
          <a:p>
            <a:pPr marL="0" indent="0" algn="l">
              <a:lnSpc>
                <a:spcPct val="133472"/>
              </a:lnSpc>
              <a:buNone/>
            </a:pPr>
            <a:r>
              <a:rPr lang="en-US" sz="2325" dirty="0">
                <a:solidFill>
                  <a:srgbClr val="4A443F"/>
                </a:solidFill>
                <a:latin typeface="Times New Roman" pitchFamily="34" charset="0"/>
                <a:ea typeface="Times New Roman" pitchFamily="34" charset="-122"/>
                <a:cs typeface="Times New Roman" pitchFamily="34" charset="-120"/>
              </a:rPr>
              <a:t>Hai khung chồng nhau quá mức thì gộp làm một</a:t>
            </a:r>
            <a:endParaRPr lang="en-US" sz="2325" dirty="0"/>
          </a:p>
        </p:txBody>
      </p:sp>
      <p:sp>
        <p:nvSpPr>
          <p:cNvPr id="34" name="Shape 32"/>
          <p:cNvSpPr/>
          <p:nvPr/>
        </p:nvSpPr>
        <p:spPr>
          <a:xfrm>
            <a:off x="914400" y="7395210"/>
            <a:ext cx="4727377" cy="15240"/>
          </a:xfrm>
          <a:prstGeom prst="rect">
            <a:avLst/>
          </a:prstGeom>
          <a:solidFill>
            <a:srgbClr val="E5D3B6"/>
          </a:solidFill>
          <a:ln/>
        </p:spPr>
      </p:sp>
      <p:sp>
        <p:nvSpPr>
          <p:cNvPr id="35" name="Text 33"/>
          <p:cNvSpPr/>
          <p:nvPr/>
        </p:nvSpPr>
        <p:spPr>
          <a:xfrm>
            <a:off x="1143000" y="6747034"/>
            <a:ext cx="4411998" cy="495776"/>
          </a:xfrm>
          <a:prstGeom prst="rect">
            <a:avLst/>
          </a:prstGeom>
          <a:noFill/>
          <a:ln/>
        </p:spPr>
        <p:txBody>
          <a:bodyPr wrap="square" lIns="25400" tIns="25400" rIns="25400" bIns="25400" rtlCol="0" anchor="ctr">
            <a:normAutofit/>
          </a:bodyPr>
          <a:lstStyle/>
          <a:p>
            <a:pPr marL="0" indent="0" algn="l">
              <a:lnSpc>
                <a:spcPct val="137043"/>
              </a:lnSpc>
              <a:buNone/>
            </a:pPr>
            <a:r>
              <a:rPr lang="en-US" sz="2175" dirty="0">
                <a:solidFill>
                  <a:srgbClr val="4C5A35"/>
                </a:solidFill>
                <a:latin typeface="Courier New" pitchFamily="34" charset="0"/>
                <a:ea typeface="Courier New" pitchFamily="34" charset="-122"/>
                <a:cs typeface="Courier New" pitchFamily="34" charset="-120"/>
              </a:rPr>
              <a:t>REID_WINDOW</a:t>
            </a:r>
            <a:endParaRPr lang="en-US" sz="2175" dirty="0"/>
          </a:p>
        </p:txBody>
      </p:sp>
      <p:sp>
        <p:nvSpPr>
          <p:cNvPr id="36" name="Shape 34"/>
          <p:cNvSpPr/>
          <p:nvPr/>
        </p:nvSpPr>
        <p:spPr>
          <a:xfrm>
            <a:off x="5641777" y="7395210"/>
            <a:ext cx="2267784" cy="15240"/>
          </a:xfrm>
          <a:prstGeom prst="rect">
            <a:avLst/>
          </a:prstGeom>
          <a:solidFill>
            <a:srgbClr val="E5D3B6"/>
          </a:solidFill>
          <a:ln/>
        </p:spPr>
      </p:sp>
      <p:sp>
        <p:nvSpPr>
          <p:cNvPr id="37" name="Text 35"/>
          <p:cNvSpPr/>
          <p:nvPr/>
        </p:nvSpPr>
        <p:spPr>
          <a:xfrm>
            <a:off x="5870377" y="6747034"/>
            <a:ext cx="1886784" cy="495776"/>
          </a:xfrm>
          <a:prstGeom prst="rect">
            <a:avLst/>
          </a:prstGeom>
          <a:noFill/>
          <a:ln/>
        </p:spPr>
        <p:txBody>
          <a:bodyPr wrap="square" lIns="25400" tIns="25400" rIns="25400" bIns="25400" rtlCol="0" anchor="ctr">
            <a:normAutofit/>
          </a:bodyPr>
          <a:lstStyle/>
          <a:p>
            <a:pPr marL="0" indent="0" algn="l">
              <a:lnSpc>
                <a:spcPct val="133472"/>
              </a:lnSpc>
              <a:buNone/>
            </a:pPr>
            <a:r>
              <a:rPr lang="en-US" sz="2300" b="1" dirty="0">
                <a:solidFill>
                  <a:srgbClr val="201E1D"/>
                </a:solidFill>
                <a:latin typeface="Times New Roman"/>
                <a:ea typeface="Times New Roman" pitchFamily="34" charset="-122"/>
                <a:cs typeface="Times New Roman"/>
              </a:rPr>
              <a:t>600 </a:t>
            </a:r>
            <a:r>
              <a:rPr lang="en-US" sz="2300" b="1" dirty="0" err="1">
                <a:solidFill>
                  <a:srgbClr val="201E1D"/>
                </a:solidFill>
                <a:latin typeface="Times New Roman"/>
                <a:ea typeface="Times New Roman" pitchFamily="34" charset="-122"/>
                <a:cs typeface="Times New Roman"/>
              </a:rPr>
              <a:t>khung</a:t>
            </a:r>
            <a:endParaRPr lang="en-US" sz="2300" dirty="0" err="1">
              <a:latin typeface="Times New Roman"/>
              <a:cs typeface="Times New Roman"/>
            </a:endParaRPr>
          </a:p>
        </p:txBody>
      </p:sp>
      <p:sp>
        <p:nvSpPr>
          <p:cNvPr id="38" name="Shape 36"/>
          <p:cNvSpPr/>
          <p:nvPr/>
        </p:nvSpPr>
        <p:spPr>
          <a:xfrm>
            <a:off x="7909560" y="7395210"/>
            <a:ext cx="9464040" cy="15240"/>
          </a:xfrm>
          <a:prstGeom prst="rect">
            <a:avLst/>
          </a:prstGeom>
          <a:solidFill>
            <a:srgbClr val="E5D3B6"/>
          </a:solidFill>
          <a:ln/>
        </p:spPr>
      </p:sp>
      <p:sp>
        <p:nvSpPr>
          <p:cNvPr id="39" name="Text 37"/>
          <p:cNvSpPr/>
          <p:nvPr/>
        </p:nvSpPr>
        <p:spPr>
          <a:xfrm>
            <a:off x="8138160" y="6747034"/>
            <a:ext cx="9290762" cy="495776"/>
          </a:xfrm>
          <a:prstGeom prst="rect">
            <a:avLst/>
          </a:prstGeom>
          <a:noFill/>
          <a:ln/>
        </p:spPr>
        <p:txBody>
          <a:bodyPr wrap="square" lIns="25400" tIns="25400" rIns="25400" bIns="25400" rtlCol="0" anchor="ctr">
            <a:normAutofit/>
          </a:bodyPr>
          <a:lstStyle/>
          <a:p>
            <a:pPr marL="0" indent="0" algn="l">
              <a:lnSpc>
                <a:spcPct val="133472"/>
              </a:lnSpc>
              <a:buNone/>
            </a:pPr>
            <a:r>
              <a:rPr lang="en-US" sz="2325" dirty="0">
                <a:solidFill>
                  <a:srgbClr val="4A443F"/>
                </a:solidFill>
                <a:latin typeface="Times New Roman" pitchFamily="34" charset="0"/>
                <a:ea typeface="Times New Roman" pitchFamily="34" charset="-122"/>
                <a:cs typeface="Times New Roman" pitchFamily="34" charset="-120"/>
              </a:rPr>
              <a:t>Thời gian còn nhớ một người vừa mất dấu</a:t>
            </a:r>
            <a:endParaRPr lang="en-US" sz="2325" dirty="0"/>
          </a:p>
        </p:txBody>
      </p:sp>
      <p:sp>
        <p:nvSpPr>
          <p:cNvPr id="40" name="Shape 38"/>
          <p:cNvSpPr/>
          <p:nvPr/>
        </p:nvSpPr>
        <p:spPr>
          <a:xfrm>
            <a:off x="914400" y="8211026"/>
            <a:ext cx="4727377" cy="15240"/>
          </a:xfrm>
          <a:prstGeom prst="rect">
            <a:avLst/>
          </a:prstGeom>
          <a:solidFill>
            <a:srgbClr val="E5D3B6"/>
          </a:solidFill>
          <a:ln/>
        </p:spPr>
      </p:sp>
      <p:sp>
        <p:nvSpPr>
          <p:cNvPr id="41" name="Text 39"/>
          <p:cNvSpPr/>
          <p:nvPr/>
        </p:nvSpPr>
        <p:spPr>
          <a:xfrm>
            <a:off x="1143000" y="7581900"/>
            <a:ext cx="4411998" cy="495776"/>
          </a:xfrm>
          <a:prstGeom prst="rect">
            <a:avLst/>
          </a:prstGeom>
          <a:noFill/>
          <a:ln/>
        </p:spPr>
        <p:txBody>
          <a:bodyPr wrap="square" lIns="25400" tIns="25400" rIns="25400" bIns="25400" rtlCol="0" anchor="ctr">
            <a:normAutofit/>
          </a:bodyPr>
          <a:lstStyle/>
          <a:p>
            <a:pPr marL="0" indent="0" algn="l">
              <a:lnSpc>
                <a:spcPct val="137043"/>
              </a:lnSpc>
              <a:buNone/>
            </a:pPr>
            <a:r>
              <a:rPr lang="en-US" sz="2175" dirty="0">
                <a:solidFill>
                  <a:srgbClr val="4C5A35"/>
                </a:solidFill>
                <a:latin typeface="Courier New" pitchFamily="34" charset="0"/>
                <a:ea typeface="Courier New" pitchFamily="34" charset="-122"/>
                <a:cs typeface="Courier New" pitchFamily="34" charset="-120"/>
              </a:rPr>
              <a:t>MAX_MISSING_FRAMES</a:t>
            </a:r>
            <a:endParaRPr lang="en-US" sz="2175" dirty="0"/>
          </a:p>
        </p:txBody>
      </p:sp>
      <p:sp>
        <p:nvSpPr>
          <p:cNvPr id="42" name="Shape 40"/>
          <p:cNvSpPr/>
          <p:nvPr/>
        </p:nvSpPr>
        <p:spPr>
          <a:xfrm>
            <a:off x="5641777" y="8211026"/>
            <a:ext cx="2267784" cy="15240"/>
          </a:xfrm>
          <a:prstGeom prst="rect">
            <a:avLst/>
          </a:prstGeom>
          <a:solidFill>
            <a:srgbClr val="E5D3B6"/>
          </a:solidFill>
          <a:ln/>
        </p:spPr>
      </p:sp>
      <p:sp>
        <p:nvSpPr>
          <p:cNvPr id="43" name="Text 41"/>
          <p:cNvSpPr/>
          <p:nvPr/>
        </p:nvSpPr>
        <p:spPr>
          <a:xfrm>
            <a:off x="5870377" y="7581900"/>
            <a:ext cx="1886784" cy="495776"/>
          </a:xfrm>
          <a:prstGeom prst="rect">
            <a:avLst/>
          </a:prstGeom>
          <a:noFill/>
          <a:ln/>
        </p:spPr>
        <p:txBody>
          <a:bodyPr wrap="square" lIns="25400" tIns="25400" rIns="25400" bIns="25400" rtlCol="0" anchor="ctr">
            <a:normAutofit/>
          </a:bodyPr>
          <a:lstStyle/>
          <a:p>
            <a:pPr marL="0" indent="0" algn="l">
              <a:lnSpc>
                <a:spcPct val="133472"/>
              </a:lnSpc>
              <a:buNone/>
            </a:pPr>
            <a:r>
              <a:rPr lang="en-US" sz="2300" b="1" dirty="0">
                <a:solidFill>
                  <a:srgbClr val="201E1D"/>
                </a:solidFill>
                <a:latin typeface="Times New Roman"/>
                <a:ea typeface="Times New Roman" pitchFamily="34" charset="-122"/>
                <a:cs typeface="Times New Roman"/>
              </a:rPr>
              <a:t>30 </a:t>
            </a:r>
            <a:r>
              <a:rPr lang="en-US" sz="2300" b="1" dirty="0" err="1">
                <a:solidFill>
                  <a:srgbClr val="201E1D"/>
                </a:solidFill>
                <a:latin typeface="Times New Roman"/>
                <a:ea typeface="Times New Roman" pitchFamily="34" charset="-122"/>
                <a:cs typeface="Times New Roman"/>
              </a:rPr>
              <a:t>khung</a:t>
            </a:r>
            <a:endParaRPr lang="en-US" sz="2300" dirty="0" err="1">
              <a:latin typeface="Times New Roman"/>
              <a:cs typeface="Times New Roman"/>
            </a:endParaRPr>
          </a:p>
        </p:txBody>
      </p:sp>
      <p:sp>
        <p:nvSpPr>
          <p:cNvPr id="44" name="Shape 42"/>
          <p:cNvSpPr/>
          <p:nvPr/>
        </p:nvSpPr>
        <p:spPr>
          <a:xfrm>
            <a:off x="7909560" y="8211026"/>
            <a:ext cx="9464040" cy="15240"/>
          </a:xfrm>
          <a:prstGeom prst="rect">
            <a:avLst/>
          </a:prstGeom>
          <a:solidFill>
            <a:srgbClr val="E5D3B6"/>
          </a:solidFill>
          <a:ln/>
        </p:spPr>
      </p:sp>
      <p:sp>
        <p:nvSpPr>
          <p:cNvPr id="45" name="Text 43"/>
          <p:cNvSpPr/>
          <p:nvPr/>
        </p:nvSpPr>
        <p:spPr>
          <a:xfrm>
            <a:off x="8138160" y="7581900"/>
            <a:ext cx="9290762" cy="495776"/>
          </a:xfrm>
          <a:prstGeom prst="rect">
            <a:avLst/>
          </a:prstGeom>
          <a:noFill/>
          <a:ln/>
        </p:spPr>
        <p:txBody>
          <a:bodyPr wrap="square" lIns="25400" tIns="25400" rIns="25400" bIns="25400" rtlCol="0" anchor="ctr">
            <a:normAutofit/>
          </a:bodyPr>
          <a:lstStyle/>
          <a:p>
            <a:pPr marL="0" indent="0" algn="l">
              <a:lnSpc>
                <a:spcPct val="133472"/>
              </a:lnSpc>
              <a:buNone/>
            </a:pPr>
            <a:r>
              <a:rPr lang="en-US" sz="2325" dirty="0">
                <a:solidFill>
                  <a:srgbClr val="4A443F"/>
                </a:solidFill>
                <a:latin typeface="Times New Roman" pitchFamily="34" charset="0"/>
                <a:ea typeface="Times New Roman" pitchFamily="34" charset="-122"/>
                <a:cs typeface="Times New Roman" pitchFamily="34" charset="-120"/>
              </a:rPr>
              <a:t>Vắng quá 2 giây (ở 30 FPS) thì xóa ID khỏi bộ nhớ</a:t>
            </a:r>
            <a:endParaRPr lang="en-US" sz="2325" dirty="0"/>
          </a:p>
        </p:txBody>
      </p:sp>
      <p:sp>
        <p:nvSpPr>
          <p:cNvPr id="46" name="Shape 44"/>
          <p:cNvSpPr/>
          <p:nvPr/>
        </p:nvSpPr>
        <p:spPr>
          <a:xfrm>
            <a:off x="914400" y="9026843"/>
            <a:ext cx="4727377" cy="15240"/>
          </a:xfrm>
          <a:prstGeom prst="rect">
            <a:avLst/>
          </a:prstGeom>
          <a:solidFill>
            <a:srgbClr val="E5D3B6"/>
          </a:solidFill>
          <a:ln/>
        </p:spPr>
      </p:sp>
      <p:sp>
        <p:nvSpPr>
          <p:cNvPr id="47" name="Text 45"/>
          <p:cNvSpPr/>
          <p:nvPr/>
        </p:nvSpPr>
        <p:spPr>
          <a:xfrm>
            <a:off x="1143000" y="8397716"/>
            <a:ext cx="4411998" cy="495776"/>
          </a:xfrm>
          <a:prstGeom prst="rect">
            <a:avLst/>
          </a:prstGeom>
          <a:noFill/>
          <a:ln/>
        </p:spPr>
        <p:txBody>
          <a:bodyPr wrap="square" lIns="25400" tIns="25400" rIns="25400" bIns="25400" rtlCol="0" anchor="ctr">
            <a:normAutofit/>
          </a:bodyPr>
          <a:lstStyle/>
          <a:p>
            <a:pPr marL="0" indent="0" algn="l">
              <a:lnSpc>
                <a:spcPct val="137043"/>
              </a:lnSpc>
              <a:buNone/>
            </a:pPr>
            <a:r>
              <a:rPr lang="en-US" sz="2175" dirty="0">
                <a:solidFill>
                  <a:srgbClr val="4C5A35"/>
                </a:solidFill>
                <a:latin typeface="Courier New" pitchFamily="34" charset="0"/>
                <a:ea typeface="Courier New" pitchFamily="34" charset="-122"/>
                <a:cs typeface="Courier New" pitchFamily="34" charset="-120"/>
              </a:rPr>
              <a:t>REID_THRESHOLD</a:t>
            </a:r>
            <a:endParaRPr lang="en-US" sz="2175" dirty="0"/>
          </a:p>
        </p:txBody>
      </p:sp>
      <p:sp>
        <p:nvSpPr>
          <p:cNvPr id="48" name="Shape 46"/>
          <p:cNvSpPr/>
          <p:nvPr/>
        </p:nvSpPr>
        <p:spPr>
          <a:xfrm>
            <a:off x="5641777" y="9026843"/>
            <a:ext cx="2267784" cy="15240"/>
          </a:xfrm>
          <a:prstGeom prst="rect">
            <a:avLst/>
          </a:prstGeom>
          <a:solidFill>
            <a:srgbClr val="E5D3B6"/>
          </a:solidFill>
          <a:ln/>
        </p:spPr>
      </p:sp>
      <p:sp>
        <p:nvSpPr>
          <p:cNvPr id="49" name="Text 47"/>
          <p:cNvSpPr/>
          <p:nvPr/>
        </p:nvSpPr>
        <p:spPr>
          <a:xfrm>
            <a:off x="5870377" y="8397716"/>
            <a:ext cx="1886784" cy="495776"/>
          </a:xfrm>
          <a:prstGeom prst="rect">
            <a:avLst/>
          </a:prstGeom>
          <a:noFill/>
          <a:ln/>
        </p:spPr>
        <p:txBody>
          <a:bodyPr wrap="square" lIns="25400" tIns="25400" rIns="25400" bIns="25400" rtlCol="0" anchor="ctr">
            <a:normAutofit/>
          </a:bodyPr>
          <a:lstStyle/>
          <a:p>
            <a:pPr marL="0" indent="0" algn="l">
              <a:lnSpc>
                <a:spcPct val="133472"/>
              </a:lnSpc>
              <a:buNone/>
            </a:pPr>
            <a:r>
              <a:rPr lang="en-US" sz="2325" b="1" dirty="0">
                <a:solidFill>
                  <a:srgbClr val="201E1D"/>
                </a:solidFill>
                <a:latin typeface="Times New Roman" pitchFamily="34" charset="0"/>
                <a:ea typeface="Times New Roman" pitchFamily="34" charset="-122"/>
                <a:cs typeface="Times New Roman" pitchFamily="34" charset="-120"/>
              </a:rPr>
              <a:t>0.6</a:t>
            </a:r>
            <a:endParaRPr lang="en-US" sz="2325" dirty="0"/>
          </a:p>
        </p:txBody>
      </p:sp>
      <p:sp>
        <p:nvSpPr>
          <p:cNvPr id="50" name="Shape 48"/>
          <p:cNvSpPr/>
          <p:nvPr/>
        </p:nvSpPr>
        <p:spPr>
          <a:xfrm>
            <a:off x="7909560" y="9026843"/>
            <a:ext cx="9464040" cy="15240"/>
          </a:xfrm>
          <a:prstGeom prst="rect">
            <a:avLst/>
          </a:prstGeom>
          <a:solidFill>
            <a:srgbClr val="E5D3B6"/>
          </a:solidFill>
          <a:ln/>
        </p:spPr>
      </p:sp>
      <p:sp>
        <p:nvSpPr>
          <p:cNvPr id="51" name="Text 49"/>
          <p:cNvSpPr/>
          <p:nvPr/>
        </p:nvSpPr>
        <p:spPr>
          <a:xfrm>
            <a:off x="8138160" y="8397716"/>
            <a:ext cx="9290762" cy="495776"/>
          </a:xfrm>
          <a:prstGeom prst="rect">
            <a:avLst/>
          </a:prstGeom>
          <a:noFill/>
          <a:ln/>
        </p:spPr>
        <p:txBody>
          <a:bodyPr wrap="square" lIns="25400" tIns="25400" rIns="25400" bIns="25400" rtlCol="0" anchor="ctr">
            <a:normAutofit/>
          </a:bodyPr>
          <a:lstStyle/>
          <a:p>
            <a:pPr marL="0" indent="0" algn="l">
              <a:lnSpc>
                <a:spcPct val="133472"/>
              </a:lnSpc>
              <a:buNone/>
            </a:pPr>
            <a:r>
              <a:rPr lang="en-US" sz="2325" dirty="0">
                <a:solidFill>
                  <a:srgbClr val="4A443F"/>
                </a:solidFill>
                <a:latin typeface="Times New Roman" pitchFamily="34" charset="0"/>
                <a:ea typeface="Times New Roman" pitchFamily="34" charset="-122"/>
                <a:cs typeface="Times New Roman" pitchFamily="34" charset="-120"/>
              </a:rPr>
              <a:t>Độ tương quan màu tối thiểu để coi là cùng một người</a:t>
            </a:r>
            <a:endParaRPr lang="en-US" sz="2325" dirty="0"/>
          </a:p>
        </p:txBody>
      </p:sp>
      <p:sp>
        <p:nvSpPr>
          <p:cNvPr id="52" name="Text 50"/>
          <p:cNvSpPr/>
          <p:nvPr/>
        </p:nvSpPr>
        <p:spPr>
          <a:xfrm>
            <a:off x="1143000" y="9213532"/>
            <a:ext cx="4411998" cy="503396"/>
          </a:xfrm>
          <a:prstGeom prst="rect">
            <a:avLst/>
          </a:prstGeom>
          <a:noFill/>
          <a:ln/>
        </p:spPr>
        <p:txBody>
          <a:bodyPr wrap="square" lIns="25400" tIns="25400" rIns="25400" bIns="25400" rtlCol="0" anchor="ctr">
            <a:normAutofit/>
          </a:bodyPr>
          <a:lstStyle/>
          <a:p>
            <a:pPr marL="0" indent="0" algn="l">
              <a:lnSpc>
                <a:spcPct val="137043"/>
              </a:lnSpc>
              <a:buNone/>
            </a:pPr>
            <a:r>
              <a:rPr lang="en-US" sz="2175" dirty="0">
                <a:solidFill>
                  <a:srgbClr val="4C5A35"/>
                </a:solidFill>
                <a:latin typeface="Courier New" pitchFamily="34" charset="0"/>
                <a:ea typeface="Courier New" pitchFamily="34" charset="-122"/>
                <a:cs typeface="Courier New" pitchFamily="34" charset="-120"/>
              </a:rPr>
              <a:t>CAPACITY_LIMIT</a:t>
            </a:r>
            <a:endParaRPr lang="en-US" sz="2175" dirty="0"/>
          </a:p>
        </p:txBody>
      </p:sp>
      <p:sp>
        <p:nvSpPr>
          <p:cNvPr id="53" name="Text 51"/>
          <p:cNvSpPr/>
          <p:nvPr/>
        </p:nvSpPr>
        <p:spPr>
          <a:xfrm>
            <a:off x="5870377" y="9213532"/>
            <a:ext cx="1886784" cy="503396"/>
          </a:xfrm>
          <a:prstGeom prst="rect">
            <a:avLst/>
          </a:prstGeom>
          <a:noFill/>
          <a:ln/>
        </p:spPr>
        <p:txBody>
          <a:bodyPr wrap="square" lIns="25400" tIns="25400" rIns="25400" bIns="25400" rtlCol="0" anchor="ctr">
            <a:normAutofit/>
          </a:bodyPr>
          <a:lstStyle/>
          <a:p>
            <a:pPr marL="0" indent="0" algn="l">
              <a:lnSpc>
                <a:spcPct val="133472"/>
              </a:lnSpc>
              <a:buNone/>
            </a:pPr>
            <a:r>
              <a:rPr lang="en-US" sz="2325" b="1" dirty="0">
                <a:solidFill>
                  <a:srgbClr val="201E1D"/>
                </a:solidFill>
                <a:latin typeface="Times New Roman" pitchFamily="34" charset="0"/>
                <a:ea typeface="Times New Roman" pitchFamily="34" charset="-122"/>
                <a:cs typeface="Times New Roman" pitchFamily="34" charset="-120"/>
              </a:rPr>
              <a:t>5 người</a:t>
            </a:r>
            <a:endParaRPr lang="en-US" sz="2325" dirty="0"/>
          </a:p>
        </p:txBody>
      </p:sp>
      <p:sp>
        <p:nvSpPr>
          <p:cNvPr id="54" name="Text 52"/>
          <p:cNvSpPr/>
          <p:nvPr/>
        </p:nvSpPr>
        <p:spPr>
          <a:xfrm>
            <a:off x="8138160" y="9213532"/>
            <a:ext cx="9290762" cy="503396"/>
          </a:xfrm>
          <a:prstGeom prst="rect">
            <a:avLst/>
          </a:prstGeom>
          <a:noFill/>
          <a:ln/>
        </p:spPr>
        <p:txBody>
          <a:bodyPr wrap="square" lIns="25400" tIns="25400" rIns="25400" bIns="25400" rtlCol="0" anchor="ctr">
            <a:normAutofit/>
          </a:bodyPr>
          <a:lstStyle/>
          <a:p>
            <a:pPr marL="0" indent="0" algn="l">
              <a:lnSpc>
                <a:spcPct val="133472"/>
              </a:lnSpc>
              <a:buNone/>
            </a:pPr>
            <a:r>
              <a:rPr lang="en-US" sz="2325" dirty="0">
                <a:solidFill>
                  <a:srgbClr val="4A443F"/>
                </a:solidFill>
                <a:latin typeface="Times New Roman" pitchFamily="34" charset="0"/>
                <a:ea typeface="Times New Roman" pitchFamily="34" charset="-122"/>
                <a:cs typeface="Times New Roman" pitchFamily="34" charset="-120"/>
              </a:rPr>
              <a:t>Ngưỡng bật cảnh báo quá tải trên màn hình</a:t>
            </a:r>
            <a:endParaRPr lang="en-US" sz="23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6F0"/>
        </a:solidFill>
        <a:effectLst/>
      </p:bgPr>
    </p:bg>
    <p:spTree>
      <p:nvGrpSpPr>
        <p:cNvPr id="1" name=""/>
        <p:cNvGrpSpPr/>
        <p:nvPr/>
      </p:nvGrpSpPr>
      <p:grpSpPr>
        <a:xfrm>
          <a:off x="0" y="0"/>
          <a:ext cx="0" cy="0"/>
          <a:chOff x="0" y="0"/>
          <a:chExt cx="0" cy="0"/>
        </a:xfrm>
      </p:grpSpPr>
      <p:sp>
        <p:nvSpPr>
          <p:cNvPr id="2" name="Text 0"/>
          <p:cNvSpPr/>
          <p:nvPr/>
        </p:nvSpPr>
        <p:spPr>
          <a:xfrm>
            <a:off x="762000" y="666750"/>
            <a:ext cx="18440400" cy="451485"/>
          </a:xfrm>
          <a:prstGeom prst="rect">
            <a:avLst/>
          </a:prstGeom>
          <a:noFill/>
          <a:ln/>
        </p:spPr>
        <p:txBody>
          <a:bodyPr wrap="square" lIns="25400" tIns="25400" rIns="25400" bIns="25400" rtlCol="0" anchor="t">
            <a:normAutofit/>
          </a:bodyPr>
          <a:lstStyle/>
          <a:p>
            <a:pPr marL="0" indent="0" algn="l">
              <a:lnSpc>
                <a:spcPct val="135625"/>
              </a:lnSpc>
              <a:buNone/>
            </a:pPr>
            <a:r>
              <a:rPr lang="en-US" sz="2100" b="1" kern="0" spc="294" dirty="0">
                <a:solidFill>
                  <a:srgbClr val="8A5A2E"/>
                </a:solidFill>
                <a:latin typeface="Times New Roman" pitchFamily="34" charset="0"/>
                <a:ea typeface="Times New Roman" pitchFamily="34" charset="-122"/>
                <a:cs typeface="Times New Roman" pitchFamily="34" charset="-120"/>
              </a:rPr>
              <a:t>MÔ HÌNH</a:t>
            </a:r>
            <a:endParaRPr lang="en-US" sz="2100" dirty="0"/>
          </a:p>
        </p:txBody>
      </p:sp>
      <p:sp>
        <p:nvSpPr>
          <p:cNvPr id="3" name="Text 1"/>
          <p:cNvSpPr/>
          <p:nvPr/>
        </p:nvSpPr>
        <p:spPr>
          <a:xfrm>
            <a:off x="762000" y="1194435"/>
            <a:ext cx="18440400" cy="645795"/>
          </a:xfrm>
          <a:prstGeom prst="rect">
            <a:avLst/>
          </a:prstGeom>
          <a:noFill/>
          <a:ln/>
        </p:spPr>
        <p:txBody>
          <a:bodyPr wrap="square" lIns="25400" tIns="25400" rIns="25400" bIns="25400" rtlCol="0" anchor="t">
            <a:normAutofit/>
          </a:bodyPr>
          <a:lstStyle/>
          <a:p>
            <a:pPr marL="0" indent="0" algn="l">
              <a:lnSpc>
                <a:spcPct val="94940"/>
              </a:lnSpc>
              <a:buNone/>
            </a:pPr>
            <a:r>
              <a:rPr lang="en-US" sz="4350" b="1" kern="0" spc="-65" dirty="0">
                <a:solidFill>
                  <a:srgbClr val="201E1D"/>
                </a:solidFill>
                <a:latin typeface="Times New Roman" pitchFamily="34" charset="0"/>
                <a:ea typeface="Times New Roman" pitchFamily="34" charset="-122"/>
                <a:cs typeface="Times New Roman" pitchFamily="34" charset="-120"/>
              </a:rPr>
              <a:t>Cấu trúc một lần suy luận của YOLOv8</a:t>
            </a:r>
            <a:endParaRPr lang="en-US" sz="4350" dirty="0"/>
          </a:p>
        </p:txBody>
      </p:sp>
      <p:sp>
        <p:nvSpPr>
          <p:cNvPr id="4" name="Shape 2"/>
          <p:cNvSpPr/>
          <p:nvPr/>
        </p:nvSpPr>
        <p:spPr>
          <a:xfrm>
            <a:off x="762000" y="2125980"/>
            <a:ext cx="2851190" cy="3232785"/>
          </a:xfrm>
          <a:prstGeom prst="roundRect">
            <a:avLst>
              <a:gd name="adj" fmla="val 6681"/>
            </a:avLst>
          </a:prstGeom>
          <a:solidFill>
            <a:srgbClr val="E5D3B6"/>
          </a:solidFill>
          <a:ln/>
        </p:spPr>
      </p:sp>
      <p:sp>
        <p:nvSpPr>
          <p:cNvPr id="5" name="Text 3"/>
          <p:cNvSpPr/>
          <p:nvPr/>
        </p:nvSpPr>
        <p:spPr>
          <a:xfrm>
            <a:off x="1009650" y="2354580"/>
            <a:ext cx="2591479" cy="451485"/>
          </a:xfrm>
          <a:prstGeom prst="rect">
            <a:avLst/>
          </a:prstGeom>
          <a:noFill/>
          <a:ln/>
        </p:spPr>
        <p:txBody>
          <a:bodyPr wrap="square" lIns="25400" tIns="25400" rIns="25400" bIns="25400" rtlCol="0" anchor="t">
            <a:normAutofit/>
          </a:bodyPr>
          <a:lstStyle/>
          <a:p>
            <a:pPr marL="0" indent="0" algn="l">
              <a:lnSpc>
                <a:spcPct val="135625"/>
              </a:lnSpc>
              <a:buNone/>
            </a:pPr>
            <a:r>
              <a:rPr lang="en-US" sz="2100" b="1" kern="0" spc="168" dirty="0">
                <a:solidFill>
                  <a:srgbClr val="6B5B45"/>
                </a:solidFill>
                <a:latin typeface="Times New Roman" pitchFamily="34" charset="0"/>
                <a:ea typeface="Times New Roman" pitchFamily="34" charset="-122"/>
                <a:cs typeface="Times New Roman" pitchFamily="34" charset="-120"/>
              </a:rPr>
              <a:t>ẢNH VÀO</a:t>
            </a:r>
            <a:endParaRPr lang="en-US" sz="2100" dirty="0"/>
          </a:p>
        </p:txBody>
      </p:sp>
      <p:sp>
        <p:nvSpPr>
          <p:cNvPr id="6" name="Text 4"/>
          <p:cNvSpPr/>
          <p:nvPr/>
        </p:nvSpPr>
        <p:spPr>
          <a:xfrm>
            <a:off x="1009650" y="2863215"/>
            <a:ext cx="2432090" cy="769620"/>
          </a:xfrm>
          <a:prstGeom prst="rect">
            <a:avLst/>
          </a:prstGeom>
          <a:noFill/>
          <a:ln/>
        </p:spPr>
        <p:txBody>
          <a:bodyPr wrap="square" lIns="25400" tIns="25400" rIns="25400" bIns="25400" rtlCol="0" anchor="t">
            <a:normAutofit/>
          </a:bodyPr>
          <a:lstStyle/>
          <a:p>
            <a:pPr marL="0" indent="0" algn="l">
              <a:lnSpc>
                <a:spcPct val="102128"/>
              </a:lnSpc>
              <a:buNone/>
            </a:pPr>
            <a:r>
              <a:rPr lang="en-US" sz="2400" b="1" dirty="0">
                <a:solidFill>
                  <a:srgbClr val="201E1D"/>
                </a:solidFill>
                <a:latin typeface="Times New Roman" pitchFamily="34" charset="0"/>
                <a:ea typeface="Times New Roman" pitchFamily="34" charset="-122"/>
                <a:cs typeface="Times New Roman" pitchFamily="34" charset="-120"/>
              </a:rPr>
              <a:t>Khung hình 640×640</a:t>
            </a:r>
            <a:endParaRPr lang="en-US" sz="2400" dirty="0"/>
          </a:p>
        </p:txBody>
      </p:sp>
      <p:sp>
        <p:nvSpPr>
          <p:cNvPr id="7" name="Text 5"/>
          <p:cNvSpPr/>
          <p:nvPr/>
        </p:nvSpPr>
        <p:spPr>
          <a:xfrm>
            <a:off x="1009650" y="3689985"/>
            <a:ext cx="2432090" cy="758190"/>
          </a:xfrm>
          <a:prstGeom prst="rect">
            <a:avLst/>
          </a:prstGeom>
          <a:noFill/>
          <a:ln/>
        </p:spPr>
        <p:txBody>
          <a:bodyPr wrap="square" lIns="25400" tIns="25400" rIns="25400" bIns="25400" rtlCol="0" anchor="t">
            <a:normAutofit/>
          </a:bodyPr>
          <a:lstStyle/>
          <a:p>
            <a:pPr marL="0" indent="0" algn="l">
              <a:lnSpc>
                <a:spcPct val="118125"/>
              </a:lnSpc>
              <a:buNone/>
            </a:pPr>
            <a:r>
              <a:rPr lang="en-US" sz="2100" dirty="0">
                <a:solidFill>
                  <a:srgbClr val="5A534C"/>
                </a:solidFill>
                <a:latin typeface="Times New Roman" pitchFamily="34" charset="0"/>
                <a:ea typeface="Times New Roman" pitchFamily="34" charset="-122"/>
                <a:cs typeface="Times New Roman" pitchFamily="34" charset="-120"/>
              </a:rPr>
              <a:t>Chuẩn hóa kích thước và giá trị điểm ảnh</a:t>
            </a:r>
            <a:endParaRPr lang="en-US" sz="2100" dirty="0"/>
          </a:p>
        </p:txBody>
      </p:sp>
      <p:sp>
        <p:nvSpPr>
          <p:cNvPr id="8" name="Shape 6"/>
          <p:cNvSpPr/>
          <p:nvPr/>
        </p:nvSpPr>
        <p:spPr>
          <a:xfrm>
            <a:off x="3725585" y="3650933"/>
            <a:ext cx="137160" cy="182880"/>
          </a:xfrm>
          <a:prstGeom prst="rect">
            <a:avLst/>
          </a:prstGeom>
          <a:solidFill>
            <a:srgbClr val="C67139"/>
          </a:solidFill>
          <a:ln/>
        </p:spPr>
      </p:sp>
      <p:sp>
        <p:nvSpPr>
          <p:cNvPr id="9" name="Shape 7"/>
          <p:cNvSpPr/>
          <p:nvPr/>
        </p:nvSpPr>
        <p:spPr>
          <a:xfrm>
            <a:off x="3975140" y="2125980"/>
            <a:ext cx="3204686" cy="3232785"/>
          </a:xfrm>
          <a:prstGeom prst="roundRect">
            <a:avLst>
              <a:gd name="adj" fmla="val 5944"/>
            </a:avLst>
          </a:prstGeom>
          <a:solidFill>
            <a:srgbClr val="EFE0C6"/>
          </a:solidFill>
          <a:ln/>
        </p:spPr>
      </p:sp>
      <p:sp>
        <p:nvSpPr>
          <p:cNvPr id="10" name="Text 8"/>
          <p:cNvSpPr/>
          <p:nvPr/>
        </p:nvSpPr>
        <p:spPr>
          <a:xfrm>
            <a:off x="4222790" y="2354580"/>
            <a:ext cx="2980325" cy="451485"/>
          </a:xfrm>
          <a:prstGeom prst="rect">
            <a:avLst/>
          </a:prstGeom>
          <a:noFill/>
          <a:ln/>
        </p:spPr>
        <p:txBody>
          <a:bodyPr wrap="square" lIns="25400" tIns="25400" rIns="25400" bIns="25400" rtlCol="0" anchor="t">
            <a:normAutofit/>
          </a:bodyPr>
          <a:lstStyle/>
          <a:p>
            <a:pPr marL="0" indent="0" algn="l">
              <a:lnSpc>
                <a:spcPct val="135625"/>
              </a:lnSpc>
              <a:buNone/>
            </a:pPr>
            <a:r>
              <a:rPr lang="en-US" sz="2100" b="1" kern="0" spc="168" dirty="0">
                <a:solidFill>
                  <a:srgbClr val="8A5A2E"/>
                </a:solidFill>
                <a:latin typeface="Times New Roman" pitchFamily="34" charset="0"/>
                <a:ea typeface="Times New Roman" pitchFamily="34" charset="-122"/>
                <a:cs typeface="Times New Roman" pitchFamily="34" charset="-120"/>
              </a:rPr>
              <a:t>BACKBONE</a:t>
            </a:r>
            <a:endParaRPr lang="en-US" sz="2100" dirty="0"/>
          </a:p>
        </p:txBody>
      </p:sp>
      <p:sp>
        <p:nvSpPr>
          <p:cNvPr id="11" name="Text 9"/>
          <p:cNvSpPr/>
          <p:nvPr/>
        </p:nvSpPr>
        <p:spPr>
          <a:xfrm>
            <a:off x="4222790" y="2863215"/>
            <a:ext cx="2790668" cy="769620"/>
          </a:xfrm>
          <a:prstGeom prst="rect">
            <a:avLst/>
          </a:prstGeom>
          <a:noFill/>
          <a:ln/>
        </p:spPr>
        <p:txBody>
          <a:bodyPr wrap="square" lIns="25400" tIns="25400" rIns="25400" bIns="25400" rtlCol="0" anchor="t">
            <a:normAutofit/>
          </a:bodyPr>
          <a:lstStyle/>
          <a:p>
            <a:pPr marL="0" indent="0" algn="l">
              <a:lnSpc>
                <a:spcPct val="102128"/>
              </a:lnSpc>
              <a:buNone/>
            </a:pPr>
            <a:r>
              <a:rPr lang="en-US" sz="2400" b="1" dirty="0">
                <a:solidFill>
                  <a:srgbClr val="201E1D"/>
                </a:solidFill>
                <a:latin typeface="Times New Roman" pitchFamily="34" charset="0"/>
                <a:ea typeface="Times New Roman" pitchFamily="34" charset="-122"/>
                <a:cs typeface="Times New Roman" pitchFamily="34" charset="-120"/>
              </a:rPr>
              <a:t>CSPDarknet với khối C2f</a:t>
            </a:r>
            <a:endParaRPr lang="en-US" sz="2400" dirty="0"/>
          </a:p>
        </p:txBody>
      </p:sp>
      <p:sp>
        <p:nvSpPr>
          <p:cNvPr id="12" name="Text 10"/>
          <p:cNvSpPr/>
          <p:nvPr/>
        </p:nvSpPr>
        <p:spPr>
          <a:xfrm>
            <a:off x="4222790" y="3689985"/>
            <a:ext cx="2790668" cy="1478280"/>
          </a:xfrm>
          <a:prstGeom prst="rect">
            <a:avLst/>
          </a:prstGeom>
          <a:noFill/>
          <a:ln/>
        </p:spPr>
        <p:txBody>
          <a:bodyPr wrap="square" lIns="25400" tIns="25400" rIns="25400" bIns="25400" rtlCol="0" anchor="t">
            <a:normAutofit/>
          </a:bodyPr>
          <a:lstStyle/>
          <a:p>
            <a:pPr marL="0" indent="0" algn="l">
              <a:lnSpc>
                <a:spcPct val="118125"/>
              </a:lnSpc>
              <a:buNone/>
            </a:pPr>
            <a:r>
              <a:rPr lang="en-US" sz="2100" dirty="0">
                <a:solidFill>
                  <a:srgbClr val="5A534C"/>
                </a:solidFill>
                <a:latin typeface="Times New Roman" pitchFamily="34" charset="0"/>
                <a:ea typeface="Times New Roman" pitchFamily="34" charset="-122"/>
                <a:cs typeface="Times New Roman" pitchFamily="34" charset="-120"/>
              </a:rPr>
              <a:t>Trích đặc trưng qua nhiều tầng; SPPF cuối backbone mở rộng vùng nhìn</a:t>
            </a:r>
            <a:endParaRPr lang="en-US" sz="2100" dirty="0"/>
          </a:p>
        </p:txBody>
      </p:sp>
      <p:sp>
        <p:nvSpPr>
          <p:cNvPr id="13" name="Shape 11"/>
          <p:cNvSpPr/>
          <p:nvPr/>
        </p:nvSpPr>
        <p:spPr>
          <a:xfrm>
            <a:off x="7292221" y="3650933"/>
            <a:ext cx="137160" cy="182880"/>
          </a:xfrm>
          <a:prstGeom prst="rect">
            <a:avLst/>
          </a:prstGeom>
          <a:solidFill>
            <a:srgbClr val="C67139"/>
          </a:solidFill>
          <a:ln/>
        </p:spPr>
      </p:sp>
      <p:sp>
        <p:nvSpPr>
          <p:cNvPr id="14" name="Shape 12"/>
          <p:cNvSpPr/>
          <p:nvPr/>
        </p:nvSpPr>
        <p:spPr>
          <a:xfrm>
            <a:off x="7541776" y="2125980"/>
            <a:ext cx="3204567" cy="3232785"/>
          </a:xfrm>
          <a:prstGeom prst="roundRect">
            <a:avLst>
              <a:gd name="adj" fmla="val 5945"/>
            </a:avLst>
          </a:prstGeom>
          <a:solidFill>
            <a:srgbClr val="EFE0C6"/>
          </a:solidFill>
          <a:ln/>
        </p:spPr>
      </p:sp>
      <p:sp>
        <p:nvSpPr>
          <p:cNvPr id="15" name="Text 13"/>
          <p:cNvSpPr/>
          <p:nvPr/>
        </p:nvSpPr>
        <p:spPr>
          <a:xfrm>
            <a:off x="7789426" y="2354580"/>
            <a:ext cx="2980194" cy="451485"/>
          </a:xfrm>
          <a:prstGeom prst="rect">
            <a:avLst/>
          </a:prstGeom>
          <a:noFill/>
          <a:ln/>
        </p:spPr>
        <p:txBody>
          <a:bodyPr wrap="square" lIns="25400" tIns="25400" rIns="25400" bIns="25400" rtlCol="0" anchor="t">
            <a:normAutofit/>
          </a:bodyPr>
          <a:lstStyle/>
          <a:p>
            <a:pPr marL="0" indent="0" algn="l">
              <a:lnSpc>
                <a:spcPct val="135625"/>
              </a:lnSpc>
              <a:buNone/>
            </a:pPr>
            <a:r>
              <a:rPr lang="en-US" sz="2100" b="1" kern="0" spc="168" dirty="0">
                <a:solidFill>
                  <a:srgbClr val="8A5A2E"/>
                </a:solidFill>
                <a:latin typeface="Times New Roman" pitchFamily="34" charset="0"/>
                <a:ea typeface="Times New Roman" pitchFamily="34" charset="-122"/>
                <a:cs typeface="Times New Roman" pitchFamily="34" charset="-120"/>
              </a:rPr>
              <a:t>NECK</a:t>
            </a:r>
            <a:endParaRPr lang="en-US" sz="2100" dirty="0"/>
          </a:p>
        </p:txBody>
      </p:sp>
      <p:sp>
        <p:nvSpPr>
          <p:cNvPr id="16" name="Text 14"/>
          <p:cNvSpPr/>
          <p:nvPr/>
        </p:nvSpPr>
        <p:spPr>
          <a:xfrm>
            <a:off x="7789426" y="2863215"/>
            <a:ext cx="2980194" cy="403860"/>
          </a:xfrm>
          <a:prstGeom prst="rect">
            <a:avLst/>
          </a:prstGeom>
          <a:noFill/>
          <a:ln/>
        </p:spPr>
        <p:txBody>
          <a:bodyPr wrap="square" lIns="25400" tIns="25400" rIns="25400" bIns="25400" rtlCol="0" anchor="t">
            <a:normAutofit/>
          </a:bodyPr>
          <a:lstStyle/>
          <a:p>
            <a:pPr marL="0" indent="0" algn="l">
              <a:lnSpc>
                <a:spcPct val="102128"/>
              </a:lnSpc>
              <a:buNone/>
            </a:pPr>
            <a:r>
              <a:rPr lang="en-US" sz="2400" b="1" dirty="0">
                <a:solidFill>
                  <a:srgbClr val="201E1D"/>
                </a:solidFill>
                <a:latin typeface="Times New Roman" pitchFamily="34" charset="0"/>
                <a:ea typeface="Times New Roman" pitchFamily="34" charset="-122"/>
                <a:cs typeface="Times New Roman" pitchFamily="34" charset="-120"/>
              </a:rPr>
              <a:t>PAN-FPN</a:t>
            </a:r>
            <a:endParaRPr lang="en-US" sz="2400" dirty="0"/>
          </a:p>
        </p:txBody>
      </p:sp>
      <p:sp>
        <p:nvSpPr>
          <p:cNvPr id="17" name="Text 15"/>
          <p:cNvSpPr/>
          <p:nvPr/>
        </p:nvSpPr>
        <p:spPr>
          <a:xfrm>
            <a:off x="7789426" y="3324225"/>
            <a:ext cx="2790545" cy="1118235"/>
          </a:xfrm>
          <a:prstGeom prst="rect">
            <a:avLst/>
          </a:prstGeom>
          <a:noFill/>
          <a:ln/>
        </p:spPr>
        <p:txBody>
          <a:bodyPr wrap="square" lIns="25400" tIns="25400" rIns="25400" bIns="25400" rtlCol="0" anchor="t">
            <a:normAutofit/>
          </a:bodyPr>
          <a:lstStyle/>
          <a:p>
            <a:pPr marL="0" indent="0" algn="l">
              <a:lnSpc>
                <a:spcPct val="118125"/>
              </a:lnSpc>
              <a:buNone/>
            </a:pPr>
            <a:r>
              <a:rPr lang="en-US" sz="2100" dirty="0">
                <a:solidFill>
                  <a:srgbClr val="5A534C"/>
                </a:solidFill>
                <a:latin typeface="Times New Roman" pitchFamily="34" charset="0"/>
                <a:ea typeface="Times New Roman" pitchFamily="34" charset="-122"/>
                <a:cs typeface="Times New Roman" pitchFamily="34" charset="-120"/>
              </a:rPr>
              <a:t>Trộn đặc trưng ba tỷ lệ để bắt được cả người ở xa và ở gần</a:t>
            </a:r>
            <a:endParaRPr lang="en-US" sz="2100" dirty="0"/>
          </a:p>
        </p:txBody>
      </p:sp>
      <p:sp>
        <p:nvSpPr>
          <p:cNvPr id="18" name="Shape 16"/>
          <p:cNvSpPr/>
          <p:nvPr/>
        </p:nvSpPr>
        <p:spPr>
          <a:xfrm>
            <a:off x="10858738" y="3650933"/>
            <a:ext cx="137160" cy="182880"/>
          </a:xfrm>
          <a:prstGeom prst="rect">
            <a:avLst/>
          </a:prstGeom>
          <a:solidFill>
            <a:srgbClr val="7A8A5E"/>
          </a:solidFill>
          <a:ln/>
        </p:spPr>
      </p:sp>
      <p:sp>
        <p:nvSpPr>
          <p:cNvPr id="19" name="Shape 17"/>
          <p:cNvSpPr/>
          <p:nvPr/>
        </p:nvSpPr>
        <p:spPr>
          <a:xfrm>
            <a:off x="11108293" y="2125980"/>
            <a:ext cx="3204567" cy="3232785"/>
          </a:xfrm>
          <a:prstGeom prst="roundRect">
            <a:avLst>
              <a:gd name="adj" fmla="val 5945"/>
            </a:avLst>
          </a:prstGeom>
          <a:solidFill>
            <a:srgbClr val="E4E8D8"/>
          </a:solidFill>
          <a:ln/>
        </p:spPr>
      </p:sp>
      <p:sp>
        <p:nvSpPr>
          <p:cNvPr id="20" name="Text 18"/>
          <p:cNvSpPr/>
          <p:nvPr/>
        </p:nvSpPr>
        <p:spPr>
          <a:xfrm>
            <a:off x="11355943" y="2354580"/>
            <a:ext cx="2980194" cy="451485"/>
          </a:xfrm>
          <a:prstGeom prst="rect">
            <a:avLst/>
          </a:prstGeom>
          <a:noFill/>
          <a:ln/>
        </p:spPr>
        <p:txBody>
          <a:bodyPr wrap="square" lIns="25400" tIns="25400" rIns="25400" bIns="25400" rtlCol="0" anchor="t">
            <a:normAutofit/>
          </a:bodyPr>
          <a:lstStyle/>
          <a:p>
            <a:pPr marL="0" indent="0" algn="l">
              <a:lnSpc>
                <a:spcPct val="135625"/>
              </a:lnSpc>
              <a:buNone/>
            </a:pPr>
            <a:r>
              <a:rPr lang="en-US" sz="2100" b="1" kern="0" spc="168" dirty="0">
                <a:solidFill>
                  <a:srgbClr val="4C5A35"/>
                </a:solidFill>
                <a:latin typeface="Times New Roman" pitchFamily="34" charset="0"/>
                <a:ea typeface="Times New Roman" pitchFamily="34" charset="-122"/>
                <a:cs typeface="Times New Roman" pitchFamily="34" charset="-120"/>
              </a:rPr>
              <a:t>HEAD</a:t>
            </a:r>
            <a:endParaRPr lang="en-US" sz="2100" dirty="0"/>
          </a:p>
        </p:txBody>
      </p:sp>
      <p:sp>
        <p:nvSpPr>
          <p:cNvPr id="21" name="Text 19"/>
          <p:cNvSpPr/>
          <p:nvPr/>
        </p:nvSpPr>
        <p:spPr>
          <a:xfrm>
            <a:off x="11355943" y="2863215"/>
            <a:ext cx="2790545" cy="769620"/>
          </a:xfrm>
          <a:prstGeom prst="rect">
            <a:avLst/>
          </a:prstGeom>
          <a:noFill/>
          <a:ln/>
        </p:spPr>
        <p:txBody>
          <a:bodyPr wrap="square" lIns="25400" tIns="25400" rIns="25400" bIns="25400" rtlCol="0" anchor="t">
            <a:normAutofit/>
          </a:bodyPr>
          <a:lstStyle/>
          <a:p>
            <a:pPr marL="0" indent="0" algn="l">
              <a:lnSpc>
                <a:spcPct val="102128"/>
              </a:lnSpc>
              <a:buNone/>
            </a:pPr>
            <a:r>
              <a:rPr lang="en-US" sz="2400" b="1" dirty="0">
                <a:solidFill>
                  <a:srgbClr val="2F3A20"/>
                </a:solidFill>
                <a:latin typeface="Times New Roman" pitchFamily="34" charset="0"/>
                <a:ea typeface="Times New Roman" pitchFamily="34" charset="-122"/>
                <a:cs typeface="Times New Roman" pitchFamily="34" charset="-120"/>
              </a:rPr>
              <a:t>Tách nhánh, không anchor</a:t>
            </a:r>
            <a:endParaRPr lang="en-US" sz="2400" dirty="0"/>
          </a:p>
        </p:txBody>
      </p:sp>
      <p:sp>
        <p:nvSpPr>
          <p:cNvPr id="22" name="Text 20"/>
          <p:cNvSpPr/>
          <p:nvPr/>
        </p:nvSpPr>
        <p:spPr>
          <a:xfrm>
            <a:off x="11355943" y="3689985"/>
            <a:ext cx="2790545" cy="1478280"/>
          </a:xfrm>
          <a:prstGeom prst="rect">
            <a:avLst/>
          </a:prstGeom>
          <a:noFill/>
          <a:ln/>
        </p:spPr>
        <p:txBody>
          <a:bodyPr wrap="square" lIns="25400" tIns="25400" rIns="25400" bIns="25400" rtlCol="0" anchor="t">
            <a:normAutofit/>
          </a:bodyPr>
          <a:lstStyle/>
          <a:p>
            <a:pPr marL="0" indent="0" algn="l">
              <a:lnSpc>
                <a:spcPct val="118125"/>
              </a:lnSpc>
              <a:buNone/>
            </a:pPr>
            <a:r>
              <a:rPr lang="en-US" sz="2100" dirty="0">
                <a:solidFill>
                  <a:srgbClr val="4A5436"/>
                </a:solidFill>
                <a:latin typeface="Times New Roman" pitchFamily="34" charset="0"/>
                <a:ea typeface="Times New Roman" pitchFamily="34" charset="-122"/>
                <a:cs typeface="Times New Roman" pitchFamily="34" charset="-120"/>
              </a:rPr>
              <a:t>Một nhánh đoán lớp, một nhánh đoán hộp — dự đoán trực tiếp tâm và cạnh</a:t>
            </a:r>
            <a:endParaRPr lang="en-US" sz="2100" dirty="0"/>
          </a:p>
        </p:txBody>
      </p:sp>
      <p:sp>
        <p:nvSpPr>
          <p:cNvPr id="23" name="Shape 21"/>
          <p:cNvSpPr/>
          <p:nvPr/>
        </p:nvSpPr>
        <p:spPr>
          <a:xfrm>
            <a:off x="14425256" y="3650933"/>
            <a:ext cx="137160" cy="182880"/>
          </a:xfrm>
          <a:prstGeom prst="rect">
            <a:avLst/>
          </a:prstGeom>
          <a:solidFill>
            <a:srgbClr val="7A8A5E"/>
          </a:solidFill>
          <a:ln/>
        </p:spPr>
      </p:sp>
      <p:sp>
        <p:nvSpPr>
          <p:cNvPr id="24" name="Shape 22"/>
          <p:cNvSpPr/>
          <p:nvPr/>
        </p:nvSpPr>
        <p:spPr>
          <a:xfrm>
            <a:off x="14674810" y="2125980"/>
            <a:ext cx="2851190" cy="3232785"/>
          </a:xfrm>
          <a:prstGeom prst="roundRect">
            <a:avLst>
              <a:gd name="adj" fmla="val 6681"/>
            </a:avLst>
          </a:prstGeom>
          <a:solidFill>
            <a:srgbClr val="26221F"/>
          </a:solidFill>
          <a:ln/>
        </p:spPr>
      </p:sp>
      <p:sp>
        <p:nvSpPr>
          <p:cNvPr id="25" name="Text 23"/>
          <p:cNvSpPr/>
          <p:nvPr/>
        </p:nvSpPr>
        <p:spPr>
          <a:xfrm>
            <a:off x="14922460" y="2354580"/>
            <a:ext cx="2591479" cy="451485"/>
          </a:xfrm>
          <a:prstGeom prst="rect">
            <a:avLst/>
          </a:prstGeom>
          <a:noFill/>
          <a:ln/>
        </p:spPr>
        <p:txBody>
          <a:bodyPr wrap="square" lIns="25400" tIns="25400" rIns="25400" bIns="25400" rtlCol="0" anchor="t">
            <a:normAutofit/>
          </a:bodyPr>
          <a:lstStyle/>
          <a:p>
            <a:pPr marL="0" indent="0" algn="l">
              <a:lnSpc>
                <a:spcPct val="135625"/>
              </a:lnSpc>
              <a:buNone/>
            </a:pPr>
            <a:r>
              <a:rPr lang="en-US" sz="2100" b="1" kern="0" spc="168" dirty="0">
                <a:solidFill>
                  <a:srgbClr val="E0A06A"/>
                </a:solidFill>
                <a:latin typeface="Times New Roman" pitchFamily="34" charset="0"/>
                <a:ea typeface="Times New Roman" pitchFamily="34" charset="-122"/>
                <a:cs typeface="Times New Roman" pitchFamily="34" charset="-120"/>
              </a:rPr>
              <a:t>ĐẦU RA</a:t>
            </a:r>
            <a:endParaRPr lang="en-US" sz="2100" dirty="0"/>
          </a:p>
        </p:txBody>
      </p:sp>
      <p:sp>
        <p:nvSpPr>
          <p:cNvPr id="26" name="Text 24"/>
          <p:cNvSpPr/>
          <p:nvPr/>
        </p:nvSpPr>
        <p:spPr>
          <a:xfrm>
            <a:off x="14922460" y="2863215"/>
            <a:ext cx="2591479" cy="403860"/>
          </a:xfrm>
          <a:prstGeom prst="rect">
            <a:avLst/>
          </a:prstGeom>
          <a:noFill/>
          <a:ln/>
        </p:spPr>
        <p:txBody>
          <a:bodyPr wrap="square" lIns="25400" tIns="25400" rIns="25400" bIns="25400" rtlCol="0" anchor="t">
            <a:normAutofit/>
          </a:bodyPr>
          <a:lstStyle/>
          <a:p>
            <a:pPr marL="0" indent="0" algn="l">
              <a:lnSpc>
                <a:spcPct val="102128"/>
              </a:lnSpc>
              <a:buNone/>
            </a:pPr>
            <a:r>
              <a:rPr lang="en-US" sz="2400" b="1" dirty="0">
                <a:solidFill>
                  <a:srgbClr val="F5EAD8"/>
                </a:solidFill>
                <a:latin typeface="Times New Roman" pitchFamily="34" charset="0"/>
                <a:ea typeface="Times New Roman" pitchFamily="34" charset="-122"/>
                <a:cs typeface="Times New Roman" pitchFamily="34" charset="-120"/>
              </a:rPr>
              <a:t>Hộp + độ tin cậy</a:t>
            </a:r>
            <a:endParaRPr lang="en-US" sz="2400" dirty="0"/>
          </a:p>
        </p:txBody>
      </p:sp>
      <p:sp>
        <p:nvSpPr>
          <p:cNvPr id="27" name="Text 25"/>
          <p:cNvSpPr/>
          <p:nvPr/>
        </p:nvSpPr>
        <p:spPr>
          <a:xfrm>
            <a:off x="14922460" y="3324225"/>
            <a:ext cx="2432090" cy="1118235"/>
          </a:xfrm>
          <a:prstGeom prst="rect">
            <a:avLst/>
          </a:prstGeom>
          <a:noFill/>
          <a:ln/>
        </p:spPr>
        <p:txBody>
          <a:bodyPr wrap="square" lIns="25400" tIns="25400" rIns="25400" bIns="25400" rtlCol="0" anchor="t">
            <a:normAutofit/>
          </a:bodyPr>
          <a:lstStyle/>
          <a:p>
            <a:pPr marL="0" indent="0" algn="l">
              <a:lnSpc>
                <a:spcPct val="118125"/>
              </a:lnSpc>
              <a:buNone/>
            </a:pPr>
            <a:r>
              <a:rPr lang="en-US" sz="2100" dirty="0">
                <a:solidFill>
                  <a:srgbClr val="CFC0A8"/>
                </a:solidFill>
                <a:latin typeface="Times New Roman" pitchFamily="34" charset="0"/>
                <a:ea typeface="Times New Roman" pitchFamily="34" charset="-122"/>
                <a:cs typeface="Times New Roman" pitchFamily="34" charset="-120"/>
              </a:rPr>
              <a:t>NMS loại hộp trùng, giữ một hộp cho mỗi người</a:t>
            </a:r>
            <a:endParaRPr lang="en-US" sz="2100" dirty="0"/>
          </a:p>
        </p:txBody>
      </p:sp>
      <p:sp>
        <p:nvSpPr>
          <p:cNvPr id="28" name="Shape 26"/>
          <p:cNvSpPr/>
          <p:nvPr/>
        </p:nvSpPr>
        <p:spPr>
          <a:xfrm>
            <a:off x="762000" y="5682615"/>
            <a:ext cx="5422821" cy="2151221"/>
          </a:xfrm>
          <a:prstGeom prst="roundRect">
            <a:avLst>
              <a:gd name="adj" fmla="val 8855"/>
            </a:avLst>
          </a:prstGeom>
          <a:solidFill>
            <a:srgbClr val="EFE0C6"/>
          </a:solidFill>
          <a:ln/>
        </p:spPr>
      </p:sp>
      <p:sp>
        <p:nvSpPr>
          <p:cNvPr id="29" name="Text 27"/>
          <p:cNvSpPr/>
          <p:nvPr/>
        </p:nvSpPr>
        <p:spPr>
          <a:xfrm>
            <a:off x="1028700" y="5911215"/>
            <a:ext cx="5378363" cy="495776"/>
          </a:xfrm>
          <a:prstGeom prst="rect">
            <a:avLst/>
          </a:prstGeom>
          <a:noFill/>
          <a:ln/>
        </p:spPr>
        <p:txBody>
          <a:bodyPr wrap="square" lIns="25400" tIns="25400" rIns="25400" bIns="25400" rtlCol="0" anchor="t">
            <a:normAutofit/>
          </a:bodyPr>
          <a:lstStyle/>
          <a:p>
            <a:pPr marL="0" indent="0" algn="l">
              <a:lnSpc>
                <a:spcPct val="133472"/>
              </a:lnSpc>
              <a:buNone/>
            </a:pPr>
            <a:r>
              <a:rPr lang="en-US" sz="2325" b="1" dirty="0">
                <a:solidFill>
                  <a:srgbClr val="8A5A2E"/>
                </a:solidFill>
                <a:latin typeface="Times New Roman" pitchFamily="34" charset="0"/>
                <a:ea typeface="Times New Roman" pitchFamily="34" charset="-122"/>
                <a:cs typeface="Times New Roman" pitchFamily="34" charset="-120"/>
              </a:rPr>
              <a:t>Một giai đoạn</a:t>
            </a:r>
            <a:endParaRPr lang="en-US" sz="2325" dirty="0"/>
          </a:p>
        </p:txBody>
      </p:sp>
      <p:sp>
        <p:nvSpPr>
          <p:cNvPr id="30" name="Text 28"/>
          <p:cNvSpPr/>
          <p:nvPr/>
        </p:nvSpPr>
        <p:spPr>
          <a:xfrm>
            <a:off x="1028700" y="6445091"/>
            <a:ext cx="5036103" cy="1198245"/>
          </a:xfrm>
          <a:prstGeom prst="rect">
            <a:avLst/>
          </a:prstGeom>
          <a:noFill/>
          <a:ln/>
        </p:spPr>
        <p:txBody>
          <a:bodyPr wrap="square" lIns="25400" tIns="25400" rIns="25400" bIns="25400" rtlCol="0" anchor="t">
            <a:normAutofit/>
          </a:bodyPr>
          <a:lstStyle/>
          <a:p>
            <a:pPr marL="0" indent="0" algn="l">
              <a:lnSpc>
                <a:spcPct val="120833"/>
              </a:lnSpc>
              <a:buNone/>
            </a:pPr>
            <a:r>
              <a:rPr lang="en-US" sz="2175" dirty="0">
                <a:solidFill>
                  <a:srgbClr val="4A443F"/>
                </a:solidFill>
                <a:latin typeface="Times New Roman" pitchFamily="34" charset="0"/>
                <a:ea typeface="Times New Roman" pitchFamily="34" charset="-122"/>
                <a:cs typeface="Times New Roman" pitchFamily="34" charset="-120"/>
              </a:rPr>
              <a:t>Cả ảnh đi qua mạng đúng một lần, không có bước đề xuất vùng riêng — đây là lý do tốc độ đủ cho thời gian thực.</a:t>
            </a:r>
            <a:endParaRPr lang="en-US" sz="2175" dirty="0"/>
          </a:p>
        </p:txBody>
      </p:sp>
      <p:sp>
        <p:nvSpPr>
          <p:cNvPr id="31" name="Shape 29"/>
          <p:cNvSpPr/>
          <p:nvPr/>
        </p:nvSpPr>
        <p:spPr>
          <a:xfrm>
            <a:off x="6432471" y="5682615"/>
            <a:ext cx="5422940" cy="2151221"/>
          </a:xfrm>
          <a:prstGeom prst="roundRect">
            <a:avLst>
              <a:gd name="adj" fmla="val 8855"/>
            </a:avLst>
          </a:prstGeom>
          <a:solidFill>
            <a:srgbClr val="E4E8D8"/>
          </a:solidFill>
          <a:ln/>
        </p:spPr>
      </p:sp>
      <p:sp>
        <p:nvSpPr>
          <p:cNvPr id="32" name="Text 30"/>
          <p:cNvSpPr/>
          <p:nvPr/>
        </p:nvSpPr>
        <p:spPr>
          <a:xfrm>
            <a:off x="6699171" y="5911215"/>
            <a:ext cx="5378494" cy="495776"/>
          </a:xfrm>
          <a:prstGeom prst="rect">
            <a:avLst/>
          </a:prstGeom>
          <a:noFill/>
          <a:ln/>
        </p:spPr>
        <p:txBody>
          <a:bodyPr wrap="square" lIns="25400" tIns="25400" rIns="25400" bIns="25400" rtlCol="0" anchor="t">
            <a:normAutofit/>
          </a:bodyPr>
          <a:lstStyle/>
          <a:p>
            <a:pPr marL="0" indent="0" algn="l">
              <a:lnSpc>
                <a:spcPct val="133472"/>
              </a:lnSpc>
              <a:buNone/>
            </a:pPr>
            <a:r>
              <a:rPr lang="en-US" sz="2325" b="1" dirty="0">
                <a:solidFill>
                  <a:srgbClr val="4C5A35"/>
                </a:solidFill>
                <a:latin typeface="Times New Roman" pitchFamily="34" charset="0"/>
                <a:ea typeface="Times New Roman" pitchFamily="34" charset="-122"/>
                <a:cs typeface="Times New Roman" pitchFamily="34" charset="-120"/>
              </a:rPr>
              <a:t>Bản n (nano)</a:t>
            </a:r>
            <a:endParaRPr lang="en-US" sz="2325" dirty="0"/>
          </a:p>
        </p:txBody>
      </p:sp>
      <p:sp>
        <p:nvSpPr>
          <p:cNvPr id="33" name="Text 31"/>
          <p:cNvSpPr/>
          <p:nvPr/>
        </p:nvSpPr>
        <p:spPr>
          <a:xfrm>
            <a:off x="6699171" y="6445091"/>
            <a:ext cx="5036226" cy="811530"/>
          </a:xfrm>
          <a:prstGeom prst="rect">
            <a:avLst/>
          </a:prstGeom>
          <a:noFill/>
          <a:ln/>
        </p:spPr>
        <p:txBody>
          <a:bodyPr wrap="square" lIns="25400" tIns="25400" rIns="25400" bIns="25400" rtlCol="0" anchor="t">
            <a:normAutofit/>
          </a:bodyPr>
          <a:lstStyle/>
          <a:p>
            <a:pPr marL="0" indent="0" algn="l">
              <a:lnSpc>
                <a:spcPct val="120833"/>
              </a:lnSpc>
              <a:buNone/>
            </a:pPr>
            <a:r>
              <a:rPr lang="en-US" sz="2175" dirty="0">
                <a:solidFill>
                  <a:srgbClr val="3A4429"/>
                </a:solidFill>
                <a:latin typeface="Times New Roman" pitchFamily="34" charset="0"/>
                <a:ea typeface="Times New Roman" pitchFamily="34" charset="-122"/>
                <a:cs typeface="Times New Roman" pitchFamily="34" charset="-120"/>
              </a:rPr>
              <a:t>Khoảng 3,2 triệu tham số — nhỏ nhất trong họ YOLOv8, đủ nhẹ để chạy CPU.</a:t>
            </a:r>
            <a:endParaRPr lang="en-US" sz="2175" dirty="0"/>
          </a:p>
        </p:txBody>
      </p:sp>
      <p:sp>
        <p:nvSpPr>
          <p:cNvPr id="34" name="Shape 32"/>
          <p:cNvSpPr/>
          <p:nvPr/>
        </p:nvSpPr>
        <p:spPr>
          <a:xfrm>
            <a:off x="12103060" y="5682615"/>
            <a:ext cx="5422940" cy="2151221"/>
          </a:xfrm>
          <a:prstGeom prst="roundRect">
            <a:avLst>
              <a:gd name="adj" fmla="val 8855"/>
            </a:avLst>
          </a:prstGeom>
          <a:solidFill>
            <a:srgbClr val="EFE0C6"/>
          </a:solidFill>
          <a:ln/>
        </p:spPr>
      </p:sp>
      <p:sp>
        <p:nvSpPr>
          <p:cNvPr id="35" name="Text 33"/>
          <p:cNvSpPr/>
          <p:nvPr/>
        </p:nvSpPr>
        <p:spPr>
          <a:xfrm>
            <a:off x="12369760" y="5911215"/>
            <a:ext cx="5378494" cy="495776"/>
          </a:xfrm>
          <a:prstGeom prst="rect">
            <a:avLst/>
          </a:prstGeom>
          <a:noFill/>
          <a:ln/>
        </p:spPr>
        <p:txBody>
          <a:bodyPr wrap="square" lIns="25400" tIns="25400" rIns="25400" bIns="25400" rtlCol="0" anchor="t">
            <a:normAutofit/>
          </a:bodyPr>
          <a:lstStyle/>
          <a:p>
            <a:pPr marL="0" indent="0" algn="l">
              <a:lnSpc>
                <a:spcPct val="133472"/>
              </a:lnSpc>
              <a:buNone/>
            </a:pPr>
            <a:r>
              <a:rPr lang="en-US" sz="2325" b="1" dirty="0">
                <a:solidFill>
                  <a:srgbClr val="8A5A2E"/>
                </a:solidFill>
                <a:latin typeface="Times New Roman" pitchFamily="34" charset="0"/>
                <a:ea typeface="Times New Roman" pitchFamily="34" charset="-122"/>
                <a:cs typeface="Times New Roman" pitchFamily="34" charset="-120"/>
              </a:rPr>
              <a:t>80 lớp COCO</a:t>
            </a:r>
            <a:endParaRPr lang="en-US" sz="2325" dirty="0"/>
          </a:p>
        </p:txBody>
      </p:sp>
      <p:sp>
        <p:nvSpPr>
          <p:cNvPr id="36" name="Text 34"/>
          <p:cNvSpPr/>
          <p:nvPr/>
        </p:nvSpPr>
        <p:spPr>
          <a:xfrm>
            <a:off x="12369760" y="6445091"/>
            <a:ext cx="5036226" cy="1198245"/>
          </a:xfrm>
          <a:prstGeom prst="rect">
            <a:avLst/>
          </a:prstGeom>
          <a:noFill/>
          <a:ln/>
        </p:spPr>
        <p:txBody>
          <a:bodyPr wrap="square" lIns="25400" tIns="25400" rIns="25400" bIns="25400" rtlCol="0" anchor="t">
            <a:normAutofit/>
          </a:bodyPr>
          <a:lstStyle/>
          <a:p>
            <a:pPr marL="0" indent="0" algn="l">
              <a:lnSpc>
                <a:spcPct val="120833"/>
              </a:lnSpc>
              <a:buNone/>
            </a:pPr>
            <a:r>
              <a:rPr lang="en-US" sz="2175" dirty="0">
                <a:solidFill>
                  <a:srgbClr val="4A443F"/>
                </a:solidFill>
                <a:latin typeface="Times New Roman" pitchFamily="34" charset="0"/>
                <a:ea typeface="Times New Roman" pitchFamily="34" charset="-122"/>
                <a:cs typeface="Times New Roman" pitchFamily="34" charset="-120"/>
              </a:rPr>
              <a:t>Mô hình đã huấn luyện sẵn; chương trình chỉ giữ lớp person nên không phải huấn luyện lại.</a:t>
            </a:r>
            <a:endParaRPr lang="en-US" sz="21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6F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1150" r="-1150"/>
          <a:stretch/>
        </p:blipFill>
        <p:spPr>
          <a:xfrm>
            <a:off x="0" y="0"/>
            <a:ext cx="18288000" cy="10287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6F0"/>
        </a:solidFill>
        <a:effectLst/>
      </p:bgPr>
    </p:bg>
    <p:spTree>
      <p:nvGrpSpPr>
        <p:cNvPr id="1" name=""/>
        <p:cNvGrpSpPr/>
        <p:nvPr/>
      </p:nvGrpSpPr>
      <p:grpSpPr>
        <a:xfrm>
          <a:off x="0" y="0"/>
          <a:ext cx="0" cy="0"/>
          <a:chOff x="0" y="0"/>
          <a:chExt cx="0" cy="0"/>
        </a:xfrm>
      </p:grpSpPr>
      <p:sp>
        <p:nvSpPr>
          <p:cNvPr id="2" name="Text 0"/>
          <p:cNvSpPr/>
          <p:nvPr/>
        </p:nvSpPr>
        <p:spPr>
          <a:xfrm>
            <a:off x="914400" y="800100"/>
            <a:ext cx="18105120" cy="687705"/>
          </a:xfrm>
          <a:prstGeom prst="rect">
            <a:avLst/>
          </a:prstGeom>
          <a:noFill/>
          <a:ln/>
        </p:spPr>
        <p:txBody>
          <a:bodyPr wrap="square" lIns="25400" tIns="25400" rIns="25400" bIns="25400" rtlCol="0" anchor="t">
            <a:normAutofit/>
          </a:bodyPr>
          <a:lstStyle/>
          <a:p>
            <a:pPr marL="0" indent="0" algn="l">
              <a:lnSpc>
                <a:spcPct val="95787"/>
              </a:lnSpc>
              <a:buNone/>
            </a:pPr>
            <a:r>
              <a:rPr lang="en-US" sz="4650" b="1" kern="0" spc="-70" dirty="0">
                <a:solidFill>
                  <a:srgbClr val="201E1D"/>
                </a:solidFill>
                <a:latin typeface="Times New Roman" pitchFamily="34" charset="0"/>
                <a:ea typeface="Times New Roman" pitchFamily="34" charset="-122"/>
                <a:cs typeface="Times New Roman" pitchFamily="34" charset="-120"/>
              </a:rPr>
              <a:t>Lọc và gộp khung bao trùng nhau</a:t>
            </a:r>
            <a:endParaRPr lang="en-US" sz="4650" dirty="0"/>
          </a:p>
        </p:txBody>
      </p:sp>
      <p:sp>
        <p:nvSpPr>
          <p:cNvPr id="3" name="Text 1"/>
          <p:cNvSpPr/>
          <p:nvPr/>
        </p:nvSpPr>
        <p:spPr>
          <a:xfrm>
            <a:off x="914400" y="1868805"/>
            <a:ext cx="7825055" cy="952500"/>
          </a:xfrm>
          <a:prstGeom prst="rect">
            <a:avLst/>
          </a:prstGeom>
          <a:noFill/>
          <a:ln/>
        </p:spPr>
        <p:txBody>
          <a:bodyPr wrap="square" lIns="25400" tIns="25400" rIns="25400" bIns="25400" rtlCol="0" anchor="t">
            <a:normAutofit/>
          </a:bodyPr>
          <a:lstStyle/>
          <a:p>
            <a:pPr marL="0" indent="0" algn="l">
              <a:lnSpc>
                <a:spcPct val="127660"/>
              </a:lnSpc>
              <a:buNone/>
            </a:pPr>
            <a:r>
              <a:rPr lang="en-US" sz="2400" dirty="0">
                <a:solidFill>
                  <a:srgbClr val="4A443F"/>
                </a:solidFill>
                <a:latin typeface="Times New Roman" pitchFamily="34" charset="0"/>
                <a:ea typeface="Times New Roman" pitchFamily="34" charset="-122"/>
                <a:cs typeface="Times New Roman" pitchFamily="34" charset="-120"/>
              </a:rPr>
              <a:t>YOLO đôi khi tách một người thành hai khung bao, hoặc bắt riêng một cánh tay. Cả hai đều làm số đếm phồng lên.</a:t>
            </a:r>
            <a:endParaRPr lang="en-US" sz="2400" dirty="0"/>
          </a:p>
        </p:txBody>
      </p:sp>
      <p:sp>
        <p:nvSpPr>
          <p:cNvPr id="4" name="Shape 2"/>
          <p:cNvSpPr/>
          <p:nvPr/>
        </p:nvSpPr>
        <p:spPr>
          <a:xfrm>
            <a:off x="914400" y="3030855"/>
            <a:ext cx="7597140" cy="1405890"/>
          </a:xfrm>
          <a:prstGeom prst="roundRect">
            <a:avLst>
              <a:gd name="adj" fmla="val 13550"/>
            </a:avLst>
          </a:prstGeom>
          <a:solidFill>
            <a:srgbClr val="EFE0C6"/>
          </a:solidFill>
          <a:ln/>
        </p:spPr>
      </p:sp>
      <p:sp>
        <p:nvSpPr>
          <p:cNvPr id="5" name="Text 3"/>
          <p:cNvSpPr/>
          <p:nvPr/>
        </p:nvSpPr>
        <p:spPr>
          <a:xfrm>
            <a:off x="1181100" y="3259455"/>
            <a:ext cx="7770114" cy="510540"/>
          </a:xfrm>
          <a:prstGeom prst="rect">
            <a:avLst/>
          </a:prstGeom>
          <a:noFill/>
          <a:ln/>
        </p:spPr>
        <p:txBody>
          <a:bodyPr wrap="square" lIns="25400" tIns="25400" rIns="25400" bIns="25400" rtlCol="0" anchor="t">
            <a:normAutofit/>
          </a:bodyPr>
          <a:lstStyle/>
          <a:p>
            <a:pPr marL="0" indent="0" algn="l">
              <a:lnSpc>
                <a:spcPct val="131915"/>
              </a:lnSpc>
              <a:buNone/>
            </a:pPr>
            <a:r>
              <a:rPr lang="en-US" sz="2400" b="1" dirty="0">
                <a:solidFill>
                  <a:srgbClr val="8A5A2E"/>
                </a:solidFill>
                <a:latin typeface="Times New Roman" pitchFamily="34" charset="0"/>
                <a:ea typeface="Times New Roman" pitchFamily="34" charset="-122"/>
                <a:cs typeface="Times New Roman" pitchFamily="34" charset="-120"/>
              </a:rPr>
              <a:t>Lọc theo diện tích</a:t>
            </a:r>
            <a:endParaRPr lang="en-US" sz="2400" dirty="0"/>
          </a:p>
        </p:txBody>
      </p:sp>
      <p:sp>
        <p:nvSpPr>
          <p:cNvPr id="6" name="Text 4"/>
          <p:cNvSpPr/>
          <p:nvPr/>
        </p:nvSpPr>
        <p:spPr>
          <a:xfrm>
            <a:off x="1181100" y="3808095"/>
            <a:ext cx="7770114" cy="438150"/>
          </a:xfrm>
          <a:prstGeom prst="rect">
            <a:avLst/>
          </a:prstGeom>
          <a:noFill/>
          <a:ln/>
        </p:spPr>
        <p:txBody>
          <a:bodyPr wrap="square" lIns="25400" tIns="25400" rIns="25400" bIns="25400" rtlCol="0" anchor="t">
            <a:normAutofit/>
          </a:bodyPr>
          <a:lstStyle/>
          <a:p>
            <a:pPr marL="0" indent="0" algn="l">
              <a:lnSpc>
                <a:spcPct val="122093"/>
              </a:lnSpc>
              <a:buNone/>
            </a:pPr>
            <a:r>
              <a:rPr lang="en-US" sz="2250" dirty="0">
                <a:solidFill>
                  <a:srgbClr val="4A443F"/>
                </a:solidFill>
                <a:latin typeface="Times New Roman" pitchFamily="34" charset="0"/>
                <a:ea typeface="Times New Roman" pitchFamily="34" charset="-122"/>
                <a:cs typeface="Times New Roman" pitchFamily="34" charset="-120"/>
              </a:rPr>
              <a:t>Khung nhỏ hơn 4000 px² bị bỏ ngay từ đầu.</a:t>
            </a:r>
            <a:endParaRPr lang="en-US" sz="2250" dirty="0"/>
          </a:p>
        </p:txBody>
      </p:sp>
      <p:sp>
        <p:nvSpPr>
          <p:cNvPr id="7" name="Shape 5"/>
          <p:cNvSpPr/>
          <p:nvPr/>
        </p:nvSpPr>
        <p:spPr>
          <a:xfrm>
            <a:off x="914400" y="4684395"/>
            <a:ext cx="7597140" cy="1805940"/>
          </a:xfrm>
          <a:prstGeom prst="roundRect">
            <a:avLst>
              <a:gd name="adj" fmla="val 10549"/>
            </a:avLst>
          </a:prstGeom>
          <a:solidFill>
            <a:srgbClr val="E4E8D8"/>
          </a:solidFill>
          <a:ln/>
        </p:spPr>
      </p:sp>
      <p:sp>
        <p:nvSpPr>
          <p:cNvPr id="8" name="Text 6"/>
          <p:cNvSpPr/>
          <p:nvPr/>
        </p:nvSpPr>
        <p:spPr>
          <a:xfrm>
            <a:off x="1181100" y="4912995"/>
            <a:ext cx="7770114" cy="510540"/>
          </a:xfrm>
          <a:prstGeom prst="rect">
            <a:avLst/>
          </a:prstGeom>
          <a:noFill/>
          <a:ln/>
        </p:spPr>
        <p:txBody>
          <a:bodyPr wrap="square" lIns="25400" tIns="25400" rIns="25400" bIns="25400" rtlCol="0" anchor="t">
            <a:normAutofit/>
          </a:bodyPr>
          <a:lstStyle/>
          <a:p>
            <a:pPr marL="0" indent="0" algn="l">
              <a:lnSpc>
                <a:spcPct val="131915"/>
              </a:lnSpc>
              <a:buNone/>
            </a:pPr>
            <a:r>
              <a:rPr lang="en-US" sz="2400" b="1" dirty="0">
                <a:solidFill>
                  <a:srgbClr val="4C5A35"/>
                </a:solidFill>
                <a:latin typeface="Times New Roman" pitchFamily="34" charset="0"/>
                <a:ea typeface="Times New Roman" pitchFamily="34" charset="-122"/>
                <a:cs typeface="Times New Roman" pitchFamily="34" charset="-120"/>
              </a:rPr>
              <a:t>Gộp theo IoU với Union-Find</a:t>
            </a:r>
            <a:endParaRPr lang="en-US" sz="2400" dirty="0"/>
          </a:p>
        </p:txBody>
      </p:sp>
      <p:sp>
        <p:nvSpPr>
          <p:cNvPr id="9" name="Text 7"/>
          <p:cNvSpPr/>
          <p:nvPr/>
        </p:nvSpPr>
        <p:spPr>
          <a:xfrm>
            <a:off x="1181100" y="5461635"/>
            <a:ext cx="7275653" cy="838200"/>
          </a:xfrm>
          <a:prstGeom prst="rect">
            <a:avLst/>
          </a:prstGeom>
          <a:noFill/>
          <a:ln/>
        </p:spPr>
        <p:txBody>
          <a:bodyPr wrap="square" lIns="25400" tIns="25400" rIns="25400" bIns="25400" rtlCol="0" anchor="t">
            <a:normAutofit/>
          </a:bodyPr>
          <a:lstStyle/>
          <a:p>
            <a:pPr marL="0" indent="0" algn="l">
              <a:lnSpc>
                <a:spcPct val="122093"/>
              </a:lnSpc>
              <a:buNone/>
            </a:pPr>
            <a:r>
              <a:rPr lang="en-US" sz="2250" dirty="0">
                <a:solidFill>
                  <a:srgbClr val="3A4429"/>
                </a:solidFill>
                <a:latin typeface="Times New Roman" pitchFamily="34" charset="0"/>
                <a:ea typeface="Times New Roman" pitchFamily="34" charset="-122"/>
                <a:cs typeface="Times New Roman" pitchFamily="34" charset="-120"/>
              </a:rPr>
              <a:t>Mọi cặp khung có IoU &gt; 0.4 được gom về cùng một nhóm; mỗi nhóm chỉ giữ lại một khung đại diện.</a:t>
            </a:r>
            <a:endParaRPr lang="en-US" sz="2250" dirty="0"/>
          </a:p>
        </p:txBody>
      </p:sp>
      <p:sp>
        <p:nvSpPr>
          <p:cNvPr id="10" name="Shape 8"/>
          <p:cNvSpPr/>
          <p:nvPr/>
        </p:nvSpPr>
        <p:spPr>
          <a:xfrm>
            <a:off x="9770120" y="2608552"/>
            <a:ext cx="7003326" cy="4149348"/>
          </a:xfrm>
          <a:prstGeom prst="roundRect">
            <a:avLst>
              <a:gd name="adj" fmla="val 5682"/>
            </a:avLst>
          </a:prstGeom>
          <a:solidFill>
            <a:srgbClr val="26221F"/>
          </a:solidFill>
          <a:ln/>
          <a:effectLst>
            <a:outerShdw blurRad="323850" dist="133350" dir="5400000" algn="bl" rotWithShape="0">
              <a:srgbClr val="201E1D">
                <a:alpha val="18000"/>
              </a:srgbClr>
            </a:outerShdw>
          </a:effectLst>
        </p:spPr>
      </p:sp>
      <p:sp>
        <p:nvSpPr>
          <p:cNvPr id="11" name="Text 9"/>
          <p:cNvSpPr/>
          <p:nvPr/>
        </p:nvSpPr>
        <p:spPr>
          <a:xfrm>
            <a:off x="9983355" y="2825307"/>
            <a:ext cx="6517533" cy="3939958"/>
          </a:xfrm>
          <a:prstGeom prst="rect">
            <a:avLst/>
          </a:prstGeom>
          <a:noFill/>
          <a:ln/>
        </p:spPr>
        <p:txBody>
          <a:bodyPr wrap="none" lIns="25400" tIns="25400" rIns="25400" bIns="25400" rtlCol="0" anchor="t">
            <a:normAutofit fontScale="92500" lnSpcReduction="10000"/>
          </a:bodyPr>
          <a:lstStyle/>
          <a:p>
            <a:pPr>
              <a:lnSpc>
                <a:spcPct val="140000"/>
              </a:lnSpc>
            </a:pPr>
            <a:r>
              <a:rPr lang="en-US" sz="2400" dirty="0">
                <a:solidFill>
                  <a:schemeClr val="accent2">
                    <a:lumMod val="20000"/>
                    <a:lumOff val="80000"/>
                  </a:schemeClr>
                </a:solidFill>
                <a:latin typeface="Times New Roman"/>
                <a:ea typeface="Courier New" pitchFamily="34" charset="-122"/>
                <a:cs typeface="Times New Roman"/>
              </a:rPr>
              <a:t>#​ </a:t>
            </a:r>
            <a:r>
              <a:rPr lang="en-US" sz="2400" dirty="0" err="1">
                <a:solidFill>
                  <a:schemeClr val="accent2">
                    <a:lumMod val="20000"/>
                    <a:lumOff val="80000"/>
                  </a:schemeClr>
                </a:solidFill>
                <a:latin typeface="Times New Roman"/>
                <a:ea typeface="Courier New" pitchFamily="34" charset="-122"/>
                <a:cs typeface="Times New Roman"/>
              </a:rPr>
              <a:t>lọc</a:t>
            </a:r>
            <a:br>
              <a:rPr lang="en-US" sz="2400" dirty="0">
                <a:latin typeface="Times New Roman"/>
                <a:ea typeface="Courier New" pitchFamily="34" charset="-122"/>
                <a:cs typeface="Times New Roman"/>
              </a:rPr>
            </a:br>
            <a:r>
              <a:rPr lang="en-US" sz="2400" dirty="0">
                <a:solidFill>
                  <a:srgbClr val="F0E2CA"/>
                </a:solidFill>
                <a:latin typeface="Times New Roman"/>
                <a:ea typeface="Courier New" pitchFamily="34" charset="-122"/>
                <a:cs typeface="Times New Roman"/>
              </a:rPr>
              <a:t>inter = max(</a:t>
            </a:r>
            <a:r>
              <a:rPr lang="en-US" sz="2400" dirty="0">
                <a:solidFill>
                  <a:srgbClr val="A8BD83"/>
                </a:solidFill>
                <a:latin typeface="Times New Roman"/>
                <a:ea typeface="Courier New" pitchFamily="34" charset="-122"/>
                <a:cs typeface="Times New Roman"/>
              </a:rPr>
              <a:t>0</a:t>
            </a:r>
            <a:r>
              <a:rPr lang="en-US" sz="2400" dirty="0">
                <a:solidFill>
                  <a:srgbClr val="F0E2CA"/>
                </a:solidFill>
                <a:latin typeface="Times New Roman"/>
                <a:ea typeface="Courier New" pitchFamily="34" charset="-122"/>
                <a:cs typeface="Times New Roman"/>
              </a:rPr>
              <a:t>, x2 - x1) * max(</a:t>
            </a:r>
            <a:r>
              <a:rPr lang="en-US" sz="2400" dirty="0">
                <a:solidFill>
                  <a:srgbClr val="A8BD83"/>
                </a:solidFill>
                <a:latin typeface="Times New Roman"/>
                <a:ea typeface="Courier New" pitchFamily="34" charset="-122"/>
                <a:cs typeface="Times New Roman"/>
              </a:rPr>
              <a:t>0 </a:t>
            </a:r>
            <a:r>
              <a:rPr lang="en-US" sz="2400" dirty="0">
                <a:solidFill>
                  <a:srgbClr val="F0E2CA"/>
                </a:solidFill>
                <a:latin typeface="Times New Roman"/>
                <a:ea typeface="Courier New" pitchFamily="34" charset="-122"/>
                <a:cs typeface="Times New Roman"/>
              </a:rPr>
              <a:t>, y2 - y1)</a:t>
            </a:r>
            <a:endParaRPr lang="en-US" sz="2400">
              <a:latin typeface="Times New Roman"/>
              <a:cs typeface="Times New Roman"/>
            </a:endParaRPr>
          </a:p>
          <a:p>
            <a:pPr marL="0" indent="0" algn="l">
              <a:lnSpc>
                <a:spcPct val="140000"/>
              </a:lnSpc>
              <a:buNone/>
            </a:pPr>
            <a:r>
              <a:rPr lang="en-US" sz="2400" dirty="0">
                <a:solidFill>
                  <a:srgbClr val="F0E2CA"/>
                </a:solidFill>
                <a:latin typeface="Times New Roman"/>
                <a:ea typeface="Courier New" pitchFamily="34" charset="-122"/>
                <a:cs typeface="Times New Roman"/>
              </a:rPr>
              <a:t>union = </a:t>
            </a:r>
            <a:r>
              <a:rPr lang="en-US" sz="2400" dirty="0" err="1">
                <a:solidFill>
                  <a:srgbClr val="F0E2CA"/>
                </a:solidFill>
                <a:latin typeface="Times New Roman"/>
                <a:ea typeface="Courier New" pitchFamily="34" charset="-122"/>
                <a:cs typeface="Times New Roman"/>
              </a:rPr>
              <a:t>area_a</a:t>
            </a:r>
            <a:r>
              <a:rPr lang="en-US" sz="2400" dirty="0">
                <a:solidFill>
                  <a:srgbClr val="F0E2CA"/>
                </a:solidFill>
                <a:latin typeface="Times New Roman"/>
                <a:ea typeface="Courier New" pitchFamily="34" charset="-122"/>
                <a:cs typeface="Times New Roman"/>
              </a:rPr>
              <a:t> + </a:t>
            </a:r>
            <a:r>
              <a:rPr lang="en-US" sz="2400" dirty="0" err="1">
                <a:solidFill>
                  <a:srgbClr val="F0E2CA"/>
                </a:solidFill>
                <a:latin typeface="Times New Roman"/>
                <a:ea typeface="Courier New" pitchFamily="34" charset="-122"/>
                <a:cs typeface="Times New Roman"/>
              </a:rPr>
              <a:t>area_b</a:t>
            </a:r>
            <a:r>
              <a:rPr lang="en-US" sz="2400" dirty="0">
                <a:solidFill>
                  <a:srgbClr val="F0E2CA"/>
                </a:solidFill>
                <a:latin typeface="Times New Roman"/>
                <a:ea typeface="Courier New" pitchFamily="34" charset="-122"/>
                <a:cs typeface="Times New Roman"/>
              </a:rPr>
              <a:t> - inter</a:t>
            </a:r>
            <a:endParaRPr lang="en-US" sz="2400">
              <a:latin typeface="Times New Roman"/>
              <a:cs typeface="Times New Roman"/>
            </a:endParaRPr>
          </a:p>
          <a:p>
            <a:pPr marL="0" indent="0" algn="l">
              <a:lnSpc>
                <a:spcPct val="140000"/>
              </a:lnSpc>
              <a:buNone/>
            </a:pPr>
            <a:r>
              <a:rPr lang="en-US" sz="2400" dirty="0" err="1">
                <a:solidFill>
                  <a:srgbClr val="F0E2CA"/>
                </a:solidFill>
                <a:latin typeface="Times New Roman"/>
                <a:ea typeface="Courier New" pitchFamily="34" charset="-122"/>
                <a:cs typeface="Times New Roman"/>
              </a:rPr>
              <a:t>iou</a:t>
            </a:r>
            <a:r>
              <a:rPr lang="en-US" sz="2400" dirty="0">
                <a:solidFill>
                  <a:srgbClr val="F0E2CA"/>
                </a:solidFill>
                <a:latin typeface="Times New Roman"/>
                <a:ea typeface="Courier New" pitchFamily="34" charset="-122"/>
                <a:cs typeface="Times New Roman"/>
              </a:rPr>
              <a:t>   = inter / union </a:t>
            </a:r>
            <a:endParaRPr lang="en-US" sz="2400">
              <a:latin typeface="Times New Roman"/>
              <a:cs typeface="Times New Roman"/>
            </a:endParaRPr>
          </a:p>
          <a:p>
            <a:br>
              <a:rPr lang="en-US" sz="2100" dirty="0">
                <a:latin typeface="Courier New"/>
                <a:ea typeface="Courier New" pitchFamily="34" charset="-122"/>
                <a:cs typeface="Courier New"/>
              </a:rPr>
            </a:br>
            <a:r>
              <a:rPr lang="en-US" sz="2200" dirty="0">
                <a:solidFill>
                  <a:schemeClr val="accent2">
                    <a:lumMod val="20000"/>
                    <a:lumOff val="80000"/>
                  </a:schemeClr>
                </a:solidFill>
                <a:latin typeface="Times New Roman"/>
                <a:ea typeface="Courier New" pitchFamily="34" charset="-122"/>
                <a:cs typeface="Times New Roman"/>
              </a:rPr>
              <a:t># </a:t>
            </a:r>
            <a:r>
              <a:rPr lang="en-US" sz="2200" dirty="0" err="1">
                <a:solidFill>
                  <a:schemeClr val="accent2">
                    <a:lumMod val="20000"/>
                    <a:lumOff val="80000"/>
                  </a:schemeClr>
                </a:solidFill>
                <a:latin typeface="Times New Roman"/>
                <a:ea typeface="Courier New" pitchFamily="34" charset="-122"/>
                <a:cs typeface="Times New Roman"/>
              </a:rPr>
              <a:t>gom</a:t>
            </a:r>
            <a:r>
              <a:rPr lang="en-US" sz="2200" dirty="0">
                <a:solidFill>
                  <a:schemeClr val="accent2">
                    <a:lumMod val="20000"/>
                    <a:lumOff val="80000"/>
                  </a:schemeClr>
                </a:solidFill>
                <a:latin typeface="Times New Roman"/>
                <a:ea typeface="Courier New" pitchFamily="34" charset="-122"/>
                <a:cs typeface="Times New Roman"/>
              </a:rPr>
              <a:t> </a:t>
            </a:r>
            <a:r>
              <a:rPr lang="en-US" sz="2200" dirty="0" err="1">
                <a:solidFill>
                  <a:schemeClr val="accent2">
                    <a:lumMod val="20000"/>
                    <a:lumOff val="80000"/>
                  </a:schemeClr>
                </a:solidFill>
                <a:latin typeface="Times New Roman"/>
                <a:ea typeface="Courier New" pitchFamily="34" charset="-122"/>
                <a:cs typeface="Times New Roman"/>
              </a:rPr>
              <a:t>mọi</a:t>
            </a:r>
            <a:r>
              <a:rPr lang="en-US" sz="2200" dirty="0">
                <a:solidFill>
                  <a:schemeClr val="accent2">
                    <a:lumMod val="20000"/>
                    <a:lumOff val="80000"/>
                  </a:schemeClr>
                </a:solidFill>
                <a:latin typeface="Times New Roman"/>
                <a:ea typeface="Courier New" pitchFamily="34" charset="-122"/>
                <a:cs typeface="Times New Roman"/>
              </a:rPr>
              <a:t> </a:t>
            </a:r>
            <a:r>
              <a:rPr lang="en-US" sz="2200" dirty="0" err="1">
                <a:solidFill>
                  <a:schemeClr val="accent2">
                    <a:lumMod val="20000"/>
                    <a:lumOff val="80000"/>
                  </a:schemeClr>
                </a:solidFill>
                <a:latin typeface="Times New Roman"/>
                <a:ea typeface="Courier New" pitchFamily="34" charset="-122"/>
                <a:cs typeface="Times New Roman"/>
              </a:rPr>
              <a:t>cặp</a:t>
            </a:r>
            <a:r>
              <a:rPr lang="en-US" sz="2200" dirty="0">
                <a:solidFill>
                  <a:schemeClr val="accent2">
                    <a:lumMod val="20000"/>
                    <a:lumOff val="80000"/>
                  </a:schemeClr>
                </a:solidFill>
                <a:latin typeface="Times New Roman"/>
                <a:ea typeface="Courier New" pitchFamily="34" charset="-122"/>
                <a:cs typeface="Times New Roman"/>
              </a:rPr>
              <a:t> </a:t>
            </a:r>
            <a:r>
              <a:rPr lang="en-US" sz="2200" dirty="0" err="1">
                <a:solidFill>
                  <a:schemeClr val="accent2">
                    <a:lumMod val="20000"/>
                    <a:lumOff val="80000"/>
                  </a:schemeClr>
                </a:solidFill>
                <a:latin typeface="Times New Roman"/>
                <a:ea typeface="Courier New" pitchFamily="34" charset="-122"/>
                <a:cs typeface="Times New Roman"/>
              </a:rPr>
              <a:t>chồng</a:t>
            </a:r>
            <a:r>
              <a:rPr lang="en-US" sz="2200" dirty="0">
                <a:solidFill>
                  <a:schemeClr val="accent2">
                    <a:lumMod val="20000"/>
                    <a:lumOff val="80000"/>
                  </a:schemeClr>
                </a:solidFill>
                <a:latin typeface="Times New Roman"/>
                <a:ea typeface="Courier New" pitchFamily="34" charset="-122"/>
                <a:cs typeface="Times New Roman"/>
              </a:rPr>
              <a:t> </a:t>
            </a:r>
            <a:r>
              <a:rPr lang="en-US" sz="2200" dirty="0" err="1">
                <a:solidFill>
                  <a:schemeClr val="accent2">
                    <a:lumMod val="20000"/>
                    <a:lumOff val="80000"/>
                  </a:schemeClr>
                </a:solidFill>
                <a:latin typeface="Times New Roman"/>
                <a:ea typeface="Courier New" pitchFamily="34" charset="-122"/>
                <a:cs typeface="Times New Roman"/>
              </a:rPr>
              <a:t>nhau</a:t>
            </a:r>
            <a:r>
              <a:rPr lang="en-US" sz="2200" dirty="0">
                <a:solidFill>
                  <a:schemeClr val="accent2">
                    <a:lumMod val="20000"/>
                    <a:lumOff val="80000"/>
                  </a:schemeClr>
                </a:solidFill>
                <a:latin typeface="Times New Roman"/>
                <a:ea typeface="Courier New" pitchFamily="34" charset="-122"/>
                <a:cs typeface="Times New Roman"/>
              </a:rPr>
              <a:t> </a:t>
            </a:r>
            <a:r>
              <a:rPr lang="en-US" sz="2200" dirty="0" err="1">
                <a:solidFill>
                  <a:schemeClr val="accent2">
                    <a:lumMod val="20000"/>
                    <a:lumOff val="80000"/>
                  </a:schemeClr>
                </a:solidFill>
                <a:latin typeface="Times New Roman"/>
                <a:ea typeface="Courier New" pitchFamily="34" charset="-122"/>
                <a:cs typeface="Times New Roman"/>
              </a:rPr>
              <a:t>về</a:t>
            </a:r>
            <a:r>
              <a:rPr lang="en-US" sz="2200" dirty="0">
                <a:solidFill>
                  <a:schemeClr val="accent2">
                    <a:lumMod val="20000"/>
                    <a:lumOff val="80000"/>
                  </a:schemeClr>
                </a:solidFill>
                <a:latin typeface="Times New Roman"/>
                <a:ea typeface="Courier New" pitchFamily="34" charset="-122"/>
                <a:cs typeface="Times New Roman"/>
              </a:rPr>
              <a:t> </a:t>
            </a:r>
            <a:r>
              <a:rPr lang="en-US" sz="2200" dirty="0" err="1">
                <a:solidFill>
                  <a:schemeClr val="accent2">
                    <a:lumMod val="20000"/>
                    <a:lumOff val="80000"/>
                  </a:schemeClr>
                </a:solidFill>
                <a:latin typeface="Times New Roman"/>
                <a:ea typeface="Courier New" pitchFamily="34" charset="-122"/>
                <a:cs typeface="Times New Roman"/>
              </a:rPr>
              <a:t>một</a:t>
            </a:r>
            <a:r>
              <a:rPr lang="en-US" sz="2200" dirty="0">
                <a:solidFill>
                  <a:schemeClr val="accent2">
                    <a:lumMod val="20000"/>
                    <a:lumOff val="80000"/>
                  </a:schemeClr>
                </a:solidFill>
                <a:latin typeface="Times New Roman"/>
                <a:ea typeface="Courier New" pitchFamily="34" charset="-122"/>
                <a:cs typeface="Times New Roman"/>
              </a:rPr>
              <a:t> </a:t>
            </a:r>
            <a:r>
              <a:rPr lang="en-US" sz="2200" dirty="0" err="1">
                <a:solidFill>
                  <a:schemeClr val="accent2">
                    <a:lumMod val="20000"/>
                    <a:lumOff val="80000"/>
                  </a:schemeClr>
                </a:solidFill>
                <a:latin typeface="Times New Roman"/>
                <a:ea typeface="Courier New" pitchFamily="34" charset="-122"/>
                <a:cs typeface="Times New Roman"/>
              </a:rPr>
              <a:t>nhóm</a:t>
            </a:r>
            <a:r>
              <a:rPr lang="en-US" sz="2100" dirty="0">
                <a:solidFill>
                  <a:srgbClr val="9A8F80"/>
                </a:solidFill>
                <a:latin typeface="Courier New"/>
                <a:ea typeface="Courier New" pitchFamily="34" charset="-122"/>
                <a:cs typeface="Courier New"/>
              </a:rPr>
              <a:t> </a:t>
            </a:r>
            <a:br>
              <a:rPr lang="en-US" dirty="0"/>
            </a:br>
            <a:r>
              <a:rPr lang="en-US" dirty="0">
                <a:ea typeface="+mn-lt"/>
                <a:cs typeface="+mn-lt"/>
              </a:rPr>
              <a:t> </a:t>
            </a:r>
            <a:endParaRPr lang="en-US" sz="2100">
              <a:solidFill>
                <a:srgbClr val="F0E2CA"/>
              </a:solidFill>
              <a:latin typeface="Courier New"/>
              <a:ea typeface="Calibri"/>
              <a:cs typeface="Courier New"/>
            </a:endParaRPr>
          </a:p>
          <a:p>
            <a:r>
              <a:rPr lang="en-US" sz="2400" dirty="0">
                <a:solidFill>
                  <a:schemeClr val="accent2">
                    <a:lumMod val="20000"/>
                    <a:lumOff val="80000"/>
                  </a:schemeClr>
                </a:solidFill>
                <a:latin typeface="Times New Roman"/>
                <a:ea typeface="+mn-lt"/>
                <a:cs typeface="Times New Roman"/>
              </a:rPr>
              <a:t>for </a:t>
            </a:r>
            <a:r>
              <a:rPr lang="en-US" sz="2400" dirty="0" err="1">
                <a:solidFill>
                  <a:schemeClr val="accent2">
                    <a:lumMod val="20000"/>
                    <a:lumOff val="80000"/>
                  </a:schemeClr>
                </a:solidFill>
                <a:latin typeface="Times New Roman"/>
                <a:ea typeface="+mn-lt"/>
                <a:cs typeface="Times New Roman"/>
              </a:rPr>
              <a:t>i</a:t>
            </a:r>
            <a:r>
              <a:rPr lang="en-US" sz="2400" dirty="0">
                <a:solidFill>
                  <a:schemeClr val="accent2">
                    <a:lumMod val="20000"/>
                    <a:lumOff val="80000"/>
                  </a:schemeClr>
                </a:solidFill>
                <a:latin typeface="Times New Roman"/>
                <a:ea typeface="+mn-lt"/>
                <a:cs typeface="Times New Roman"/>
              </a:rPr>
              <a:t> in range(n):</a:t>
            </a:r>
            <a:endParaRPr lang="en-US" sz="2400">
              <a:solidFill>
                <a:schemeClr val="accent2">
                  <a:lumMod val="20000"/>
                  <a:lumOff val="80000"/>
                </a:schemeClr>
              </a:solidFill>
              <a:latin typeface="Times New Roman"/>
              <a:cs typeface="Times New Roman"/>
            </a:endParaRPr>
          </a:p>
          <a:p>
            <a:r>
              <a:rPr lang="en-US" sz="2400" dirty="0">
                <a:solidFill>
                  <a:schemeClr val="accent2">
                    <a:lumMod val="20000"/>
                    <a:lumOff val="80000"/>
                  </a:schemeClr>
                </a:solidFill>
                <a:latin typeface="Times New Roman"/>
                <a:ea typeface="+mn-lt"/>
                <a:cs typeface="Times New Roman"/>
              </a:rPr>
              <a:t>        for j in range(</a:t>
            </a:r>
            <a:r>
              <a:rPr lang="en-US" sz="2400" dirty="0" err="1">
                <a:solidFill>
                  <a:schemeClr val="accent2">
                    <a:lumMod val="20000"/>
                    <a:lumOff val="80000"/>
                  </a:schemeClr>
                </a:solidFill>
                <a:latin typeface="Times New Roman"/>
                <a:ea typeface="+mn-lt"/>
                <a:cs typeface="Times New Roman"/>
              </a:rPr>
              <a:t>i</a:t>
            </a:r>
            <a:r>
              <a:rPr lang="en-US" sz="2400" dirty="0">
                <a:solidFill>
                  <a:schemeClr val="accent2">
                    <a:lumMod val="20000"/>
                    <a:lumOff val="80000"/>
                  </a:schemeClr>
                </a:solidFill>
                <a:latin typeface="Times New Roman"/>
                <a:ea typeface="+mn-lt"/>
                <a:cs typeface="Times New Roman"/>
              </a:rPr>
              <a:t> + 1, n):</a:t>
            </a:r>
            <a:endParaRPr lang="en-US" sz="2400">
              <a:solidFill>
                <a:schemeClr val="accent2">
                  <a:lumMod val="20000"/>
                  <a:lumOff val="80000"/>
                </a:schemeClr>
              </a:solidFill>
              <a:latin typeface="Times New Roman"/>
              <a:cs typeface="Times New Roman"/>
            </a:endParaRPr>
          </a:p>
          <a:p>
            <a:r>
              <a:rPr lang="en-US" sz="2400" dirty="0">
                <a:solidFill>
                  <a:schemeClr val="accent2">
                    <a:lumMod val="20000"/>
                    <a:lumOff val="80000"/>
                  </a:schemeClr>
                </a:solidFill>
                <a:latin typeface="Times New Roman"/>
                <a:ea typeface="+mn-lt"/>
                <a:cs typeface="Times New Roman"/>
              </a:rPr>
              <a:t>            if </a:t>
            </a:r>
            <a:r>
              <a:rPr lang="en-US" sz="2400" dirty="0" err="1">
                <a:solidFill>
                  <a:schemeClr val="accent2">
                    <a:lumMod val="20000"/>
                    <a:lumOff val="80000"/>
                  </a:schemeClr>
                </a:solidFill>
                <a:latin typeface="Times New Roman"/>
                <a:ea typeface="+mn-lt"/>
                <a:cs typeface="Times New Roman"/>
              </a:rPr>
              <a:t>compute_iou</a:t>
            </a:r>
            <a:r>
              <a:rPr lang="en-US" sz="2400" dirty="0">
                <a:solidFill>
                  <a:schemeClr val="accent2">
                    <a:lumMod val="20000"/>
                    <a:lumOff val="80000"/>
                  </a:schemeClr>
                </a:solidFill>
                <a:latin typeface="Times New Roman"/>
                <a:ea typeface="+mn-lt"/>
                <a:cs typeface="Times New Roman"/>
              </a:rPr>
              <a:t>(raw[</a:t>
            </a:r>
            <a:r>
              <a:rPr lang="en-US" sz="2400" dirty="0" err="1">
                <a:solidFill>
                  <a:schemeClr val="accent2">
                    <a:lumMod val="20000"/>
                    <a:lumOff val="80000"/>
                  </a:schemeClr>
                </a:solidFill>
                <a:latin typeface="Times New Roman"/>
                <a:ea typeface="+mn-lt"/>
                <a:cs typeface="Times New Roman"/>
              </a:rPr>
              <a:t>i</a:t>
            </a:r>
            <a:r>
              <a:rPr lang="en-US" sz="2400" dirty="0">
                <a:solidFill>
                  <a:schemeClr val="accent2">
                    <a:lumMod val="20000"/>
                    <a:lumOff val="80000"/>
                  </a:schemeClr>
                </a:solidFill>
                <a:latin typeface="Times New Roman"/>
                <a:ea typeface="+mn-lt"/>
                <a:cs typeface="Times New Roman"/>
              </a:rPr>
              <a:t>][:4], raw[j][:4]) &gt; </a:t>
            </a:r>
            <a:r>
              <a:rPr lang="en-US" sz="2400" dirty="0" err="1">
                <a:solidFill>
                  <a:schemeClr val="accent2">
                    <a:lumMod val="20000"/>
                    <a:lumOff val="80000"/>
                  </a:schemeClr>
                </a:solidFill>
                <a:latin typeface="Times New Roman"/>
                <a:ea typeface="+mn-lt"/>
                <a:cs typeface="Times New Roman"/>
              </a:rPr>
              <a:t>iou_th</a:t>
            </a:r>
            <a:r>
              <a:rPr lang="en-US" sz="2400" dirty="0">
                <a:solidFill>
                  <a:schemeClr val="accent2">
                    <a:lumMod val="20000"/>
                    <a:lumOff val="80000"/>
                  </a:schemeClr>
                </a:solidFill>
                <a:latin typeface="Times New Roman"/>
                <a:ea typeface="+mn-lt"/>
                <a:cs typeface="Times New Roman"/>
              </a:rPr>
              <a:t>:</a:t>
            </a:r>
            <a:endParaRPr lang="en-US" sz="2400">
              <a:solidFill>
                <a:schemeClr val="accent2">
                  <a:lumMod val="20000"/>
                  <a:lumOff val="80000"/>
                </a:schemeClr>
              </a:solidFill>
              <a:latin typeface="Times New Roman"/>
              <a:cs typeface="Times New Roman"/>
            </a:endParaRPr>
          </a:p>
          <a:p>
            <a:pPr>
              <a:lnSpc>
                <a:spcPct val="140000"/>
              </a:lnSpc>
            </a:pPr>
            <a:r>
              <a:rPr lang="en-US" sz="2400" dirty="0">
                <a:solidFill>
                  <a:schemeClr val="accent2">
                    <a:lumMod val="20000"/>
                    <a:lumOff val="80000"/>
                  </a:schemeClr>
                </a:solidFill>
                <a:latin typeface="Times New Roman"/>
                <a:ea typeface="+mn-lt"/>
                <a:cs typeface="Times New Roman"/>
              </a:rPr>
              <a:t>                parent[find(</a:t>
            </a:r>
            <a:r>
              <a:rPr lang="en-US" sz="2400" dirty="0" err="1">
                <a:solidFill>
                  <a:schemeClr val="accent2">
                    <a:lumMod val="20000"/>
                    <a:lumOff val="80000"/>
                  </a:schemeClr>
                </a:solidFill>
                <a:latin typeface="Times New Roman"/>
                <a:ea typeface="+mn-lt"/>
                <a:cs typeface="Times New Roman"/>
              </a:rPr>
              <a:t>i</a:t>
            </a:r>
            <a:r>
              <a:rPr lang="en-US" sz="2400" dirty="0">
                <a:solidFill>
                  <a:schemeClr val="accent2">
                    <a:lumMod val="20000"/>
                    <a:lumOff val="80000"/>
                  </a:schemeClr>
                </a:solidFill>
                <a:latin typeface="Times New Roman"/>
                <a:ea typeface="+mn-lt"/>
                <a:cs typeface="Times New Roman"/>
              </a:rPr>
              <a:t>)] = find(j)</a:t>
            </a:r>
            <a:endParaRPr lang="en-US" sz="2400">
              <a:solidFill>
                <a:schemeClr val="accent2">
                  <a:lumMod val="20000"/>
                  <a:lumOff val="80000"/>
                </a:schemeClr>
              </a:solidFill>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6F0"/>
        </a:solidFill>
        <a:effectLst/>
      </p:bgPr>
    </p:bg>
    <p:spTree>
      <p:nvGrpSpPr>
        <p:cNvPr id="1" name=""/>
        <p:cNvGrpSpPr/>
        <p:nvPr/>
      </p:nvGrpSpPr>
      <p:grpSpPr>
        <a:xfrm>
          <a:off x="0" y="0"/>
          <a:ext cx="0" cy="0"/>
          <a:chOff x="0" y="0"/>
          <a:chExt cx="0" cy="0"/>
        </a:xfrm>
      </p:grpSpPr>
      <p:sp>
        <p:nvSpPr>
          <p:cNvPr id="2" name="Text 0"/>
          <p:cNvSpPr/>
          <p:nvPr/>
        </p:nvSpPr>
        <p:spPr>
          <a:xfrm>
            <a:off x="914400" y="800100"/>
            <a:ext cx="18105120" cy="451485"/>
          </a:xfrm>
          <a:prstGeom prst="rect">
            <a:avLst/>
          </a:prstGeom>
          <a:noFill/>
          <a:ln/>
        </p:spPr>
        <p:txBody>
          <a:bodyPr wrap="square" lIns="25400" tIns="25400" rIns="25400" bIns="25400" rtlCol="0" anchor="t">
            <a:normAutofit/>
          </a:bodyPr>
          <a:lstStyle/>
          <a:p>
            <a:pPr marL="0" indent="0" algn="l">
              <a:lnSpc>
                <a:spcPct val="135625"/>
              </a:lnSpc>
              <a:buNone/>
            </a:pPr>
            <a:r>
              <a:rPr lang="en-US" sz="2100" b="1" kern="0" spc="294" dirty="0">
                <a:solidFill>
                  <a:srgbClr val="8A5A2E"/>
                </a:solidFill>
                <a:latin typeface="Times New Roman" pitchFamily="34" charset="0"/>
                <a:ea typeface="Times New Roman" pitchFamily="34" charset="-122"/>
                <a:cs typeface="Times New Roman" pitchFamily="34" charset="-120"/>
              </a:rPr>
              <a:t>LÕI THUẬT TOÁN</a:t>
            </a:r>
            <a:endParaRPr lang="en-US" sz="2100" dirty="0"/>
          </a:p>
        </p:txBody>
      </p:sp>
      <p:sp>
        <p:nvSpPr>
          <p:cNvPr id="3" name="Text 1"/>
          <p:cNvSpPr/>
          <p:nvPr/>
        </p:nvSpPr>
        <p:spPr>
          <a:xfrm>
            <a:off x="914400" y="1346835"/>
            <a:ext cx="18105120" cy="687705"/>
          </a:xfrm>
          <a:prstGeom prst="rect">
            <a:avLst/>
          </a:prstGeom>
          <a:noFill/>
          <a:ln/>
        </p:spPr>
        <p:txBody>
          <a:bodyPr wrap="square" lIns="25400" tIns="25400" rIns="25400" bIns="25400" rtlCol="0" anchor="t">
            <a:normAutofit/>
          </a:bodyPr>
          <a:lstStyle/>
          <a:p>
            <a:pPr marL="0" indent="0" algn="l">
              <a:lnSpc>
                <a:spcPct val="95787"/>
              </a:lnSpc>
              <a:buNone/>
            </a:pPr>
            <a:r>
              <a:rPr lang="en-US" sz="4650" b="1" kern="0" spc="-70" dirty="0">
                <a:solidFill>
                  <a:srgbClr val="201E1D"/>
                </a:solidFill>
                <a:latin typeface="Times New Roman" pitchFamily="34" charset="0"/>
                <a:ea typeface="Times New Roman" pitchFamily="34" charset="-122"/>
                <a:cs typeface="Times New Roman" pitchFamily="34" charset="-120"/>
              </a:rPr>
              <a:t>Đếm khi tâm người vượt vạch</a:t>
            </a:r>
            <a:endParaRPr lang="en-US" sz="4650" dirty="0"/>
          </a:p>
        </p:txBody>
      </p:sp>
      <p:sp>
        <p:nvSpPr>
          <p:cNvPr id="4" name="Shape 2"/>
          <p:cNvSpPr/>
          <p:nvPr/>
        </p:nvSpPr>
        <p:spPr>
          <a:xfrm>
            <a:off x="914400" y="2415540"/>
            <a:ext cx="6791206" cy="4895850"/>
          </a:xfrm>
          <a:prstGeom prst="roundRect">
            <a:avLst>
              <a:gd name="adj" fmla="val 4669"/>
            </a:avLst>
          </a:prstGeom>
          <a:solidFill>
            <a:srgbClr val="E5D3B6"/>
          </a:solidFill>
          <a:ln/>
        </p:spPr>
      </p:sp>
      <p:sp>
        <p:nvSpPr>
          <p:cNvPr id="5" name="Shape 3"/>
          <p:cNvSpPr/>
          <p:nvPr/>
        </p:nvSpPr>
        <p:spPr>
          <a:xfrm>
            <a:off x="1238250" y="2739390"/>
            <a:ext cx="6143506" cy="2857500"/>
          </a:xfrm>
          <a:prstGeom prst="roundRect">
            <a:avLst>
              <a:gd name="adj" fmla="val 6000"/>
            </a:avLst>
          </a:prstGeom>
          <a:solidFill>
            <a:srgbClr val="F5EAD8"/>
          </a:solidFill>
          <a:ln/>
        </p:spPr>
      </p:sp>
      <p:sp>
        <p:nvSpPr>
          <p:cNvPr id="6" name="Shape 4"/>
          <p:cNvSpPr/>
          <p:nvPr/>
        </p:nvSpPr>
        <p:spPr>
          <a:xfrm>
            <a:off x="1238250" y="4168140"/>
            <a:ext cx="6143506" cy="47625"/>
          </a:xfrm>
          <a:prstGeom prst="rect">
            <a:avLst/>
          </a:prstGeom>
          <a:solidFill>
            <a:srgbClr val="C0392B"/>
          </a:solidFill>
          <a:ln/>
        </p:spPr>
      </p:sp>
      <p:sp>
        <p:nvSpPr>
          <p:cNvPr id="7" name="Text 5"/>
          <p:cNvSpPr/>
          <p:nvPr/>
        </p:nvSpPr>
        <p:spPr>
          <a:xfrm>
            <a:off x="6249948" y="4301490"/>
            <a:ext cx="1036558" cy="451485"/>
          </a:xfrm>
          <a:prstGeom prst="rect">
            <a:avLst/>
          </a:prstGeom>
          <a:noFill/>
          <a:ln/>
        </p:spPr>
        <p:txBody>
          <a:bodyPr wrap="square" lIns="25400" tIns="25400" rIns="25400" bIns="25400" rtlCol="0" anchor="t">
            <a:normAutofit/>
          </a:bodyPr>
          <a:lstStyle/>
          <a:p>
            <a:pPr marL="0" indent="0" algn="l">
              <a:lnSpc>
                <a:spcPct val="135625"/>
              </a:lnSpc>
              <a:buNone/>
            </a:pPr>
            <a:r>
              <a:rPr lang="en-US" sz="2100" b="1" dirty="0">
                <a:solidFill>
                  <a:srgbClr val="C0392B"/>
                </a:solidFill>
                <a:latin typeface="Courier New" pitchFamily="34" charset="0"/>
                <a:ea typeface="Courier New" pitchFamily="34" charset="-122"/>
                <a:cs typeface="Courier New" pitchFamily="34" charset="-120"/>
              </a:rPr>
              <a:t>line_y</a:t>
            </a:r>
            <a:endParaRPr lang="en-US" sz="2100" dirty="0"/>
          </a:p>
        </p:txBody>
      </p:sp>
      <p:sp>
        <p:nvSpPr>
          <p:cNvPr id="8" name="Shape 6"/>
          <p:cNvSpPr/>
          <p:nvPr/>
        </p:nvSpPr>
        <p:spPr>
          <a:xfrm>
            <a:off x="2476500" y="3139440"/>
            <a:ext cx="247650" cy="247650"/>
          </a:xfrm>
          <a:prstGeom prst="ellipse">
            <a:avLst/>
          </a:prstGeom>
          <a:solidFill>
            <a:srgbClr val="7A8A5E"/>
          </a:solidFill>
          <a:ln/>
        </p:spPr>
      </p:sp>
      <p:sp>
        <p:nvSpPr>
          <p:cNvPr id="9" name="Text 7"/>
          <p:cNvSpPr/>
          <p:nvPr/>
        </p:nvSpPr>
        <p:spPr>
          <a:xfrm>
            <a:off x="2876550" y="3120390"/>
            <a:ext cx="1036320" cy="451485"/>
          </a:xfrm>
          <a:prstGeom prst="rect">
            <a:avLst/>
          </a:prstGeom>
          <a:noFill/>
          <a:ln/>
        </p:spPr>
        <p:txBody>
          <a:bodyPr wrap="square" lIns="25400" tIns="25400" rIns="25400" bIns="25400" rtlCol="0" anchor="t">
            <a:normAutofit/>
          </a:bodyPr>
          <a:lstStyle/>
          <a:p>
            <a:pPr marL="0" indent="0" algn="l">
              <a:lnSpc>
                <a:spcPct val="135625"/>
              </a:lnSpc>
              <a:buNone/>
            </a:pPr>
            <a:r>
              <a:rPr lang="en-US" sz="2100" dirty="0">
                <a:solidFill>
                  <a:srgbClr val="4C5A35"/>
                </a:solidFill>
                <a:latin typeface="Courier New" pitchFamily="34" charset="0"/>
                <a:ea typeface="Courier New" pitchFamily="34" charset="-122"/>
                <a:cs typeface="Courier New" pitchFamily="34" charset="-120"/>
              </a:rPr>
              <a:t>prev_y</a:t>
            </a:r>
            <a:endParaRPr lang="en-US" sz="2100" dirty="0"/>
          </a:p>
        </p:txBody>
      </p:sp>
      <p:sp>
        <p:nvSpPr>
          <p:cNvPr id="10" name="Shape 8"/>
          <p:cNvSpPr/>
          <p:nvPr/>
        </p:nvSpPr>
        <p:spPr>
          <a:xfrm>
            <a:off x="2476500" y="4853940"/>
            <a:ext cx="247650" cy="247650"/>
          </a:xfrm>
          <a:prstGeom prst="ellipse">
            <a:avLst/>
          </a:prstGeom>
          <a:solidFill>
            <a:srgbClr val="C67139"/>
          </a:solidFill>
          <a:ln/>
        </p:spPr>
      </p:sp>
      <p:sp>
        <p:nvSpPr>
          <p:cNvPr id="11" name="Text 9"/>
          <p:cNvSpPr/>
          <p:nvPr/>
        </p:nvSpPr>
        <p:spPr>
          <a:xfrm>
            <a:off x="2876550" y="4707255"/>
            <a:ext cx="396240" cy="451485"/>
          </a:xfrm>
          <a:prstGeom prst="rect">
            <a:avLst/>
          </a:prstGeom>
          <a:noFill/>
          <a:ln/>
        </p:spPr>
        <p:txBody>
          <a:bodyPr wrap="square" lIns="25400" tIns="25400" rIns="25400" bIns="25400" rtlCol="0" anchor="t">
            <a:normAutofit/>
          </a:bodyPr>
          <a:lstStyle/>
          <a:p>
            <a:pPr marL="0" indent="0" algn="l">
              <a:lnSpc>
                <a:spcPct val="135625"/>
              </a:lnSpc>
              <a:buNone/>
            </a:pPr>
            <a:r>
              <a:rPr lang="en-US" sz="2100" dirty="0">
                <a:solidFill>
                  <a:srgbClr val="8A5A2E"/>
                </a:solidFill>
                <a:latin typeface="Courier New" pitchFamily="34" charset="0"/>
                <a:ea typeface="Courier New" pitchFamily="34" charset="-122"/>
                <a:cs typeface="Courier New" pitchFamily="34" charset="-120"/>
              </a:rPr>
              <a:t>cy</a:t>
            </a:r>
            <a:endParaRPr lang="en-US" sz="2100" dirty="0"/>
          </a:p>
        </p:txBody>
      </p:sp>
      <p:sp>
        <p:nvSpPr>
          <p:cNvPr id="12" name="Shape 10"/>
          <p:cNvSpPr/>
          <p:nvPr/>
        </p:nvSpPr>
        <p:spPr>
          <a:xfrm>
            <a:off x="2581275" y="3444240"/>
            <a:ext cx="38100" cy="1409700"/>
          </a:xfrm>
          <a:prstGeom prst="rect">
            <a:avLst/>
          </a:prstGeom>
          <a:solidFill>
            <a:srgbClr val="C67139"/>
          </a:solidFill>
          <a:ln/>
        </p:spPr>
      </p:sp>
      <p:sp>
        <p:nvSpPr>
          <p:cNvPr id="13" name="Text 11"/>
          <p:cNvSpPr/>
          <p:nvPr/>
        </p:nvSpPr>
        <p:spPr>
          <a:xfrm>
            <a:off x="1238250" y="5787390"/>
            <a:ext cx="6327811" cy="1238250"/>
          </a:xfrm>
          <a:prstGeom prst="rect">
            <a:avLst/>
          </a:prstGeom>
          <a:noFill/>
          <a:ln/>
        </p:spPr>
        <p:txBody>
          <a:bodyPr wrap="square" lIns="25400" tIns="25400" rIns="25400" bIns="25400" rtlCol="0" anchor="t">
            <a:normAutofit/>
          </a:bodyPr>
          <a:lstStyle/>
          <a:p>
            <a:pPr marL="0" indent="0" algn="l">
              <a:lnSpc>
                <a:spcPct val="122093"/>
              </a:lnSpc>
              <a:buNone/>
            </a:pPr>
            <a:r>
              <a:rPr lang="en-US" sz="2250" dirty="0">
                <a:solidFill>
                  <a:srgbClr val="4A443F"/>
                </a:solidFill>
                <a:latin typeface="Times New Roman" pitchFamily="34" charset="0"/>
                <a:ea typeface="Times New Roman" pitchFamily="34" charset="-122"/>
                <a:cs typeface="Times New Roman" pitchFamily="34" charset="-120"/>
              </a:rPr>
              <a:t>Tâm người cắt qua vạch đỏ theo một hướng là một lượt </a:t>
            </a:r>
            <a:r>
              <a:rPr lang="en-US" sz="2250" b="1" dirty="0">
                <a:solidFill>
                  <a:srgbClr val="4C5A35"/>
                </a:solidFill>
                <a:latin typeface="Times New Roman" pitchFamily="34" charset="0"/>
                <a:ea typeface="Times New Roman" pitchFamily="34" charset="-122"/>
                <a:cs typeface="Times New Roman" pitchFamily="34" charset="-120"/>
              </a:rPr>
              <a:t>VÀO</a:t>
            </a:r>
            <a:r>
              <a:rPr lang="en-US" sz="2250" dirty="0">
                <a:solidFill>
                  <a:srgbClr val="4A443F"/>
                </a:solidFill>
                <a:latin typeface="Times New Roman" pitchFamily="34" charset="0"/>
                <a:ea typeface="Times New Roman" pitchFamily="34" charset="-122"/>
                <a:cs typeface="Times New Roman" pitchFamily="34" charset="-120"/>
              </a:rPr>
              <a:t>, hướng ngược lại là một lượt </a:t>
            </a:r>
            <a:r>
              <a:rPr lang="en-US" sz="2250" b="1" dirty="0">
                <a:solidFill>
                  <a:srgbClr val="8A5A2E"/>
                </a:solidFill>
                <a:latin typeface="Times New Roman" pitchFamily="34" charset="0"/>
                <a:ea typeface="Times New Roman" pitchFamily="34" charset="-122"/>
                <a:cs typeface="Times New Roman" pitchFamily="34" charset="-120"/>
              </a:rPr>
              <a:t>RA </a:t>
            </a:r>
            <a:r>
              <a:rPr lang="en-US" sz="2250" dirty="0">
                <a:solidFill>
                  <a:srgbClr val="4A443F"/>
                </a:solidFill>
                <a:latin typeface="Times New Roman" pitchFamily="34" charset="0"/>
                <a:ea typeface="Times New Roman" pitchFamily="34" charset="-122"/>
                <a:cs typeface="Times New Roman" pitchFamily="34" charset="-120"/>
              </a:rPr>
              <a:t>— báo cáo quy ước đi từ dưới lên là khách vào.</a:t>
            </a:r>
            <a:endParaRPr lang="en-US" sz="2250" dirty="0"/>
          </a:p>
        </p:txBody>
      </p:sp>
      <p:sp>
        <p:nvSpPr>
          <p:cNvPr id="14" name="Shape 12"/>
          <p:cNvSpPr/>
          <p:nvPr/>
        </p:nvSpPr>
        <p:spPr>
          <a:xfrm>
            <a:off x="8676515" y="2415540"/>
            <a:ext cx="8125466" cy="6210443"/>
          </a:xfrm>
          <a:prstGeom prst="roundRect">
            <a:avLst>
              <a:gd name="adj" fmla="val 4239"/>
            </a:avLst>
          </a:prstGeom>
          <a:solidFill>
            <a:srgbClr val="26221F"/>
          </a:solidFill>
          <a:ln/>
          <a:effectLst>
            <a:outerShdw blurRad="323850" dist="133350" dir="5400000" algn="bl" rotWithShape="0">
              <a:srgbClr val="201E1D">
                <a:alpha val="18000"/>
              </a:srgbClr>
            </a:outerShdw>
          </a:effectLst>
        </p:spPr>
      </p:sp>
      <p:sp>
        <p:nvSpPr>
          <p:cNvPr id="15" name="Text 13"/>
          <p:cNvSpPr/>
          <p:nvPr/>
        </p:nvSpPr>
        <p:spPr>
          <a:xfrm>
            <a:off x="9443478" y="2781651"/>
            <a:ext cx="7166473" cy="5627579"/>
          </a:xfrm>
          <a:prstGeom prst="rect">
            <a:avLst/>
          </a:prstGeom>
          <a:noFill/>
          <a:ln/>
        </p:spPr>
        <p:txBody>
          <a:bodyPr wrap="none" lIns="25400" tIns="25400" rIns="25400" bIns="25400" rtlCol="0" anchor="t">
            <a:noAutofit/>
          </a:bodyPr>
          <a:lstStyle/>
          <a:p>
            <a:pPr algn="l">
              <a:buNone/>
            </a:pPr>
            <a:r>
              <a:rPr lang="en-US" sz="2400" dirty="0" err="1">
                <a:solidFill>
                  <a:schemeClr val="accent2">
                    <a:lumMod val="20000"/>
                    <a:lumOff val="80000"/>
                  </a:schemeClr>
                </a:solidFill>
                <a:latin typeface="Times New Roman"/>
                <a:ea typeface="+mn-lt"/>
                <a:cs typeface="Times New Roman"/>
              </a:rPr>
              <a:t>prev_y</a:t>
            </a:r>
            <a:r>
              <a:rPr lang="en-US" sz="2400" dirty="0">
                <a:solidFill>
                  <a:schemeClr val="accent2">
                    <a:lumMod val="20000"/>
                    <a:lumOff val="80000"/>
                  </a:schemeClr>
                </a:solidFill>
                <a:latin typeface="Times New Roman"/>
                <a:ea typeface="+mn-lt"/>
                <a:cs typeface="Times New Roman"/>
              </a:rPr>
              <a:t> = </a:t>
            </a:r>
            <a:r>
              <a:rPr lang="en-US" sz="2400" dirty="0" err="1">
                <a:solidFill>
                  <a:schemeClr val="accent2">
                    <a:lumMod val="20000"/>
                    <a:lumOff val="80000"/>
                  </a:schemeClr>
                </a:solidFill>
                <a:latin typeface="Times New Roman"/>
                <a:ea typeface="+mn-lt"/>
                <a:cs typeface="Times New Roman"/>
              </a:rPr>
              <a:t>track_history</a:t>
            </a:r>
            <a:r>
              <a:rPr lang="en-US" sz="2400" dirty="0">
                <a:solidFill>
                  <a:schemeClr val="accent2">
                    <a:lumMod val="20000"/>
                    <a:lumOff val="80000"/>
                  </a:schemeClr>
                </a:solidFill>
                <a:latin typeface="Times New Roman"/>
                <a:ea typeface="+mn-lt"/>
                <a:cs typeface="Times New Roman"/>
              </a:rPr>
              <a:t>[</a:t>
            </a:r>
            <a:r>
              <a:rPr lang="en-US" sz="2400" dirty="0" err="1">
                <a:solidFill>
                  <a:schemeClr val="accent2">
                    <a:lumMod val="20000"/>
                    <a:lumOff val="80000"/>
                  </a:schemeClr>
                </a:solidFill>
                <a:latin typeface="Times New Roman"/>
                <a:ea typeface="+mn-lt"/>
                <a:cs typeface="Times New Roman"/>
              </a:rPr>
              <a:t>track_id</a:t>
            </a:r>
            <a:r>
              <a:rPr lang="en-US" sz="2400" dirty="0">
                <a:solidFill>
                  <a:schemeClr val="accent2">
                    <a:lumMod val="20000"/>
                    <a:lumOff val="80000"/>
                  </a:schemeClr>
                </a:solidFill>
                <a:latin typeface="Times New Roman"/>
                <a:ea typeface="+mn-lt"/>
                <a:cs typeface="Times New Roman"/>
              </a:rPr>
              <a:t>][0]</a:t>
            </a:r>
            <a:endParaRPr lang="vi-VN" sz="2400">
              <a:solidFill>
                <a:schemeClr val="accent2">
                  <a:lumMod val="20000"/>
                  <a:lumOff val="80000"/>
                </a:schemeClr>
              </a:solidFill>
              <a:latin typeface="Times New Roman"/>
              <a:ea typeface="+mn-lt"/>
              <a:cs typeface="Times New Roman"/>
            </a:endParaRPr>
          </a:p>
          <a:p>
            <a:pPr>
              <a:lnSpc>
                <a:spcPct val="137664"/>
              </a:lnSpc>
            </a:pPr>
            <a:r>
              <a:rPr lang="en-US" sz="2400" dirty="0">
                <a:solidFill>
                  <a:schemeClr val="accent2">
                    <a:lumMod val="20000"/>
                    <a:lumOff val="80000"/>
                  </a:schemeClr>
                </a:solidFill>
                <a:latin typeface="Times New Roman"/>
                <a:ea typeface="+mn-lt"/>
                <a:cs typeface="Times New Roman"/>
              </a:rPr>
              <a:t>if </a:t>
            </a:r>
            <a:r>
              <a:rPr lang="en-US" sz="2400" dirty="0" err="1">
                <a:solidFill>
                  <a:schemeClr val="accent2">
                    <a:lumMod val="20000"/>
                    <a:lumOff val="80000"/>
                  </a:schemeClr>
                </a:solidFill>
                <a:latin typeface="Times New Roman"/>
                <a:ea typeface="+mn-lt"/>
                <a:cs typeface="Times New Roman"/>
              </a:rPr>
              <a:t>prev_y</a:t>
            </a:r>
            <a:r>
              <a:rPr lang="en-US" sz="2400" dirty="0">
                <a:solidFill>
                  <a:schemeClr val="accent2">
                    <a:lumMod val="20000"/>
                    <a:lumOff val="80000"/>
                  </a:schemeClr>
                </a:solidFill>
                <a:latin typeface="Times New Roman"/>
                <a:ea typeface="+mn-lt"/>
                <a:cs typeface="Times New Roman"/>
              </a:rPr>
              <a:t> &lt; </a:t>
            </a:r>
            <a:r>
              <a:rPr lang="en-US" sz="2400" dirty="0" err="1">
                <a:solidFill>
                  <a:schemeClr val="accent2">
                    <a:lumMod val="20000"/>
                    <a:lumOff val="80000"/>
                  </a:schemeClr>
                </a:solidFill>
                <a:latin typeface="Times New Roman"/>
                <a:ea typeface="+mn-lt"/>
                <a:cs typeface="Times New Roman"/>
              </a:rPr>
              <a:t>line_y</a:t>
            </a:r>
            <a:r>
              <a:rPr lang="en-US" sz="2400" dirty="0">
                <a:solidFill>
                  <a:schemeClr val="accent2">
                    <a:lumMod val="20000"/>
                    <a:lumOff val="80000"/>
                  </a:schemeClr>
                </a:solidFill>
                <a:latin typeface="Times New Roman"/>
                <a:ea typeface="+mn-lt"/>
                <a:cs typeface="Times New Roman"/>
              </a:rPr>
              <a:t> &lt;= cy:</a:t>
            </a:r>
            <a:r>
              <a:rPr lang="en-US" sz="2400" dirty="0">
                <a:solidFill>
                  <a:schemeClr val="accent2">
                    <a:lumMod val="20000"/>
                    <a:lumOff val="80000"/>
                  </a:schemeClr>
                </a:solidFill>
                <a:latin typeface="Times New Roman"/>
                <a:ea typeface="Courier New" pitchFamily="34" charset="-122"/>
                <a:cs typeface="Times New Roman"/>
              </a:rPr>
              <a:t>            # </a:t>
            </a:r>
            <a:r>
              <a:rPr lang="en-US" sz="2400" dirty="0" err="1">
                <a:solidFill>
                  <a:schemeClr val="accent2">
                    <a:lumMod val="20000"/>
                    <a:lumOff val="80000"/>
                  </a:schemeClr>
                </a:solidFill>
                <a:latin typeface="Times New Roman"/>
                <a:ea typeface="Courier New" pitchFamily="34" charset="-122"/>
                <a:cs typeface="Times New Roman"/>
              </a:rPr>
              <a:t>cắt</a:t>
            </a:r>
            <a:r>
              <a:rPr lang="en-US" sz="2400" dirty="0">
                <a:solidFill>
                  <a:schemeClr val="accent2">
                    <a:lumMod val="20000"/>
                    <a:lumOff val="80000"/>
                  </a:schemeClr>
                </a:solidFill>
                <a:latin typeface="Times New Roman"/>
                <a:ea typeface="Courier New" pitchFamily="34" charset="-122"/>
                <a:cs typeface="Times New Roman"/>
              </a:rPr>
              <a:t> </a:t>
            </a:r>
            <a:r>
              <a:rPr lang="en-US" sz="2400" dirty="0" err="1">
                <a:solidFill>
                  <a:schemeClr val="accent2">
                    <a:lumMod val="20000"/>
                    <a:lumOff val="80000"/>
                  </a:schemeClr>
                </a:solidFill>
                <a:latin typeface="Times New Roman"/>
                <a:ea typeface="Courier New" pitchFamily="34" charset="-122"/>
                <a:cs typeface="Times New Roman"/>
              </a:rPr>
              <a:t>vạch</a:t>
            </a:r>
            <a:r>
              <a:rPr lang="en-US" sz="2400" dirty="0">
                <a:solidFill>
                  <a:schemeClr val="accent2">
                    <a:lumMod val="20000"/>
                    <a:lumOff val="80000"/>
                  </a:schemeClr>
                </a:solidFill>
                <a:latin typeface="Times New Roman"/>
                <a:ea typeface="Courier New" pitchFamily="34" charset="-122"/>
                <a:cs typeface="Times New Roman"/>
              </a:rPr>
              <a:t> </a:t>
            </a:r>
            <a:r>
              <a:rPr lang="en-US" sz="2400" dirty="0" err="1">
                <a:solidFill>
                  <a:schemeClr val="accent2">
                    <a:lumMod val="20000"/>
                    <a:lumOff val="80000"/>
                  </a:schemeClr>
                </a:solidFill>
                <a:latin typeface="Times New Roman"/>
                <a:ea typeface="Courier New" pitchFamily="34" charset="-122"/>
                <a:cs typeface="Times New Roman"/>
              </a:rPr>
              <a:t>hướng</a:t>
            </a:r>
            <a:r>
              <a:rPr lang="en-US" sz="2400" dirty="0">
                <a:solidFill>
                  <a:schemeClr val="accent2">
                    <a:lumMod val="20000"/>
                    <a:lumOff val="80000"/>
                  </a:schemeClr>
                </a:solidFill>
                <a:latin typeface="Times New Roman"/>
                <a:ea typeface="Courier New" pitchFamily="34" charset="-122"/>
                <a:cs typeface="Times New Roman"/>
              </a:rPr>
              <a:t> 1 </a:t>
            </a:r>
          </a:p>
          <a:p>
            <a:pPr>
              <a:lnSpc>
                <a:spcPct val="137664"/>
              </a:lnSpc>
            </a:pPr>
            <a:endParaRPr lang="en-US" sz="2400" dirty="0">
              <a:solidFill>
                <a:schemeClr val="accent2">
                  <a:lumMod val="20000"/>
                  <a:lumOff val="80000"/>
                </a:schemeClr>
              </a:solidFill>
              <a:latin typeface="Times New Roman"/>
              <a:cs typeface="Times New Roman"/>
            </a:endParaRPr>
          </a:p>
          <a:p>
            <a:r>
              <a:rPr lang="en-US" sz="2400" dirty="0">
                <a:solidFill>
                  <a:schemeClr val="accent2">
                    <a:lumMod val="20000"/>
                    <a:lumOff val="80000"/>
                  </a:schemeClr>
                </a:solidFill>
                <a:latin typeface="Times New Roman"/>
                <a:ea typeface="+mn-lt"/>
                <a:cs typeface="Times New Roman"/>
              </a:rPr>
              <a:t>if </a:t>
            </a:r>
            <a:r>
              <a:rPr lang="en-US" sz="2400" dirty="0" err="1">
                <a:solidFill>
                  <a:schemeClr val="accent2">
                    <a:lumMod val="20000"/>
                    <a:lumOff val="80000"/>
                  </a:schemeClr>
                </a:solidFill>
                <a:latin typeface="Times New Roman"/>
                <a:ea typeface="+mn-lt"/>
                <a:cs typeface="Times New Roman"/>
              </a:rPr>
              <a:t>counted_direction.get</a:t>
            </a:r>
            <a:r>
              <a:rPr lang="en-US" sz="2400" dirty="0">
                <a:solidFill>
                  <a:schemeClr val="accent2">
                    <a:lumMod val="20000"/>
                    <a:lumOff val="80000"/>
                  </a:schemeClr>
                </a:solidFill>
                <a:latin typeface="Times New Roman"/>
                <a:ea typeface="+mn-lt"/>
                <a:cs typeface="Times New Roman"/>
              </a:rPr>
              <a:t>(</a:t>
            </a:r>
            <a:r>
              <a:rPr lang="en-US" sz="2400" dirty="0" err="1">
                <a:solidFill>
                  <a:schemeClr val="accent2">
                    <a:lumMod val="20000"/>
                    <a:lumOff val="80000"/>
                  </a:schemeClr>
                </a:solidFill>
                <a:latin typeface="Times New Roman"/>
                <a:ea typeface="+mn-lt"/>
                <a:cs typeface="Times New Roman"/>
              </a:rPr>
              <a:t>track_id</a:t>
            </a:r>
            <a:r>
              <a:rPr lang="en-US" sz="2400" dirty="0">
                <a:solidFill>
                  <a:schemeClr val="accent2">
                    <a:lumMod val="20000"/>
                    <a:lumOff val="80000"/>
                  </a:schemeClr>
                </a:solidFill>
                <a:latin typeface="Times New Roman"/>
                <a:ea typeface="+mn-lt"/>
                <a:cs typeface="Times New Roman"/>
              </a:rPr>
              <a:t>) != "in":</a:t>
            </a:r>
            <a:endParaRPr lang="en-US" sz="2400">
              <a:solidFill>
                <a:schemeClr val="accent2">
                  <a:lumMod val="20000"/>
                  <a:lumOff val="80000"/>
                </a:schemeClr>
              </a:solidFill>
              <a:latin typeface="Times New Roman"/>
              <a:ea typeface="Calibri"/>
              <a:cs typeface="Times New Roman"/>
            </a:endParaRPr>
          </a:p>
          <a:p>
            <a:r>
              <a:rPr lang="en-US" sz="2400" dirty="0">
                <a:solidFill>
                  <a:schemeClr val="accent2">
                    <a:lumMod val="20000"/>
                    <a:lumOff val="80000"/>
                  </a:schemeClr>
                </a:solidFill>
                <a:latin typeface="Times New Roman"/>
                <a:ea typeface="+mn-lt"/>
                <a:cs typeface="Times New Roman"/>
              </a:rPr>
              <a:t>                        </a:t>
            </a:r>
            <a:r>
              <a:rPr lang="en-US" sz="2400" dirty="0" err="1">
                <a:solidFill>
                  <a:schemeClr val="accent2">
                    <a:lumMod val="20000"/>
                    <a:lumOff val="80000"/>
                  </a:schemeClr>
                </a:solidFill>
                <a:latin typeface="Times New Roman"/>
                <a:ea typeface="+mn-lt"/>
                <a:cs typeface="Times New Roman"/>
              </a:rPr>
              <a:t>counted_direction</a:t>
            </a:r>
            <a:r>
              <a:rPr lang="en-US" sz="2400" dirty="0">
                <a:solidFill>
                  <a:schemeClr val="accent2">
                    <a:lumMod val="20000"/>
                    <a:lumOff val="80000"/>
                  </a:schemeClr>
                </a:solidFill>
                <a:latin typeface="Times New Roman"/>
                <a:ea typeface="+mn-lt"/>
                <a:cs typeface="Times New Roman"/>
              </a:rPr>
              <a:t>[</a:t>
            </a:r>
            <a:r>
              <a:rPr lang="en-US" sz="2400" dirty="0" err="1">
                <a:solidFill>
                  <a:schemeClr val="accent2">
                    <a:lumMod val="20000"/>
                    <a:lumOff val="80000"/>
                  </a:schemeClr>
                </a:solidFill>
                <a:latin typeface="Times New Roman"/>
                <a:ea typeface="+mn-lt"/>
                <a:cs typeface="Times New Roman"/>
              </a:rPr>
              <a:t>track_id</a:t>
            </a:r>
            <a:r>
              <a:rPr lang="en-US" sz="2400" dirty="0">
                <a:solidFill>
                  <a:schemeClr val="accent2">
                    <a:lumMod val="20000"/>
                    <a:lumOff val="80000"/>
                  </a:schemeClr>
                </a:solidFill>
                <a:latin typeface="Times New Roman"/>
                <a:ea typeface="+mn-lt"/>
                <a:cs typeface="Times New Roman"/>
              </a:rPr>
              <a:t>] = "in"</a:t>
            </a:r>
            <a:endParaRPr lang="en-US" sz="2400">
              <a:solidFill>
                <a:schemeClr val="accent2">
                  <a:lumMod val="20000"/>
                  <a:lumOff val="80000"/>
                </a:schemeClr>
              </a:solidFill>
              <a:latin typeface="Times New Roman"/>
              <a:ea typeface="Calibri"/>
              <a:cs typeface="Times New Roman"/>
            </a:endParaRPr>
          </a:p>
          <a:p>
            <a:r>
              <a:rPr lang="en-US" sz="2400" dirty="0">
                <a:solidFill>
                  <a:schemeClr val="accent2">
                    <a:lumMod val="20000"/>
                    <a:lumOff val="80000"/>
                  </a:schemeClr>
                </a:solidFill>
                <a:latin typeface="Times New Roman"/>
                <a:ea typeface="+mn-lt"/>
                <a:cs typeface="Times New Roman"/>
              </a:rPr>
              <a:t>                        </a:t>
            </a:r>
            <a:r>
              <a:rPr lang="en-US" sz="2400" dirty="0" err="1">
                <a:solidFill>
                  <a:schemeClr val="accent2">
                    <a:lumMod val="20000"/>
                    <a:lumOff val="80000"/>
                  </a:schemeClr>
                </a:solidFill>
                <a:latin typeface="Times New Roman"/>
                <a:ea typeface="+mn-lt"/>
                <a:cs typeface="Times New Roman"/>
              </a:rPr>
              <a:t>count_in</a:t>
            </a:r>
            <a:r>
              <a:rPr lang="en-US" sz="2400" dirty="0">
                <a:solidFill>
                  <a:schemeClr val="accent2">
                    <a:lumMod val="20000"/>
                    <a:lumOff val="80000"/>
                  </a:schemeClr>
                </a:solidFill>
                <a:latin typeface="Times New Roman"/>
                <a:ea typeface="+mn-lt"/>
                <a:cs typeface="Times New Roman"/>
              </a:rPr>
              <a:t> += 1</a:t>
            </a:r>
            <a:endParaRPr lang="en-US" sz="2400">
              <a:solidFill>
                <a:schemeClr val="accent2">
                  <a:lumMod val="20000"/>
                  <a:lumOff val="80000"/>
                </a:schemeClr>
              </a:solidFill>
              <a:latin typeface="Times New Roman"/>
              <a:ea typeface="Calibri"/>
              <a:cs typeface="Times New Roman"/>
            </a:endParaRPr>
          </a:p>
          <a:p>
            <a:r>
              <a:rPr lang="en-US" sz="2400" dirty="0">
                <a:solidFill>
                  <a:schemeClr val="accent2">
                    <a:lumMod val="20000"/>
                    <a:lumOff val="80000"/>
                  </a:schemeClr>
                </a:solidFill>
                <a:latin typeface="Times New Roman"/>
                <a:ea typeface="+mn-lt"/>
                <a:cs typeface="Times New Roman"/>
              </a:rPr>
              <a:t>                        </a:t>
            </a:r>
            <a:r>
              <a:rPr lang="en-US" sz="2400" dirty="0" err="1">
                <a:solidFill>
                  <a:schemeClr val="accent2">
                    <a:lumMod val="20000"/>
                    <a:lumOff val="80000"/>
                  </a:schemeClr>
                </a:solidFill>
                <a:latin typeface="Times New Roman"/>
                <a:ea typeface="+mn-lt"/>
                <a:cs typeface="Times New Roman"/>
              </a:rPr>
              <a:t>today_count</a:t>
            </a:r>
            <a:r>
              <a:rPr lang="en-US" sz="2400" dirty="0">
                <a:solidFill>
                  <a:schemeClr val="accent2">
                    <a:lumMod val="20000"/>
                    <a:lumOff val="80000"/>
                  </a:schemeClr>
                </a:solidFill>
                <a:latin typeface="Times New Roman"/>
                <a:ea typeface="+mn-lt"/>
                <a:cs typeface="Times New Roman"/>
              </a:rPr>
              <a:t> += 1</a:t>
            </a:r>
            <a:endParaRPr lang="en-US" sz="2400">
              <a:solidFill>
                <a:schemeClr val="accent2">
                  <a:lumMod val="20000"/>
                  <a:lumOff val="80000"/>
                </a:schemeClr>
              </a:solidFill>
              <a:latin typeface="Times New Roman"/>
              <a:ea typeface="Calibri"/>
              <a:cs typeface="Times New Roman"/>
            </a:endParaRPr>
          </a:p>
          <a:p>
            <a:pPr>
              <a:lnSpc>
                <a:spcPct val="137664"/>
              </a:lnSpc>
            </a:pPr>
            <a:r>
              <a:rPr lang="en-US" sz="2400" dirty="0">
                <a:solidFill>
                  <a:schemeClr val="accent2">
                    <a:lumMod val="20000"/>
                    <a:lumOff val="80000"/>
                  </a:schemeClr>
                </a:solidFill>
                <a:latin typeface="Times New Roman"/>
                <a:ea typeface="+mn-lt"/>
                <a:cs typeface="Times New Roman"/>
              </a:rPr>
              <a:t>                        </a:t>
            </a:r>
            <a:r>
              <a:rPr lang="en-US" sz="2400" dirty="0" err="1">
                <a:solidFill>
                  <a:schemeClr val="accent2">
                    <a:lumMod val="20000"/>
                    <a:lumOff val="80000"/>
                  </a:schemeClr>
                </a:solidFill>
                <a:latin typeface="Times New Roman"/>
                <a:ea typeface="+mn-lt"/>
                <a:cs typeface="Times New Roman"/>
              </a:rPr>
              <a:t>log_visitor</a:t>
            </a:r>
            <a:r>
              <a:rPr lang="en-US" sz="2400" dirty="0">
                <a:solidFill>
                  <a:schemeClr val="accent2">
                    <a:lumMod val="20000"/>
                    <a:lumOff val="80000"/>
                  </a:schemeClr>
                </a:solidFill>
                <a:latin typeface="Times New Roman"/>
                <a:ea typeface="+mn-lt"/>
                <a:cs typeface="Times New Roman"/>
              </a:rPr>
              <a:t>(</a:t>
            </a:r>
            <a:r>
              <a:rPr lang="en-US" sz="2400" dirty="0" err="1">
                <a:solidFill>
                  <a:schemeClr val="accent2">
                    <a:lumMod val="20000"/>
                    <a:lumOff val="80000"/>
                  </a:schemeClr>
                </a:solidFill>
                <a:latin typeface="Times New Roman"/>
                <a:ea typeface="+mn-lt"/>
                <a:cs typeface="Times New Roman"/>
              </a:rPr>
              <a:t>datetime.now</a:t>
            </a:r>
            <a:r>
              <a:rPr lang="en-US" sz="2400" dirty="0">
                <a:solidFill>
                  <a:schemeClr val="accent2">
                    <a:lumMod val="20000"/>
                    <a:lumOff val="80000"/>
                  </a:schemeClr>
                </a:solidFill>
                <a:latin typeface="Times New Roman"/>
                <a:ea typeface="+mn-lt"/>
                <a:cs typeface="Times New Roman"/>
              </a:rPr>
              <a:t>(), </a:t>
            </a:r>
            <a:r>
              <a:rPr lang="en-US" sz="2400" dirty="0" err="1">
                <a:solidFill>
                  <a:schemeClr val="accent2">
                    <a:lumMod val="20000"/>
                    <a:lumOff val="80000"/>
                  </a:schemeClr>
                </a:solidFill>
                <a:latin typeface="Times New Roman"/>
                <a:ea typeface="+mn-lt"/>
                <a:cs typeface="Times New Roman"/>
              </a:rPr>
              <a:t>track_id</a:t>
            </a:r>
            <a:r>
              <a:rPr lang="en-US" sz="2400" dirty="0">
                <a:solidFill>
                  <a:schemeClr val="accent2">
                    <a:lumMod val="20000"/>
                    <a:lumOff val="80000"/>
                  </a:schemeClr>
                </a:solidFill>
                <a:latin typeface="Times New Roman"/>
                <a:ea typeface="+mn-lt"/>
                <a:cs typeface="Times New Roman"/>
              </a:rPr>
              <a:t>)</a:t>
            </a:r>
            <a:r>
              <a:rPr lang="en-US" sz="2400" dirty="0">
                <a:solidFill>
                  <a:schemeClr val="accent2">
                    <a:lumMod val="20000"/>
                    <a:lumOff val="80000"/>
                  </a:schemeClr>
                </a:solidFill>
                <a:latin typeface="Times New Roman"/>
                <a:ea typeface="Courier New" pitchFamily="34" charset="-122"/>
                <a:cs typeface="Times New Roman"/>
              </a:rPr>
              <a:t>  </a:t>
            </a:r>
          </a:p>
          <a:p>
            <a:pPr>
              <a:lnSpc>
                <a:spcPct val="137664"/>
              </a:lnSpc>
            </a:pPr>
            <a:br>
              <a:rPr lang="en-US" sz="2400" dirty="0">
                <a:latin typeface="Times New Roman"/>
                <a:ea typeface="Courier New" pitchFamily="34" charset="-122"/>
                <a:cs typeface="Times New Roman"/>
              </a:rPr>
            </a:br>
            <a:r>
              <a:rPr lang="en-US" sz="2400" dirty="0" err="1">
                <a:solidFill>
                  <a:schemeClr val="accent2">
                    <a:lumMod val="20000"/>
                    <a:lumOff val="80000"/>
                  </a:schemeClr>
                </a:solidFill>
                <a:latin typeface="Times New Roman"/>
                <a:ea typeface="+mn-lt"/>
                <a:cs typeface="Times New Roman"/>
              </a:rPr>
              <a:t>elif</a:t>
            </a:r>
            <a:r>
              <a:rPr lang="en-US" sz="2400" dirty="0">
                <a:solidFill>
                  <a:schemeClr val="accent2">
                    <a:lumMod val="20000"/>
                    <a:lumOff val="80000"/>
                  </a:schemeClr>
                </a:solidFill>
                <a:latin typeface="Times New Roman"/>
                <a:ea typeface="+mn-lt"/>
                <a:cs typeface="Times New Roman"/>
              </a:rPr>
              <a:t> </a:t>
            </a:r>
            <a:r>
              <a:rPr lang="en-US" sz="2400" dirty="0" err="1">
                <a:solidFill>
                  <a:schemeClr val="accent2">
                    <a:lumMod val="20000"/>
                    <a:lumOff val="80000"/>
                  </a:schemeClr>
                </a:solidFill>
                <a:latin typeface="Times New Roman"/>
                <a:ea typeface="+mn-lt"/>
                <a:cs typeface="Times New Roman"/>
              </a:rPr>
              <a:t>prev_y</a:t>
            </a:r>
            <a:r>
              <a:rPr lang="en-US" sz="2400" dirty="0">
                <a:solidFill>
                  <a:schemeClr val="accent2">
                    <a:lumMod val="20000"/>
                    <a:lumOff val="80000"/>
                  </a:schemeClr>
                </a:solidFill>
                <a:latin typeface="Times New Roman"/>
                <a:ea typeface="+mn-lt"/>
                <a:cs typeface="Times New Roman"/>
              </a:rPr>
              <a:t> &gt;= </a:t>
            </a:r>
            <a:r>
              <a:rPr lang="en-US" sz="2400" dirty="0" err="1">
                <a:solidFill>
                  <a:schemeClr val="accent2">
                    <a:lumMod val="20000"/>
                    <a:lumOff val="80000"/>
                  </a:schemeClr>
                </a:solidFill>
                <a:latin typeface="Times New Roman"/>
                <a:ea typeface="+mn-lt"/>
                <a:cs typeface="Times New Roman"/>
              </a:rPr>
              <a:t>line_y</a:t>
            </a:r>
            <a:r>
              <a:rPr lang="en-US" sz="2400" dirty="0">
                <a:solidFill>
                  <a:schemeClr val="accent2">
                    <a:lumMod val="20000"/>
                    <a:lumOff val="80000"/>
                  </a:schemeClr>
                </a:solidFill>
                <a:latin typeface="Times New Roman"/>
                <a:ea typeface="+mn-lt"/>
                <a:cs typeface="Times New Roman"/>
              </a:rPr>
              <a:t> &gt; cy:</a:t>
            </a:r>
            <a:r>
              <a:rPr lang="en-US" sz="2400" dirty="0">
                <a:solidFill>
                  <a:schemeClr val="accent2">
                    <a:lumMod val="20000"/>
                    <a:lumOff val="80000"/>
                  </a:schemeClr>
                </a:solidFill>
                <a:latin typeface="Times New Roman"/>
                <a:ea typeface="Courier New" pitchFamily="34" charset="-122"/>
                <a:cs typeface="Times New Roman"/>
              </a:rPr>
              <a:t>         # </a:t>
            </a:r>
            <a:r>
              <a:rPr lang="en-US" sz="2400" dirty="0" err="1">
                <a:solidFill>
                  <a:schemeClr val="accent2">
                    <a:lumMod val="20000"/>
                    <a:lumOff val="80000"/>
                  </a:schemeClr>
                </a:solidFill>
                <a:latin typeface="Times New Roman"/>
                <a:ea typeface="Courier New" pitchFamily="34" charset="-122"/>
                <a:cs typeface="Times New Roman"/>
              </a:rPr>
              <a:t>hướng</a:t>
            </a:r>
            <a:r>
              <a:rPr lang="en-US" sz="2400" dirty="0">
                <a:solidFill>
                  <a:schemeClr val="accent2">
                    <a:lumMod val="20000"/>
                    <a:lumOff val="80000"/>
                  </a:schemeClr>
                </a:solidFill>
                <a:latin typeface="Times New Roman"/>
                <a:ea typeface="Courier New" pitchFamily="34" charset="-122"/>
                <a:cs typeface="Times New Roman"/>
              </a:rPr>
              <a:t> </a:t>
            </a:r>
            <a:r>
              <a:rPr lang="en-US" sz="2400" dirty="0" err="1">
                <a:solidFill>
                  <a:schemeClr val="accent2">
                    <a:lumMod val="20000"/>
                    <a:lumOff val="80000"/>
                  </a:schemeClr>
                </a:solidFill>
                <a:latin typeface="Times New Roman"/>
                <a:ea typeface="Courier New" pitchFamily="34" charset="-122"/>
                <a:cs typeface="Times New Roman"/>
              </a:rPr>
              <a:t>ngược</a:t>
            </a:r>
            <a:r>
              <a:rPr lang="en-US" sz="2400" dirty="0">
                <a:solidFill>
                  <a:schemeClr val="accent2">
                    <a:lumMod val="20000"/>
                    <a:lumOff val="80000"/>
                  </a:schemeClr>
                </a:solidFill>
                <a:latin typeface="Times New Roman"/>
                <a:ea typeface="Courier New" pitchFamily="34" charset="-122"/>
                <a:cs typeface="Times New Roman"/>
              </a:rPr>
              <a:t> </a:t>
            </a:r>
            <a:r>
              <a:rPr lang="en-US" sz="2400" dirty="0" err="1">
                <a:solidFill>
                  <a:schemeClr val="accent2">
                    <a:lumMod val="20000"/>
                    <a:lumOff val="80000"/>
                  </a:schemeClr>
                </a:solidFill>
                <a:latin typeface="Times New Roman"/>
                <a:ea typeface="Courier New" pitchFamily="34" charset="-122"/>
                <a:cs typeface="Times New Roman"/>
              </a:rPr>
              <a:t>lại</a:t>
            </a:r>
            <a:r>
              <a:rPr lang="en-US" sz="2400" dirty="0">
                <a:solidFill>
                  <a:schemeClr val="accent2">
                    <a:lumMod val="20000"/>
                    <a:lumOff val="80000"/>
                  </a:schemeClr>
                </a:solidFill>
                <a:latin typeface="Times New Roman"/>
                <a:ea typeface="Courier New" pitchFamily="34" charset="-122"/>
                <a:cs typeface="Times New Roman"/>
              </a:rPr>
              <a:t>  </a:t>
            </a:r>
            <a:endParaRPr lang="en-US" sz="2400" dirty="0">
              <a:solidFill>
                <a:schemeClr val="accent2">
                  <a:lumMod val="20000"/>
                  <a:lumOff val="80000"/>
                </a:schemeClr>
              </a:solidFill>
              <a:latin typeface="Times New Roman"/>
              <a:cs typeface="Times New Roman"/>
            </a:endParaRPr>
          </a:p>
          <a:p>
            <a:r>
              <a:rPr lang="en-US" sz="2400" dirty="0">
                <a:solidFill>
                  <a:schemeClr val="accent2">
                    <a:lumMod val="20000"/>
                    <a:lumOff val="80000"/>
                  </a:schemeClr>
                </a:solidFill>
                <a:latin typeface="Times New Roman"/>
                <a:ea typeface="Courier New" pitchFamily="34" charset="-122"/>
                <a:cs typeface="Times New Roman"/>
              </a:rPr>
              <a:t> </a:t>
            </a:r>
            <a:r>
              <a:rPr lang="en-US" sz="2400" dirty="0">
                <a:solidFill>
                  <a:schemeClr val="accent2">
                    <a:lumMod val="20000"/>
                    <a:lumOff val="80000"/>
                  </a:schemeClr>
                </a:solidFill>
                <a:latin typeface="Times New Roman"/>
                <a:ea typeface="+mn-lt"/>
                <a:cs typeface="Times New Roman"/>
              </a:rPr>
              <a:t>if </a:t>
            </a:r>
            <a:r>
              <a:rPr lang="en-US" sz="2400" dirty="0" err="1">
                <a:solidFill>
                  <a:schemeClr val="accent2">
                    <a:lumMod val="20000"/>
                    <a:lumOff val="80000"/>
                  </a:schemeClr>
                </a:solidFill>
                <a:latin typeface="Times New Roman"/>
                <a:ea typeface="+mn-lt"/>
                <a:cs typeface="Times New Roman"/>
              </a:rPr>
              <a:t>counted_direction.get</a:t>
            </a:r>
            <a:r>
              <a:rPr lang="en-US" sz="2400" dirty="0">
                <a:solidFill>
                  <a:schemeClr val="accent2">
                    <a:lumMod val="20000"/>
                    <a:lumOff val="80000"/>
                  </a:schemeClr>
                </a:solidFill>
                <a:latin typeface="Times New Roman"/>
                <a:ea typeface="+mn-lt"/>
                <a:cs typeface="Times New Roman"/>
              </a:rPr>
              <a:t>(</a:t>
            </a:r>
            <a:r>
              <a:rPr lang="en-US" sz="2400" dirty="0" err="1">
                <a:solidFill>
                  <a:schemeClr val="accent2">
                    <a:lumMod val="20000"/>
                    <a:lumOff val="80000"/>
                  </a:schemeClr>
                </a:solidFill>
                <a:latin typeface="Times New Roman"/>
                <a:ea typeface="+mn-lt"/>
                <a:cs typeface="Times New Roman"/>
              </a:rPr>
              <a:t>track_id</a:t>
            </a:r>
            <a:r>
              <a:rPr lang="en-US" sz="2400" dirty="0">
                <a:solidFill>
                  <a:schemeClr val="accent2">
                    <a:lumMod val="20000"/>
                    <a:lumOff val="80000"/>
                  </a:schemeClr>
                </a:solidFill>
                <a:latin typeface="Times New Roman"/>
                <a:ea typeface="+mn-lt"/>
                <a:cs typeface="Times New Roman"/>
              </a:rPr>
              <a:t>) != "out":</a:t>
            </a:r>
            <a:endParaRPr lang="en-US" sz="2400" dirty="0">
              <a:solidFill>
                <a:schemeClr val="accent2">
                  <a:lumMod val="20000"/>
                  <a:lumOff val="80000"/>
                </a:schemeClr>
              </a:solidFill>
              <a:latin typeface="Times New Roman"/>
              <a:ea typeface="Courier New" pitchFamily="34" charset="-122"/>
              <a:cs typeface="Times New Roman"/>
            </a:endParaRPr>
          </a:p>
          <a:p>
            <a:r>
              <a:rPr lang="en-US" sz="2400" dirty="0">
                <a:solidFill>
                  <a:schemeClr val="accent2">
                    <a:lumMod val="20000"/>
                    <a:lumOff val="80000"/>
                  </a:schemeClr>
                </a:solidFill>
                <a:latin typeface="Times New Roman"/>
                <a:ea typeface="+mn-lt"/>
                <a:cs typeface="Times New Roman"/>
              </a:rPr>
              <a:t>                        </a:t>
            </a:r>
            <a:r>
              <a:rPr lang="en-US" sz="2400" dirty="0" err="1">
                <a:solidFill>
                  <a:schemeClr val="accent2">
                    <a:lumMod val="20000"/>
                    <a:lumOff val="80000"/>
                  </a:schemeClr>
                </a:solidFill>
                <a:latin typeface="Times New Roman"/>
                <a:ea typeface="+mn-lt"/>
                <a:cs typeface="Times New Roman"/>
              </a:rPr>
              <a:t>counted_direction</a:t>
            </a:r>
            <a:r>
              <a:rPr lang="en-US" sz="2400" dirty="0">
                <a:solidFill>
                  <a:schemeClr val="accent2">
                    <a:lumMod val="20000"/>
                    <a:lumOff val="80000"/>
                  </a:schemeClr>
                </a:solidFill>
                <a:latin typeface="Times New Roman"/>
                <a:ea typeface="+mn-lt"/>
                <a:cs typeface="Times New Roman"/>
              </a:rPr>
              <a:t>[</a:t>
            </a:r>
            <a:r>
              <a:rPr lang="en-US" sz="2400" dirty="0" err="1">
                <a:solidFill>
                  <a:schemeClr val="accent2">
                    <a:lumMod val="20000"/>
                    <a:lumOff val="80000"/>
                  </a:schemeClr>
                </a:solidFill>
                <a:latin typeface="Times New Roman"/>
                <a:ea typeface="+mn-lt"/>
                <a:cs typeface="Times New Roman"/>
              </a:rPr>
              <a:t>track_id</a:t>
            </a:r>
            <a:r>
              <a:rPr lang="en-US" sz="2400" dirty="0">
                <a:solidFill>
                  <a:schemeClr val="accent2">
                    <a:lumMod val="20000"/>
                    <a:lumOff val="80000"/>
                  </a:schemeClr>
                </a:solidFill>
                <a:latin typeface="Times New Roman"/>
                <a:ea typeface="+mn-lt"/>
                <a:cs typeface="Times New Roman"/>
              </a:rPr>
              <a:t>] = "out"</a:t>
            </a:r>
            <a:endParaRPr lang="en-US" sz="2400">
              <a:solidFill>
                <a:schemeClr val="accent2">
                  <a:lumMod val="20000"/>
                  <a:lumOff val="80000"/>
                </a:schemeClr>
              </a:solidFill>
              <a:latin typeface="Times New Roman"/>
              <a:ea typeface="Calibri"/>
              <a:cs typeface="Times New Roman"/>
            </a:endParaRPr>
          </a:p>
          <a:p>
            <a:r>
              <a:rPr lang="en-US" sz="2400" dirty="0">
                <a:solidFill>
                  <a:schemeClr val="accent2">
                    <a:lumMod val="20000"/>
                    <a:lumOff val="80000"/>
                  </a:schemeClr>
                </a:solidFill>
                <a:latin typeface="Times New Roman"/>
                <a:ea typeface="+mn-lt"/>
                <a:cs typeface="Times New Roman"/>
              </a:rPr>
              <a:t>                        </a:t>
            </a:r>
            <a:r>
              <a:rPr lang="en-US" sz="2400" dirty="0" err="1">
                <a:solidFill>
                  <a:schemeClr val="accent2">
                    <a:lumMod val="20000"/>
                    <a:lumOff val="80000"/>
                  </a:schemeClr>
                </a:solidFill>
                <a:latin typeface="Times New Roman"/>
                <a:ea typeface="+mn-lt"/>
                <a:cs typeface="Times New Roman"/>
              </a:rPr>
              <a:t>count_out</a:t>
            </a:r>
            <a:r>
              <a:rPr lang="en-US" sz="2400" dirty="0">
                <a:solidFill>
                  <a:schemeClr val="accent2">
                    <a:lumMod val="20000"/>
                    <a:lumOff val="80000"/>
                  </a:schemeClr>
                </a:solidFill>
                <a:latin typeface="Times New Roman"/>
                <a:ea typeface="+mn-lt"/>
                <a:cs typeface="Times New Roman"/>
              </a:rPr>
              <a:t> += 1</a:t>
            </a:r>
            <a:endParaRPr lang="en-US" sz="2400">
              <a:solidFill>
                <a:schemeClr val="accent2">
                  <a:lumMod val="20000"/>
                  <a:lumOff val="80000"/>
                </a:schemeClr>
              </a:solidFill>
              <a:latin typeface="Times New Roman"/>
              <a:ea typeface="Calibri"/>
              <a:cs typeface="Times New Roman"/>
            </a:endParaRPr>
          </a:p>
          <a:p>
            <a:pPr>
              <a:lnSpc>
                <a:spcPct val="137664"/>
              </a:lnSpc>
            </a:pPr>
            <a:br>
              <a:rPr lang="en-US" sz="2000" dirty="0"/>
            </a:br>
            <a:r>
              <a:rPr lang="en-US" sz="2000" dirty="0">
                <a:solidFill>
                  <a:srgbClr val="F0E2CA"/>
                </a:solidFill>
                <a:latin typeface="Courier New"/>
                <a:ea typeface="Courier New" pitchFamily="34" charset="-122"/>
                <a:cs typeface="Courier New"/>
              </a:rPr>
              <a:t>    </a:t>
            </a:r>
            <a:endParaRPr lang="en-US" sz="2000" dirty="0">
              <a:solidFill>
                <a:srgbClr val="F0E2CA"/>
              </a:solidFill>
              <a:latin typeface="Courier New"/>
              <a:cs typeface="Courier New"/>
            </a:endParaRPr>
          </a:p>
        </p:txBody>
      </p:sp>
      <p:sp>
        <p:nvSpPr>
          <p:cNvPr id="16" name="Text 14"/>
          <p:cNvSpPr/>
          <p:nvPr/>
        </p:nvSpPr>
        <p:spPr>
          <a:xfrm>
            <a:off x="918363" y="7808596"/>
            <a:ext cx="6236467" cy="829084"/>
          </a:xfrm>
          <a:prstGeom prst="rect">
            <a:avLst/>
          </a:prstGeom>
          <a:noFill/>
          <a:ln/>
        </p:spPr>
        <p:txBody>
          <a:bodyPr wrap="square" lIns="25400" tIns="25400" rIns="25400" bIns="25400" rtlCol="0" anchor="t">
            <a:noAutofit/>
          </a:bodyPr>
          <a:lstStyle/>
          <a:p>
            <a:pPr marL="0" indent="0" algn="l">
              <a:lnSpc>
                <a:spcPct val="124861"/>
              </a:lnSpc>
              <a:buNone/>
            </a:pPr>
            <a:r>
              <a:rPr lang="en-US" sz="2400" dirty="0" err="1">
                <a:solidFill>
                  <a:srgbClr val="4A443F"/>
                </a:solidFill>
                <a:latin typeface="Times New Roman"/>
                <a:ea typeface="Times New Roman" pitchFamily="34" charset="-122"/>
                <a:cs typeface="Times New Roman"/>
              </a:rPr>
              <a:t>Số</a:t>
            </a:r>
            <a:r>
              <a:rPr lang="en-US" sz="2400" dirty="0">
                <a:solidFill>
                  <a:srgbClr val="4A443F"/>
                </a:solidFill>
                <a:latin typeface="Times New Roman"/>
                <a:ea typeface="Times New Roman" pitchFamily="34" charset="-122"/>
                <a:cs typeface="Times New Roman"/>
              </a:rPr>
              <a:t> </a:t>
            </a:r>
            <a:r>
              <a:rPr lang="en-US" sz="2400" dirty="0" err="1">
                <a:solidFill>
                  <a:srgbClr val="4A443F"/>
                </a:solidFill>
                <a:latin typeface="Times New Roman"/>
                <a:ea typeface="Times New Roman" pitchFamily="34" charset="-122"/>
                <a:cs typeface="Times New Roman"/>
              </a:rPr>
              <a:t>người</a:t>
            </a:r>
            <a:r>
              <a:rPr lang="en-US" sz="2400" dirty="0">
                <a:solidFill>
                  <a:srgbClr val="4A443F"/>
                </a:solidFill>
                <a:latin typeface="Times New Roman"/>
                <a:ea typeface="Times New Roman" pitchFamily="34" charset="-122"/>
                <a:cs typeface="Times New Roman"/>
              </a:rPr>
              <a:t> </a:t>
            </a:r>
            <a:r>
              <a:rPr lang="en-US" sz="2400" dirty="0" err="1">
                <a:solidFill>
                  <a:srgbClr val="4A443F"/>
                </a:solidFill>
                <a:latin typeface="Times New Roman"/>
                <a:ea typeface="Times New Roman" pitchFamily="34" charset="-122"/>
                <a:cs typeface="Times New Roman"/>
              </a:rPr>
              <a:t>đang</a:t>
            </a:r>
            <a:r>
              <a:rPr lang="en-US" sz="2400" dirty="0">
                <a:solidFill>
                  <a:srgbClr val="4A443F"/>
                </a:solidFill>
                <a:latin typeface="Times New Roman"/>
                <a:ea typeface="Times New Roman" pitchFamily="34" charset="-122"/>
                <a:cs typeface="Times New Roman"/>
              </a:rPr>
              <a:t> </a:t>
            </a:r>
            <a:r>
              <a:rPr lang="en-US" sz="2400" dirty="0" err="1">
                <a:solidFill>
                  <a:srgbClr val="4A443F"/>
                </a:solidFill>
                <a:latin typeface="Times New Roman"/>
                <a:ea typeface="Times New Roman" pitchFamily="34" charset="-122"/>
                <a:cs typeface="Times New Roman"/>
              </a:rPr>
              <a:t>có</a:t>
            </a:r>
            <a:r>
              <a:rPr lang="en-US" sz="2400" dirty="0">
                <a:solidFill>
                  <a:srgbClr val="4A443F"/>
                </a:solidFill>
                <a:latin typeface="Times New Roman"/>
                <a:ea typeface="Times New Roman" pitchFamily="34" charset="-122"/>
                <a:cs typeface="Times New Roman"/>
              </a:rPr>
              <a:t> </a:t>
            </a:r>
            <a:r>
              <a:rPr lang="en-US" sz="2400" dirty="0" err="1">
                <a:solidFill>
                  <a:srgbClr val="4A443F"/>
                </a:solidFill>
                <a:latin typeface="Times New Roman"/>
                <a:ea typeface="Times New Roman" pitchFamily="34" charset="-122"/>
                <a:cs typeface="Times New Roman"/>
              </a:rPr>
              <a:t>mặt</a:t>
            </a:r>
            <a:r>
              <a:rPr lang="en-US" sz="2400" dirty="0">
                <a:solidFill>
                  <a:srgbClr val="4A443F"/>
                </a:solidFill>
                <a:latin typeface="Times New Roman"/>
                <a:ea typeface="Times New Roman" pitchFamily="34" charset="-122"/>
                <a:cs typeface="Times New Roman"/>
              </a:rPr>
              <a:t> </a:t>
            </a:r>
            <a:r>
              <a:rPr lang="en-US" sz="2400" dirty="0" err="1">
                <a:solidFill>
                  <a:srgbClr val="4A443F"/>
                </a:solidFill>
                <a:latin typeface="Times New Roman"/>
                <a:ea typeface="Times New Roman" pitchFamily="34" charset="-122"/>
                <a:cs typeface="Times New Roman"/>
              </a:rPr>
              <a:t>là</a:t>
            </a:r>
            <a:r>
              <a:rPr lang="en-US" sz="2400" dirty="0">
                <a:solidFill>
                  <a:srgbClr val="4A443F"/>
                </a:solidFill>
                <a:latin typeface="Times New Roman"/>
                <a:ea typeface="Times New Roman" pitchFamily="34" charset="-122"/>
                <a:cs typeface="Times New Roman"/>
              </a:rPr>
              <a:t> </a:t>
            </a:r>
            <a:r>
              <a:rPr lang="en-US" sz="2400" dirty="0" err="1">
                <a:solidFill>
                  <a:srgbClr val="4A443F"/>
                </a:solidFill>
                <a:latin typeface="Times New Roman"/>
                <a:ea typeface="Times New Roman" pitchFamily="34" charset="-122"/>
                <a:cs typeface="Times New Roman"/>
              </a:rPr>
              <a:t>hiệu</a:t>
            </a:r>
            <a:r>
              <a:rPr lang="en-US" sz="2400" dirty="0">
                <a:solidFill>
                  <a:srgbClr val="4A443F"/>
                </a:solidFill>
                <a:latin typeface="Times New Roman"/>
                <a:ea typeface="Times New Roman" pitchFamily="34" charset="-122"/>
                <a:cs typeface="Times New Roman"/>
              </a:rPr>
              <a:t> </a:t>
            </a:r>
            <a:r>
              <a:rPr lang="en-US" sz="2400" dirty="0" err="1">
                <a:solidFill>
                  <a:srgbClr val="4A443F"/>
                </a:solidFill>
                <a:latin typeface="Times New Roman"/>
                <a:ea typeface="Times New Roman" pitchFamily="34" charset="-122"/>
                <a:cs typeface="Times New Roman"/>
              </a:rPr>
              <a:t>đơn</a:t>
            </a:r>
            <a:r>
              <a:rPr lang="en-US" sz="2400" dirty="0">
                <a:solidFill>
                  <a:srgbClr val="4A443F"/>
                </a:solidFill>
                <a:latin typeface="Times New Roman"/>
                <a:ea typeface="Times New Roman" pitchFamily="34" charset="-122"/>
                <a:cs typeface="Times New Roman"/>
              </a:rPr>
              <a:t> </a:t>
            </a:r>
            <a:r>
              <a:rPr lang="en-US" sz="2400" dirty="0" err="1">
                <a:solidFill>
                  <a:srgbClr val="4A443F"/>
                </a:solidFill>
                <a:latin typeface="Times New Roman"/>
                <a:ea typeface="Times New Roman" pitchFamily="34" charset="-122"/>
                <a:cs typeface="Times New Roman"/>
              </a:rPr>
              <a:t>giản</a:t>
            </a:r>
            <a:r>
              <a:rPr lang="en-US" sz="2400" dirty="0">
                <a:solidFill>
                  <a:srgbClr val="4A443F"/>
                </a:solidFill>
                <a:latin typeface="Times New Roman"/>
                <a:ea typeface="Times New Roman" pitchFamily="34" charset="-122"/>
                <a:cs typeface="Times New Roman"/>
              </a:rPr>
              <a:t> </a:t>
            </a:r>
            <a:r>
              <a:rPr lang="en-US" sz="2400" dirty="0" err="1">
                <a:solidFill>
                  <a:srgbClr val="4A443F"/>
                </a:solidFill>
                <a:highlight>
                  <a:srgbClr val="EFE0C6"/>
                </a:highlight>
                <a:latin typeface="Courier New"/>
                <a:ea typeface="Courier New" pitchFamily="34" charset="-122"/>
                <a:cs typeface="Courier New"/>
              </a:rPr>
              <a:t>count_in</a:t>
            </a:r>
            <a:r>
              <a:rPr lang="en-US" sz="2400" dirty="0">
                <a:solidFill>
                  <a:srgbClr val="4A443F"/>
                </a:solidFill>
                <a:highlight>
                  <a:srgbClr val="EFE0C6"/>
                </a:highlight>
                <a:latin typeface="Courier New"/>
                <a:ea typeface="Courier New" pitchFamily="34" charset="-122"/>
                <a:cs typeface="Courier New"/>
              </a:rPr>
              <a:t> − </a:t>
            </a:r>
            <a:r>
              <a:rPr lang="en-US" sz="2400" dirty="0" err="1">
                <a:solidFill>
                  <a:srgbClr val="4A443F"/>
                </a:solidFill>
                <a:highlight>
                  <a:srgbClr val="EFE0C6"/>
                </a:highlight>
                <a:latin typeface="Courier New"/>
                <a:ea typeface="Courier New" pitchFamily="34" charset="-122"/>
                <a:cs typeface="Courier New"/>
              </a:rPr>
              <a:t>count_out</a:t>
            </a:r>
            <a:r>
              <a:rPr lang="en-US" sz="2400" dirty="0">
                <a:solidFill>
                  <a:srgbClr val="4A443F"/>
                </a:solidFill>
                <a:highlight>
                  <a:srgbClr val="EFE0C6"/>
                </a:highlight>
                <a:latin typeface="Courier New"/>
                <a:ea typeface="Courier New" pitchFamily="34" charset="-122"/>
                <a:cs typeface="Courier New"/>
              </a:rPr>
              <a:t> </a:t>
            </a:r>
            <a:r>
              <a:rPr lang="en-US" sz="2400" dirty="0">
                <a:solidFill>
                  <a:srgbClr val="4A443F"/>
                </a:solidFill>
                <a:latin typeface="Times New Roman"/>
                <a:ea typeface="Times New Roman" pitchFamily="34" charset="-122"/>
                <a:cs typeface="Times New Roman"/>
              </a:rPr>
              <a:t>, </a:t>
            </a:r>
            <a:r>
              <a:rPr lang="en-US" sz="2400" dirty="0" err="1">
                <a:solidFill>
                  <a:srgbClr val="4A443F"/>
                </a:solidFill>
                <a:latin typeface="Times New Roman"/>
                <a:ea typeface="Times New Roman" pitchFamily="34" charset="-122"/>
                <a:cs typeface="Times New Roman"/>
              </a:rPr>
              <a:t>không</a:t>
            </a:r>
            <a:r>
              <a:rPr lang="en-US" sz="2400" dirty="0">
                <a:solidFill>
                  <a:srgbClr val="4A443F"/>
                </a:solidFill>
                <a:latin typeface="Times New Roman"/>
                <a:ea typeface="Times New Roman" pitchFamily="34" charset="-122"/>
                <a:cs typeface="Times New Roman"/>
              </a:rPr>
              <a:t> bao </a:t>
            </a:r>
            <a:r>
              <a:rPr lang="en-US" sz="2400" dirty="0" err="1">
                <a:solidFill>
                  <a:srgbClr val="4A443F"/>
                </a:solidFill>
                <a:latin typeface="Times New Roman"/>
                <a:ea typeface="Times New Roman" pitchFamily="34" charset="-122"/>
                <a:cs typeface="Times New Roman"/>
              </a:rPr>
              <a:t>giờ</a:t>
            </a:r>
            <a:r>
              <a:rPr lang="en-US" sz="2400" dirty="0">
                <a:solidFill>
                  <a:srgbClr val="4A443F"/>
                </a:solidFill>
                <a:latin typeface="Times New Roman"/>
                <a:ea typeface="Times New Roman" pitchFamily="34" charset="-122"/>
                <a:cs typeface="Times New Roman"/>
              </a:rPr>
              <a:t> </a:t>
            </a:r>
            <a:r>
              <a:rPr lang="en-US" sz="2400" dirty="0" err="1">
                <a:solidFill>
                  <a:srgbClr val="4A443F"/>
                </a:solidFill>
                <a:latin typeface="Times New Roman"/>
                <a:ea typeface="Times New Roman" pitchFamily="34" charset="-122"/>
                <a:cs typeface="Times New Roman"/>
              </a:rPr>
              <a:t>âm</a:t>
            </a:r>
            <a:r>
              <a:rPr lang="en-US" sz="2400" dirty="0">
                <a:solidFill>
                  <a:srgbClr val="4A443F"/>
                </a:solidFill>
                <a:latin typeface="Times New Roman"/>
                <a:ea typeface="Times New Roman" pitchFamily="34" charset="-122"/>
                <a:cs typeface="Times New Roman"/>
              </a:rPr>
              <a:t>.</a:t>
            </a:r>
            <a:endParaRPr lang="en-US" sz="2400">
              <a:latin typeface="Times New Roman"/>
              <a:ea typeface="Calibri"/>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6F0"/>
        </a:solidFill>
        <a:effectLst/>
      </p:bgPr>
    </p:bg>
    <p:spTree>
      <p:nvGrpSpPr>
        <p:cNvPr id="1" name=""/>
        <p:cNvGrpSpPr/>
        <p:nvPr/>
      </p:nvGrpSpPr>
      <p:grpSpPr>
        <a:xfrm>
          <a:off x="0" y="0"/>
          <a:ext cx="0" cy="0"/>
          <a:chOff x="0" y="0"/>
          <a:chExt cx="0" cy="0"/>
        </a:xfrm>
      </p:grpSpPr>
      <p:sp>
        <p:nvSpPr>
          <p:cNvPr id="2" name="Text 0"/>
          <p:cNvSpPr/>
          <p:nvPr/>
        </p:nvSpPr>
        <p:spPr>
          <a:xfrm>
            <a:off x="914400" y="800100"/>
            <a:ext cx="18105120" cy="451485"/>
          </a:xfrm>
          <a:prstGeom prst="rect">
            <a:avLst/>
          </a:prstGeom>
          <a:noFill/>
          <a:ln/>
        </p:spPr>
        <p:txBody>
          <a:bodyPr wrap="square" lIns="25400" tIns="25400" rIns="25400" bIns="25400" rtlCol="0" anchor="t">
            <a:normAutofit/>
          </a:bodyPr>
          <a:lstStyle/>
          <a:p>
            <a:pPr marL="0" indent="0" algn="l">
              <a:lnSpc>
                <a:spcPct val="135625"/>
              </a:lnSpc>
              <a:buNone/>
            </a:pPr>
            <a:r>
              <a:rPr lang="en-US" sz="2100" b="1" kern="0" spc="294" dirty="0">
                <a:solidFill>
                  <a:srgbClr val="8A5A2E"/>
                </a:solidFill>
                <a:latin typeface="Times New Roman" pitchFamily="34" charset="0"/>
                <a:ea typeface="Times New Roman" pitchFamily="34" charset="-122"/>
                <a:cs typeface="Times New Roman" pitchFamily="34" charset="-120"/>
              </a:rPr>
              <a:t>CHỐNG ĐẾM TRÙNG</a:t>
            </a:r>
            <a:endParaRPr lang="en-US" sz="2100" dirty="0"/>
          </a:p>
        </p:txBody>
      </p:sp>
      <p:sp>
        <p:nvSpPr>
          <p:cNvPr id="3" name="Text 1"/>
          <p:cNvSpPr/>
          <p:nvPr/>
        </p:nvSpPr>
        <p:spPr>
          <a:xfrm>
            <a:off x="914400" y="1346835"/>
            <a:ext cx="18105120" cy="687705"/>
          </a:xfrm>
          <a:prstGeom prst="rect">
            <a:avLst/>
          </a:prstGeom>
          <a:noFill/>
          <a:ln/>
        </p:spPr>
        <p:txBody>
          <a:bodyPr wrap="square" lIns="25400" tIns="25400" rIns="25400" bIns="25400" rtlCol="0" anchor="t">
            <a:normAutofit/>
          </a:bodyPr>
          <a:lstStyle/>
          <a:p>
            <a:pPr marL="0" indent="0" algn="l">
              <a:lnSpc>
                <a:spcPct val="95787"/>
              </a:lnSpc>
              <a:buNone/>
            </a:pPr>
            <a:r>
              <a:rPr lang="en-US" sz="4650" b="1" kern="0" spc="-70" dirty="0">
                <a:solidFill>
                  <a:srgbClr val="201E1D"/>
                </a:solidFill>
                <a:latin typeface="Times New Roman" pitchFamily="34" charset="0"/>
                <a:ea typeface="Times New Roman" pitchFamily="34" charset="-122"/>
                <a:cs typeface="Times New Roman" pitchFamily="34" charset="-120"/>
              </a:rPr>
              <a:t>Tái định danh bằng histogram màu</a:t>
            </a:r>
            <a:endParaRPr lang="en-US" sz="4650" dirty="0"/>
          </a:p>
        </p:txBody>
      </p:sp>
      <p:sp>
        <p:nvSpPr>
          <p:cNvPr id="4" name="Text 2"/>
          <p:cNvSpPr/>
          <p:nvPr/>
        </p:nvSpPr>
        <p:spPr>
          <a:xfrm>
            <a:off x="914400" y="2415540"/>
            <a:ext cx="8266538" cy="1409700"/>
          </a:xfrm>
          <a:prstGeom prst="rect">
            <a:avLst/>
          </a:prstGeom>
          <a:noFill/>
          <a:ln/>
        </p:spPr>
        <p:txBody>
          <a:bodyPr wrap="square" lIns="25400" tIns="25400" rIns="25400" bIns="25400" rtlCol="0" anchor="t">
            <a:normAutofit/>
          </a:bodyPr>
          <a:lstStyle/>
          <a:p>
            <a:pPr marL="0" indent="0" algn="l">
              <a:lnSpc>
                <a:spcPct val="127660"/>
              </a:lnSpc>
              <a:buNone/>
            </a:pPr>
            <a:r>
              <a:rPr lang="en-US" sz="2400" dirty="0">
                <a:solidFill>
                  <a:srgbClr val="4A443F"/>
                </a:solidFill>
                <a:latin typeface="Times New Roman" pitchFamily="34" charset="0"/>
                <a:ea typeface="Times New Roman" pitchFamily="34" charset="-122"/>
                <a:cs typeface="Times New Roman" pitchFamily="34" charset="-120"/>
              </a:rPr>
              <a:t>Người bị che khuất rồi xuất hiện lại sẽ được ByteTrack cấp một ID mới — và bị đếm lần thứ hai. Chương trình khắc phục bằng đặc trưng màu áo.</a:t>
            </a:r>
            <a:endParaRPr lang="en-US" sz="2400" dirty="0"/>
          </a:p>
        </p:txBody>
      </p:sp>
      <p:sp>
        <p:nvSpPr>
          <p:cNvPr id="5" name="Shape 3"/>
          <p:cNvSpPr/>
          <p:nvPr/>
        </p:nvSpPr>
        <p:spPr>
          <a:xfrm>
            <a:off x="914400" y="4191000"/>
            <a:ext cx="438150" cy="438150"/>
          </a:xfrm>
          <a:prstGeom prst="ellipse">
            <a:avLst/>
          </a:prstGeom>
          <a:solidFill>
            <a:srgbClr val="7A8A5E"/>
          </a:solidFill>
          <a:ln/>
        </p:spPr>
      </p:sp>
      <p:sp>
        <p:nvSpPr>
          <p:cNvPr id="6" name="Text 4"/>
          <p:cNvSpPr/>
          <p:nvPr/>
        </p:nvSpPr>
        <p:spPr>
          <a:xfrm>
            <a:off x="876300" y="4191000"/>
            <a:ext cx="514350" cy="476250"/>
          </a:xfrm>
          <a:prstGeom prst="rect">
            <a:avLst/>
          </a:prstGeom>
          <a:noFill/>
          <a:ln/>
        </p:spPr>
        <p:txBody>
          <a:bodyPr wrap="square" lIns="25400" tIns="25400" rIns="25400" bIns="25400" rtlCol="0" anchor="ctr">
            <a:normAutofit/>
          </a:bodyPr>
          <a:lstStyle/>
          <a:p>
            <a:pPr marL="0" indent="0" algn="ctr">
              <a:lnSpc>
                <a:spcPct val="135625"/>
              </a:lnSpc>
              <a:buNone/>
            </a:pPr>
            <a:r>
              <a:rPr lang="en-US" sz="2100" b="1" dirty="0">
                <a:solidFill>
                  <a:srgbClr val="FFFFFF"/>
                </a:solidFill>
                <a:latin typeface="Times New Roman" pitchFamily="34" charset="0"/>
                <a:ea typeface="Times New Roman" pitchFamily="34" charset="-122"/>
                <a:cs typeface="Times New Roman" pitchFamily="34" charset="-120"/>
              </a:rPr>
              <a:t>1</a:t>
            </a:r>
            <a:endParaRPr lang="en-US" sz="2100" dirty="0"/>
          </a:p>
        </p:txBody>
      </p:sp>
      <p:sp>
        <p:nvSpPr>
          <p:cNvPr id="7" name="Text 5"/>
          <p:cNvSpPr/>
          <p:nvPr/>
        </p:nvSpPr>
        <p:spPr>
          <a:xfrm>
            <a:off x="1524000" y="3996690"/>
            <a:ext cx="7638650" cy="864870"/>
          </a:xfrm>
          <a:prstGeom prst="rect">
            <a:avLst/>
          </a:prstGeom>
          <a:noFill/>
          <a:ln/>
        </p:spPr>
        <p:txBody>
          <a:bodyPr wrap="square" lIns="25400" tIns="25400" rIns="25400" bIns="25400" rtlCol="0" anchor="t">
            <a:normAutofit/>
          </a:bodyPr>
          <a:lstStyle/>
          <a:p>
            <a:pPr marL="0" indent="0" algn="l">
              <a:lnSpc>
                <a:spcPct val="120556"/>
              </a:lnSpc>
              <a:buNone/>
            </a:pPr>
            <a:r>
              <a:rPr lang="en-US" sz="2325" dirty="0">
                <a:solidFill>
                  <a:srgbClr val="4A443F"/>
                </a:solidFill>
                <a:latin typeface="Times New Roman" pitchFamily="34" charset="0"/>
                <a:ea typeface="Times New Roman" pitchFamily="34" charset="-122"/>
                <a:cs typeface="Times New Roman" pitchFamily="34" charset="-120"/>
              </a:rPr>
              <a:t>Cắt vùng người, đổi sang HSV, tính histogram hai chiều 30×32 bin</a:t>
            </a:r>
            <a:endParaRPr lang="en-US" sz="2325" dirty="0"/>
          </a:p>
        </p:txBody>
      </p:sp>
      <p:sp>
        <p:nvSpPr>
          <p:cNvPr id="8" name="Shape 6"/>
          <p:cNvSpPr/>
          <p:nvPr/>
        </p:nvSpPr>
        <p:spPr>
          <a:xfrm>
            <a:off x="914400" y="5227320"/>
            <a:ext cx="438150" cy="438150"/>
          </a:xfrm>
          <a:prstGeom prst="ellipse">
            <a:avLst/>
          </a:prstGeom>
          <a:solidFill>
            <a:srgbClr val="7A8A5E"/>
          </a:solidFill>
          <a:ln/>
        </p:spPr>
      </p:sp>
      <p:sp>
        <p:nvSpPr>
          <p:cNvPr id="9" name="Text 7"/>
          <p:cNvSpPr/>
          <p:nvPr/>
        </p:nvSpPr>
        <p:spPr>
          <a:xfrm>
            <a:off x="876300" y="5227320"/>
            <a:ext cx="514350" cy="476250"/>
          </a:xfrm>
          <a:prstGeom prst="rect">
            <a:avLst/>
          </a:prstGeom>
          <a:noFill/>
          <a:ln/>
        </p:spPr>
        <p:txBody>
          <a:bodyPr wrap="square" lIns="25400" tIns="25400" rIns="25400" bIns="25400" rtlCol="0" anchor="ctr">
            <a:normAutofit/>
          </a:bodyPr>
          <a:lstStyle/>
          <a:p>
            <a:pPr marL="0" indent="0" algn="ctr">
              <a:lnSpc>
                <a:spcPct val="135625"/>
              </a:lnSpc>
              <a:buNone/>
            </a:pPr>
            <a:r>
              <a:rPr lang="en-US" sz="2100" b="1" dirty="0">
                <a:solidFill>
                  <a:srgbClr val="FFFFFF"/>
                </a:solidFill>
                <a:latin typeface="Times New Roman" pitchFamily="34" charset="0"/>
                <a:ea typeface="Times New Roman" pitchFamily="34" charset="-122"/>
                <a:cs typeface="Times New Roman" pitchFamily="34" charset="-120"/>
              </a:rPr>
              <a:t>2</a:t>
            </a:r>
            <a:endParaRPr lang="en-US" sz="2100" dirty="0"/>
          </a:p>
        </p:txBody>
      </p:sp>
      <p:sp>
        <p:nvSpPr>
          <p:cNvPr id="10" name="Text 8"/>
          <p:cNvSpPr/>
          <p:nvPr/>
        </p:nvSpPr>
        <p:spPr>
          <a:xfrm>
            <a:off x="1524000" y="5033010"/>
            <a:ext cx="7638650" cy="864870"/>
          </a:xfrm>
          <a:prstGeom prst="rect">
            <a:avLst/>
          </a:prstGeom>
          <a:noFill/>
          <a:ln/>
        </p:spPr>
        <p:txBody>
          <a:bodyPr wrap="square" lIns="25400" tIns="25400" rIns="25400" bIns="25400" rtlCol="0" anchor="t">
            <a:normAutofit/>
          </a:bodyPr>
          <a:lstStyle/>
          <a:p>
            <a:pPr marL="0" indent="0" algn="l">
              <a:lnSpc>
                <a:spcPct val="120556"/>
              </a:lnSpc>
              <a:buNone/>
            </a:pPr>
            <a:r>
              <a:rPr lang="en-US" sz="2325" dirty="0">
                <a:solidFill>
                  <a:srgbClr val="4A443F"/>
                </a:solidFill>
                <a:latin typeface="Times New Roman" pitchFamily="34" charset="0"/>
                <a:ea typeface="Times New Roman" pitchFamily="34" charset="-122"/>
                <a:cs typeface="Times New Roman" pitchFamily="34" charset="-120"/>
              </a:rPr>
              <a:t>ID biến mất quá 60 khung được đưa vào danh sách </a:t>
            </a:r>
            <a:r>
              <a:rPr lang="en-US" sz="2175" dirty="0">
                <a:solidFill>
                  <a:srgbClr val="4A443F"/>
                </a:solidFill>
                <a:latin typeface="Courier New" pitchFamily="34" charset="0"/>
                <a:ea typeface="Courier New" pitchFamily="34" charset="-122"/>
                <a:cs typeface="Courier New" pitchFamily="34" charset="-120"/>
              </a:rPr>
              <a:t>recently_left</a:t>
            </a:r>
            <a:endParaRPr lang="en-US" sz="2325" dirty="0"/>
          </a:p>
        </p:txBody>
      </p:sp>
      <p:sp>
        <p:nvSpPr>
          <p:cNvPr id="11" name="Shape 9"/>
          <p:cNvSpPr/>
          <p:nvPr/>
        </p:nvSpPr>
        <p:spPr>
          <a:xfrm>
            <a:off x="914400" y="6263640"/>
            <a:ext cx="438150" cy="438150"/>
          </a:xfrm>
          <a:prstGeom prst="ellipse">
            <a:avLst/>
          </a:prstGeom>
          <a:solidFill>
            <a:srgbClr val="7A8A5E"/>
          </a:solidFill>
          <a:ln/>
        </p:spPr>
      </p:sp>
      <p:sp>
        <p:nvSpPr>
          <p:cNvPr id="12" name="Text 10"/>
          <p:cNvSpPr/>
          <p:nvPr/>
        </p:nvSpPr>
        <p:spPr>
          <a:xfrm>
            <a:off x="876300" y="6263640"/>
            <a:ext cx="514350" cy="476250"/>
          </a:xfrm>
          <a:prstGeom prst="rect">
            <a:avLst/>
          </a:prstGeom>
          <a:noFill/>
          <a:ln/>
        </p:spPr>
        <p:txBody>
          <a:bodyPr wrap="square" lIns="25400" tIns="25400" rIns="25400" bIns="25400" rtlCol="0" anchor="ctr">
            <a:normAutofit/>
          </a:bodyPr>
          <a:lstStyle/>
          <a:p>
            <a:pPr marL="0" indent="0" algn="ctr">
              <a:lnSpc>
                <a:spcPct val="135625"/>
              </a:lnSpc>
              <a:buNone/>
            </a:pPr>
            <a:r>
              <a:rPr lang="en-US" sz="2100" b="1" dirty="0">
                <a:solidFill>
                  <a:srgbClr val="FFFFFF"/>
                </a:solidFill>
                <a:latin typeface="Times New Roman" pitchFamily="34" charset="0"/>
                <a:ea typeface="Times New Roman" pitchFamily="34" charset="-122"/>
                <a:cs typeface="Times New Roman" pitchFamily="34" charset="-120"/>
              </a:rPr>
              <a:t>3</a:t>
            </a:r>
            <a:endParaRPr lang="en-US" sz="2100" dirty="0"/>
          </a:p>
        </p:txBody>
      </p:sp>
      <p:sp>
        <p:nvSpPr>
          <p:cNvPr id="13" name="Text 11"/>
          <p:cNvSpPr/>
          <p:nvPr/>
        </p:nvSpPr>
        <p:spPr>
          <a:xfrm>
            <a:off x="1524000" y="6069330"/>
            <a:ext cx="7638650" cy="864870"/>
          </a:xfrm>
          <a:prstGeom prst="rect">
            <a:avLst/>
          </a:prstGeom>
          <a:noFill/>
          <a:ln/>
        </p:spPr>
        <p:txBody>
          <a:bodyPr wrap="square" lIns="25400" tIns="25400" rIns="25400" bIns="25400" rtlCol="0" anchor="t">
            <a:normAutofit/>
          </a:bodyPr>
          <a:lstStyle/>
          <a:p>
            <a:pPr marL="0" indent="0" algn="l">
              <a:lnSpc>
                <a:spcPct val="120556"/>
              </a:lnSpc>
              <a:buNone/>
            </a:pPr>
            <a:r>
              <a:rPr lang="en-US" sz="2325" dirty="0">
                <a:solidFill>
                  <a:srgbClr val="4A443F"/>
                </a:solidFill>
                <a:latin typeface="Times New Roman" pitchFamily="34" charset="0"/>
                <a:ea typeface="Times New Roman" pitchFamily="34" charset="-122"/>
                <a:cs typeface="Times New Roman" pitchFamily="34" charset="-120"/>
              </a:rPr>
              <a:t>ID mới xuất hiện được so màu với danh sách đó trong 45 khung</a:t>
            </a:r>
            <a:endParaRPr lang="en-US" sz="2325" dirty="0"/>
          </a:p>
        </p:txBody>
      </p:sp>
      <p:sp>
        <p:nvSpPr>
          <p:cNvPr id="14" name="Shape 12"/>
          <p:cNvSpPr/>
          <p:nvPr/>
        </p:nvSpPr>
        <p:spPr>
          <a:xfrm>
            <a:off x="914400" y="7299960"/>
            <a:ext cx="438150" cy="438150"/>
          </a:xfrm>
          <a:prstGeom prst="ellipse">
            <a:avLst/>
          </a:prstGeom>
          <a:solidFill>
            <a:srgbClr val="C67139"/>
          </a:solidFill>
          <a:ln/>
        </p:spPr>
      </p:sp>
      <p:sp>
        <p:nvSpPr>
          <p:cNvPr id="15" name="Text 13"/>
          <p:cNvSpPr/>
          <p:nvPr/>
        </p:nvSpPr>
        <p:spPr>
          <a:xfrm>
            <a:off x="876300" y="7299960"/>
            <a:ext cx="514350" cy="476250"/>
          </a:xfrm>
          <a:prstGeom prst="rect">
            <a:avLst/>
          </a:prstGeom>
          <a:noFill/>
          <a:ln/>
        </p:spPr>
        <p:txBody>
          <a:bodyPr wrap="square" lIns="25400" tIns="25400" rIns="25400" bIns="25400" rtlCol="0" anchor="ctr">
            <a:normAutofit/>
          </a:bodyPr>
          <a:lstStyle/>
          <a:p>
            <a:pPr marL="0" indent="0" algn="ctr">
              <a:lnSpc>
                <a:spcPct val="135625"/>
              </a:lnSpc>
              <a:buNone/>
            </a:pPr>
            <a:r>
              <a:rPr lang="en-US" sz="2100" b="1" dirty="0">
                <a:solidFill>
                  <a:srgbClr val="FFFFFF"/>
                </a:solidFill>
                <a:latin typeface="Times New Roman" pitchFamily="34" charset="0"/>
                <a:ea typeface="Times New Roman" pitchFamily="34" charset="-122"/>
                <a:cs typeface="Times New Roman" pitchFamily="34" charset="-120"/>
              </a:rPr>
              <a:t>4</a:t>
            </a:r>
            <a:endParaRPr lang="en-US" sz="2100" dirty="0"/>
          </a:p>
        </p:txBody>
      </p:sp>
      <p:sp>
        <p:nvSpPr>
          <p:cNvPr id="16" name="Text 14"/>
          <p:cNvSpPr/>
          <p:nvPr/>
        </p:nvSpPr>
        <p:spPr>
          <a:xfrm>
            <a:off x="1524000" y="7105650"/>
            <a:ext cx="7638650" cy="864870"/>
          </a:xfrm>
          <a:prstGeom prst="rect">
            <a:avLst/>
          </a:prstGeom>
          <a:noFill/>
          <a:ln/>
        </p:spPr>
        <p:txBody>
          <a:bodyPr wrap="square" lIns="25400" tIns="25400" rIns="25400" bIns="25400" rtlCol="0" anchor="t">
            <a:normAutofit/>
          </a:bodyPr>
          <a:lstStyle/>
          <a:p>
            <a:pPr marL="0" indent="0" algn="l">
              <a:lnSpc>
                <a:spcPct val="120556"/>
              </a:lnSpc>
              <a:buNone/>
            </a:pPr>
            <a:r>
              <a:rPr lang="en-US" sz="2325" dirty="0">
                <a:solidFill>
                  <a:srgbClr val="4A443F"/>
                </a:solidFill>
                <a:latin typeface="Times New Roman" pitchFamily="34" charset="0"/>
                <a:ea typeface="Times New Roman" pitchFamily="34" charset="-122"/>
                <a:cs typeface="Times New Roman" pitchFamily="34" charset="-120"/>
              </a:rPr>
              <a:t>Tương quan &gt; 0.6 thì kế thừa hướng đã đếm — không cộng thêm lượt</a:t>
            </a:r>
            <a:endParaRPr lang="en-US" sz="2325" dirty="0"/>
          </a:p>
        </p:txBody>
      </p:sp>
      <p:sp>
        <p:nvSpPr>
          <p:cNvPr id="17" name="Shape 15"/>
          <p:cNvSpPr/>
          <p:nvPr/>
        </p:nvSpPr>
        <p:spPr>
          <a:xfrm>
            <a:off x="9980232" y="3323216"/>
            <a:ext cx="7359430" cy="3632338"/>
          </a:xfrm>
          <a:prstGeom prst="roundRect">
            <a:avLst>
              <a:gd name="adj" fmla="val 5859"/>
            </a:avLst>
          </a:prstGeom>
          <a:solidFill>
            <a:srgbClr val="26221F"/>
          </a:solidFill>
          <a:ln/>
          <a:effectLst>
            <a:outerShdw blurRad="323850" dist="133350" dir="5400000" algn="bl" rotWithShape="0">
              <a:srgbClr val="201E1D">
                <a:alpha val="18000"/>
              </a:srgbClr>
            </a:outerShdw>
          </a:effectLst>
        </p:spPr>
      </p:sp>
      <p:sp>
        <p:nvSpPr>
          <p:cNvPr id="18" name="Text 16"/>
          <p:cNvSpPr/>
          <p:nvPr/>
        </p:nvSpPr>
        <p:spPr>
          <a:xfrm>
            <a:off x="10377400" y="3694132"/>
            <a:ext cx="7332232" cy="3057153"/>
          </a:xfrm>
          <a:prstGeom prst="rect">
            <a:avLst/>
          </a:prstGeom>
          <a:noFill/>
          <a:ln/>
        </p:spPr>
        <p:txBody>
          <a:bodyPr wrap="none" lIns="25400" tIns="25400" rIns="25400" bIns="25400" rtlCol="0" anchor="t">
            <a:normAutofit/>
          </a:bodyPr>
          <a:lstStyle/>
          <a:p>
            <a:r>
              <a:rPr lang="en-US" sz="2000" dirty="0" err="1">
                <a:solidFill>
                  <a:srgbClr val="F0E2CA"/>
                </a:solidFill>
                <a:latin typeface="Consolas"/>
                <a:ea typeface="+mn-lt"/>
                <a:cs typeface="+mn-lt"/>
              </a:rPr>
              <a:t>hsv</a:t>
            </a:r>
            <a:r>
              <a:rPr lang="en-US" sz="2000" dirty="0">
                <a:solidFill>
                  <a:srgbClr val="F0E2CA"/>
                </a:solidFill>
                <a:latin typeface="Consolas"/>
                <a:ea typeface="+mn-lt"/>
                <a:cs typeface="+mn-lt"/>
              </a:rPr>
              <a:t>  = cv2.cvtColor(crop, cv2.COLOR_BGR2HSV)
hist = cv2.calcHist([</a:t>
            </a:r>
            <a:r>
              <a:rPr lang="en-US" sz="2000" dirty="0" err="1">
                <a:solidFill>
                  <a:srgbClr val="F0E2CA"/>
                </a:solidFill>
                <a:latin typeface="Consolas"/>
                <a:ea typeface="+mn-lt"/>
                <a:cs typeface="+mn-lt"/>
              </a:rPr>
              <a:t>hsv</a:t>
            </a:r>
            <a:r>
              <a:rPr lang="en-US" sz="2000" dirty="0">
                <a:solidFill>
                  <a:srgbClr val="F0E2CA"/>
                </a:solidFill>
                <a:latin typeface="Consolas"/>
                <a:ea typeface="+mn-lt"/>
                <a:cs typeface="+mn-lt"/>
              </a:rPr>
              <a:t>], [</a:t>
            </a:r>
            <a:r>
              <a:rPr lang="en-US" sz="2000" dirty="0">
                <a:solidFill>
                  <a:srgbClr val="A8BD83"/>
                </a:solidFill>
                <a:latin typeface="Consolas"/>
                <a:ea typeface="+mn-lt"/>
                <a:cs typeface="+mn-lt"/>
              </a:rPr>
              <a:t>0</a:t>
            </a:r>
            <a:r>
              <a:rPr lang="en-US" sz="2000" dirty="0">
                <a:solidFill>
                  <a:srgbClr val="F0E2CA"/>
                </a:solidFill>
                <a:latin typeface="Consolas"/>
                <a:ea typeface="+mn-lt"/>
                <a:cs typeface="+mn-lt"/>
              </a:rPr>
              <a:t>, </a:t>
            </a:r>
            <a:r>
              <a:rPr lang="en-US" sz="2000" dirty="0">
                <a:solidFill>
                  <a:srgbClr val="A8BD83"/>
                </a:solidFill>
                <a:latin typeface="Consolas"/>
                <a:ea typeface="+mn-lt"/>
                <a:cs typeface="+mn-lt"/>
              </a:rPr>
              <a:t>1</a:t>
            </a:r>
            <a:r>
              <a:rPr lang="en-US" sz="2000" dirty="0">
                <a:solidFill>
                  <a:srgbClr val="F0E2CA"/>
                </a:solidFill>
                <a:latin typeface="Consolas"/>
                <a:ea typeface="+mn-lt"/>
                <a:cs typeface="+mn-lt"/>
              </a:rPr>
              <a:t>], </a:t>
            </a:r>
            <a:r>
              <a:rPr lang="en-US" sz="2000" dirty="0">
                <a:solidFill>
                  <a:srgbClr val="A8BD83"/>
                </a:solidFill>
                <a:latin typeface="Consolas"/>
                <a:ea typeface="+mn-lt"/>
                <a:cs typeface="+mn-lt"/>
              </a:rPr>
              <a:t>None</a:t>
            </a:r>
            <a:r>
              <a:rPr lang="en-US" sz="2000" dirty="0">
                <a:solidFill>
                  <a:srgbClr val="F0E2CA"/>
                </a:solidFill>
                <a:latin typeface="Consolas"/>
                <a:ea typeface="+mn-lt"/>
                <a:cs typeface="+mn-lt"/>
              </a:rPr>
              <a:t>,
                    [</a:t>
            </a:r>
            <a:r>
              <a:rPr lang="en-US" sz="2000" dirty="0">
                <a:solidFill>
                  <a:srgbClr val="A8BD83"/>
                </a:solidFill>
                <a:latin typeface="Consolas"/>
                <a:ea typeface="+mn-lt"/>
                <a:cs typeface="+mn-lt"/>
              </a:rPr>
              <a:t>30</a:t>
            </a:r>
            <a:r>
              <a:rPr lang="en-US" sz="2000" dirty="0">
                <a:solidFill>
                  <a:srgbClr val="F0E2CA"/>
                </a:solidFill>
                <a:latin typeface="Consolas"/>
                <a:ea typeface="+mn-lt"/>
                <a:cs typeface="+mn-lt"/>
              </a:rPr>
              <a:t>, </a:t>
            </a:r>
            <a:r>
              <a:rPr lang="en-US" sz="2000" dirty="0">
                <a:solidFill>
                  <a:srgbClr val="A8BD83"/>
                </a:solidFill>
                <a:latin typeface="Consolas"/>
                <a:ea typeface="+mn-lt"/>
                <a:cs typeface="+mn-lt"/>
              </a:rPr>
              <a:t>32</a:t>
            </a:r>
            <a:r>
              <a:rPr lang="en-US" sz="2000" dirty="0">
                <a:solidFill>
                  <a:srgbClr val="F0E2CA"/>
                </a:solidFill>
                <a:latin typeface="Consolas"/>
                <a:ea typeface="+mn-lt"/>
                <a:cs typeface="+mn-lt"/>
              </a:rPr>
              <a:t>], [</a:t>
            </a:r>
            <a:r>
              <a:rPr lang="en-US" sz="2000" dirty="0">
                <a:solidFill>
                  <a:srgbClr val="A8BD83"/>
                </a:solidFill>
                <a:latin typeface="Consolas"/>
                <a:ea typeface="+mn-lt"/>
                <a:cs typeface="+mn-lt"/>
              </a:rPr>
              <a:t>0</a:t>
            </a:r>
            <a:r>
              <a:rPr lang="en-US" sz="2000" dirty="0">
                <a:solidFill>
                  <a:srgbClr val="F0E2CA"/>
                </a:solidFill>
                <a:latin typeface="Consolas"/>
                <a:ea typeface="+mn-lt"/>
                <a:cs typeface="+mn-lt"/>
              </a:rPr>
              <a:t>, </a:t>
            </a:r>
            <a:r>
              <a:rPr lang="en-US" sz="2000" dirty="0">
                <a:solidFill>
                  <a:srgbClr val="A8BD83"/>
                </a:solidFill>
                <a:latin typeface="Consolas"/>
                <a:ea typeface="+mn-lt"/>
                <a:cs typeface="+mn-lt"/>
              </a:rPr>
              <a:t>180</a:t>
            </a:r>
            <a:r>
              <a:rPr lang="en-US" sz="2000" dirty="0">
                <a:solidFill>
                  <a:srgbClr val="F0E2CA"/>
                </a:solidFill>
                <a:latin typeface="Consolas"/>
                <a:ea typeface="+mn-lt"/>
                <a:cs typeface="+mn-lt"/>
              </a:rPr>
              <a:t>, </a:t>
            </a:r>
            <a:r>
              <a:rPr lang="en-US" sz="2000" dirty="0">
                <a:solidFill>
                  <a:srgbClr val="A8BD83"/>
                </a:solidFill>
                <a:latin typeface="Consolas"/>
                <a:ea typeface="+mn-lt"/>
                <a:cs typeface="+mn-lt"/>
              </a:rPr>
              <a:t>0</a:t>
            </a:r>
            <a:r>
              <a:rPr lang="en-US" sz="2000" dirty="0">
                <a:solidFill>
                  <a:srgbClr val="F0E2CA"/>
                </a:solidFill>
                <a:latin typeface="Consolas"/>
                <a:ea typeface="+mn-lt"/>
                <a:cs typeface="+mn-lt"/>
              </a:rPr>
              <a:t>, </a:t>
            </a:r>
            <a:r>
              <a:rPr lang="en-US" sz="2000" dirty="0">
                <a:solidFill>
                  <a:srgbClr val="A8BD83"/>
                </a:solidFill>
                <a:latin typeface="Consolas"/>
                <a:ea typeface="+mn-lt"/>
                <a:cs typeface="+mn-lt"/>
              </a:rPr>
              <a:t>256</a:t>
            </a:r>
            <a:r>
              <a:rPr lang="en-US" sz="2000" dirty="0">
                <a:solidFill>
                  <a:srgbClr val="F0E2CA"/>
                </a:solidFill>
                <a:latin typeface="Consolas"/>
                <a:ea typeface="+mn-lt"/>
                <a:cs typeface="+mn-lt"/>
              </a:rPr>
              <a:t>])
sim = cv2.compareHist(hist, </a:t>
            </a:r>
            <a:r>
              <a:rPr lang="en-US" sz="2000" dirty="0" err="1">
                <a:solidFill>
                  <a:srgbClr val="F0E2CA"/>
                </a:solidFill>
                <a:latin typeface="Consolas"/>
                <a:ea typeface="+mn-lt"/>
                <a:cs typeface="+mn-lt"/>
              </a:rPr>
              <a:t>old_hist</a:t>
            </a:r>
            <a:r>
              <a:rPr lang="en-US" sz="2000" dirty="0">
                <a:solidFill>
                  <a:srgbClr val="F0E2CA"/>
                </a:solidFill>
                <a:latin typeface="Consolas"/>
                <a:ea typeface="+mn-lt"/>
                <a:cs typeface="+mn-lt"/>
              </a:rPr>
              <a:t>,
                      cv2.HISTCMP_CORREL)
if sim &gt; REID_THRESHOLD:
    </a:t>
            </a:r>
            <a:r>
              <a:rPr lang="en-US" sz="2000" dirty="0" err="1">
                <a:solidFill>
                  <a:srgbClr val="F0E2CA"/>
                </a:solidFill>
                <a:latin typeface="Consolas"/>
                <a:ea typeface="+mn-lt"/>
                <a:cs typeface="+mn-lt"/>
              </a:rPr>
              <a:t>counted_direction</a:t>
            </a:r>
            <a:r>
              <a:rPr lang="en-US" sz="2000" dirty="0">
                <a:solidFill>
                  <a:srgbClr val="F0E2CA"/>
                </a:solidFill>
                <a:latin typeface="Consolas"/>
                <a:ea typeface="+mn-lt"/>
                <a:cs typeface="+mn-lt"/>
              </a:rPr>
              <a:t>[</a:t>
            </a:r>
            <a:r>
              <a:rPr lang="en-US" sz="2000" dirty="0" err="1">
                <a:solidFill>
                  <a:srgbClr val="F0E2CA"/>
                </a:solidFill>
                <a:latin typeface="Consolas"/>
                <a:ea typeface="+mn-lt"/>
                <a:cs typeface="+mn-lt"/>
              </a:rPr>
              <a:t>track_id</a:t>
            </a:r>
            <a:r>
              <a:rPr lang="en-US" sz="2000" dirty="0">
                <a:solidFill>
                  <a:srgbClr val="F0E2CA"/>
                </a:solidFill>
                <a:latin typeface="Consolas"/>
                <a:ea typeface="+mn-lt"/>
                <a:cs typeface="+mn-lt"/>
              </a:rPr>
              <a:t>] = </a:t>
            </a:r>
            <a:r>
              <a:rPr lang="en-US" sz="2000" dirty="0" err="1">
                <a:solidFill>
                  <a:srgbClr val="F0E2CA"/>
                </a:solidFill>
                <a:latin typeface="Consolas"/>
                <a:ea typeface="+mn-lt"/>
                <a:cs typeface="+mn-lt"/>
              </a:rPr>
              <a:t>old_dir</a:t>
            </a:r>
            <a:endParaRPr lang="vi-VN" dirty="0" err="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6F0"/>
        </a:solidFill>
        <a:effectLst/>
      </p:bgPr>
    </p:bg>
    <p:spTree>
      <p:nvGrpSpPr>
        <p:cNvPr id="1" name=""/>
        <p:cNvGrpSpPr/>
        <p:nvPr/>
      </p:nvGrpSpPr>
      <p:grpSpPr>
        <a:xfrm>
          <a:off x="0" y="0"/>
          <a:ext cx="0" cy="0"/>
          <a:chOff x="0" y="0"/>
          <a:chExt cx="0" cy="0"/>
        </a:xfrm>
      </p:grpSpPr>
      <p:sp>
        <p:nvSpPr>
          <p:cNvPr id="2" name="Text 0"/>
          <p:cNvSpPr/>
          <p:nvPr/>
        </p:nvSpPr>
        <p:spPr>
          <a:xfrm>
            <a:off x="762000" y="666750"/>
            <a:ext cx="6637496" cy="645795"/>
          </a:xfrm>
          <a:prstGeom prst="rect">
            <a:avLst/>
          </a:prstGeom>
          <a:noFill/>
          <a:ln/>
        </p:spPr>
        <p:txBody>
          <a:bodyPr wrap="square" lIns="25400" tIns="25400" rIns="25400" bIns="25400" rtlCol="0" anchor="t">
            <a:normAutofit/>
          </a:bodyPr>
          <a:lstStyle/>
          <a:p>
            <a:pPr marL="0" indent="0" algn="l">
              <a:lnSpc>
                <a:spcPct val="94940"/>
              </a:lnSpc>
              <a:buNone/>
            </a:pPr>
            <a:r>
              <a:rPr lang="en-US" sz="4350" b="1" kern="0" spc="-65" dirty="0">
                <a:solidFill>
                  <a:srgbClr val="201E1D"/>
                </a:solidFill>
                <a:latin typeface="Times New Roman" pitchFamily="34" charset="0"/>
                <a:ea typeface="Times New Roman" pitchFamily="34" charset="-122"/>
                <a:cs typeface="Times New Roman" pitchFamily="34" charset="-120"/>
              </a:rPr>
              <a:t>Các thuật toán đã sử dụng</a:t>
            </a:r>
            <a:endParaRPr lang="en-US" sz="4350" dirty="0"/>
          </a:p>
        </p:txBody>
      </p:sp>
      <p:sp>
        <p:nvSpPr>
          <p:cNvPr id="3" name="Text 1"/>
          <p:cNvSpPr/>
          <p:nvPr/>
        </p:nvSpPr>
        <p:spPr>
          <a:xfrm>
            <a:off x="7062788" y="842010"/>
            <a:ext cx="3735098" cy="481012"/>
          </a:xfrm>
          <a:prstGeom prst="rect">
            <a:avLst/>
          </a:prstGeom>
          <a:noFill/>
          <a:ln/>
        </p:spPr>
        <p:txBody>
          <a:bodyPr wrap="square" lIns="25400" tIns="25400" rIns="25400" bIns="25400" rtlCol="0" anchor="t">
            <a:normAutofit/>
          </a:bodyPr>
          <a:lstStyle/>
          <a:p>
            <a:pPr marL="0" indent="0" algn="l">
              <a:lnSpc>
                <a:spcPct val="135174"/>
              </a:lnSpc>
              <a:buNone/>
            </a:pPr>
            <a:r>
              <a:rPr lang="en-US" sz="2250" b="1" dirty="0">
                <a:solidFill>
                  <a:srgbClr val="8A5A2E"/>
                </a:solidFill>
                <a:latin typeface="Times New Roman" pitchFamily="34" charset="0"/>
                <a:ea typeface="Times New Roman" pitchFamily="34" charset="-122"/>
                <a:cs typeface="Times New Roman" pitchFamily="34" charset="-120"/>
              </a:rPr>
              <a:t>Hai từ thư viện, năm tự viết</a:t>
            </a:r>
            <a:endParaRPr lang="en-US" sz="2250" dirty="0"/>
          </a:p>
        </p:txBody>
      </p:sp>
      <p:sp>
        <p:nvSpPr>
          <p:cNvPr id="4" name="Shape 2"/>
          <p:cNvSpPr/>
          <p:nvPr/>
        </p:nvSpPr>
        <p:spPr>
          <a:xfrm>
            <a:off x="762000" y="1608773"/>
            <a:ext cx="5435561" cy="2585085"/>
          </a:xfrm>
          <a:prstGeom prst="roundRect">
            <a:avLst>
              <a:gd name="adj" fmla="val 7369"/>
            </a:avLst>
          </a:prstGeom>
          <a:solidFill>
            <a:srgbClr val="EFE0C6"/>
          </a:solidFill>
          <a:ln/>
        </p:spPr>
      </p:sp>
      <p:sp>
        <p:nvSpPr>
          <p:cNvPr id="5" name="Text 3"/>
          <p:cNvSpPr/>
          <p:nvPr/>
        </p:nvSpPr>
        <p:spPr>
          <a:xfrm>
            <a:off x="1028700" y="1856423"/>
            <a:ext cx="5392377" cy="451485"/>
          </a:xfrm>
          <a:prstGeom prst="rect">
            <a:avLst/>
          </a:prstGeom>
          <a:noFill/>
          <a:ln/>
        </p:spPr>
        <p:txBody>
          <a:bodyPr wrap="square" lIns="25400" tIns="25400" rIns="25400" bIns="25400" rtlCol="0" anchor="t">
            <a:normAutofit/>
          </a:bodyPr>
          <a:lstStyle/>
          <a:p>
            <a:pPr marL="0" indent="0" algn="l">
              <a:lnSpc>
                <a:spcPct val="135625"/>
              </a:lnSpc>
              <a:buNone/>
            </a:pPr>
            <a:r>
              <a:rPr lang="en-US" sz="2100" b="1" kern="0" spc="168" dirty="0">
                <a:solidFill>
                  <a:srgbClr val="8A5A2E"/>
                </a:solidFill>
                <a:latin typeface="Times New Roman" pitchFamily="34" charset="0"/>
                <a:ea typeface="Times New Roman" pitchFamily="34" charset="-122"/>
                <a:cs typeface="Times New Roman" pitchFamily="34" charset="-120"/>
              </a:rPr>
              <a:t>PHÁT HIỆN · THƯ VIỆN</a:t>
            </a:r>
            <a:endParaRPr lang="en-US" sz="2100" dirty="0"/>
          </a:p>
        </p:txBody>
      </p:sp>
      <p:sp>
        <p:nvSpPr>
          <p:cNvPr id="6" name="Text 4"/>
          <p:cNvSpPr/>
          <p:nvPr/>
        </p:nvSpPr>
        <p:spPr>
          <a:xfrm>
            <a:off x="1028700" y="2365058"/>
            <a:ext cx="5049225" cy="769620"/>
          </a:xfrm>
          <a:prstGeom prst="rect">
            <a:avLst/>
          </a:prstGeom>
          <a:noFill/>
          <a:ln/>
        </p:spPr>
        <p:txBody>
          <a:bodyPr wrap="square" lIns="25400" tIns="25400" rIns="25400" bIns="25400" rtlCol="0" anchor="t">
            <a:normAutofit/>
          </a:bodyPr>
          <a:lstStyle/>
          <a:p>
            <a:pPr marL="0" indent="0" algn="l">
              <a:lnSpc>
                <a:spcPct val="102128"/>
              </a:lnSpc>
              <a:buNone/>
            </a:pPr>
            <a:r>
              <a:rPr lang="en-US" sz="2400" b="1" dirty="0">
                <a:solidFill>
                  <a:srgbClr val="201E1D"/>
                </a:solidFill>
                <a:latin typeface="Times New Roman" pitchFamily="34" charset="0"/>
                <a:ea typeface="Times New Roman" pitchFamily="34" charset="-122"/>
                <a:cs typeface="Times New Roman" pitchFamily="34" charset="-120"/>
              </a:rPr>
              <a:t>YOLOv8 một giai đoạn, không anchor</a:t>
            </a:r>
            <a:endParaRPr lang="en-US" sz="2400" dirty="0"/>
          </a:p>
        </p:txBody>
      </p:sp>
      <p:sp>
        <p:nvSpPr>
          <p:cNvPr id="7" name="Text 5"/>
          <p:cNvSpPr/>
          <p:nvPr/>
        </p:nvSpPr>
        <p:spPr>
          <a:xfrm>
            <a:off x="1028700" y="3191828"/>
            <a:ext cx="5049225" cy="784860"/>
          </a:xfrm>
          <a:prstGeom prst="rect">
            <a:avLst/>
          </a:prstGeom>
          <a:noFill/>
          <a:ln/>
        </p:spPr>
        <p:txBody>
          <a:bodyPr wrap="square" lIns="25400" tIns="25400" rIns="25400" bIns="25400" rtlCol="0" anchor="t">
            <a:normAutofit/>
          </a:bodyPr>
          <a:lstStyle/>
          <a:p>
            <a:pPr marL="0" indent="0" algn="l">
              <a:lnSpc>
                <a:spcPct val="122500"/>
              </a:lnSpc>
              <a:buNone/>
            </a:pPr>
            <a:r>
              <a:rPr lang="en-US" sz="2100" dirty="0">
                <a:solidFill>
                  <a:srgbClr val="5A534C"/>
                </a:solidFill>
                <a:latin typeface="Times New Roman" pitchFamily="34" charset="0"/>
                <a:ea typeface="Times New Roman" pitchFamily="34" charset="-122"/>
                <a:cs typeface="Times New Roman" pitchFamily="34" charset="-120"/>
              </a:rPr>
              <a:t>Mạng tích chập dự đoán trực tiếp hộp và độ tin cậy, kèm NMS loại hộp trùng.</a:t>
            </a:r>
            <a:endParaRPr lang="en-US" sz="2100" dirty="0"/>
          </a:p>
        </p:txBody>
      </p:sp>
      <p:sp>
        <p:nvSpPr>
          <p:cNvPr id="8" name="Shape 6"/>
          <p:cNvSpPr/>
          <p:nvPr/>
        </p:nvSpPr>
        <p:spPr>
          <a:xfrm>
            <a:off x="6426161" y="1608773"/>
            <a:ext cx="5435561" cy="2585085"/>
          </a:xfrm>
          <a:prstGeom prst="roundRect">
            <a:avLst>
              <a:gd name="adj" fmla="val 7369"/>
            </a:avLst>
          </a:prstGeom>
          <a:solidFill>
            <a:srgbClr val="EFE0C6"/>
          </a:solidFill>
          <a:ln/>
        </p:spPr>
      </p:sp>
      <p:sp>
        <p:nvSpPr>
          <p:cNvPr id="9" name="Text 7"/>
          <p:cNvSpPr/>
          <p:nvPr/>
        </p:nvSpPr>
        <p:spPr>
          <a:xfrm>
            <a:off x="6692861" y="1856423"/>
            <a:ext cx="5392377" cy="451485"/>
          </a:xfrm>
          <a:prstGeom prst="rect">
            <a:avLst/>
          </a:prstGeom>
          <a:noFill/>
          <a:ln/>
        </p:spPr>
        <p:txBody>
          <a:bodyPr wrap="square" lIns="25400" tIns="25400" rIns="25400" bIns="25400" rtlCol="0" anchor="t">
            <a:normAutofit/>
          </a:bodyPr>
          <a:lstStyle/>
          <a:p>
            <a:pPr marL="0" indent="0" algn="l">
              <a:lnSpc>
                <a:spcPct val="135625"/>
              </a:lnSpc>
              <a:buNone/>
            </a:pPr>
            <a:r>
              <a:rPr lang="en-US" sz="2100" b="1" kern="0" spc="168" dirty="0">
                <a:solidFill>
                  <a:srgbClr val="8A5A2E"/>
                </a:solidFill>
                <a:latin typeface="Times New Roman" pitchFamily="34" charset="0"/>
                <a:ea typeface="Times New Roman" pitchFamily="34" charset="-122"/>
                <a:cs typeface="Times New Roman" pitchFamily="34" charset="-120"/>
              </a:rPr>
              <a:t>BÁM ĐỐI TƯỢNG · THƯ VIỆN</a:t>
            </a:r>
            <a:endParaRPr lang="en-US" sz="2100" dirty="0"/>
          </a:p>
        </p:txBody>
      </p:sp>
      <p:sp>
        <p:nvSpPr>
          <p:cNvPr id="10" name="Text 8"/>
          <p:cNvSpPr/>
          <p:nvPr/>
        </p:nvSpPr>
        <p:spPr>
          <a:xfrm>
            <a:off x="6692861" y="2365058"/>
            <a:ext cx="5392377" cy="403860"/>
          </a:xfrm>
          <a:prstGeom prst="rect">
            <a:avLst/>
          </a:prstGeom>
          <a:noFill/>
          <a:ln/>
        </p:spPr>
        <p:txBody>
          <a:bodyPr wrap="square" lIns="25400" tIns="25400" rIns="25400" bIns="25400" rtlCol="0" anchor="t">
            <a:normAutofit/>
          </a:bodyPr>
          <a:lstStyle/>
          <a:p>
            <a:pPr marL="0" indent="0" algn="l">
              <a:lnSpc>
                <a:spcPct val="102128"/>
              </a:lnSpc>
              <a:buNone/>
            </a:pPr>
            <a:r>
              <a:rPr lang="en-US" sz="2400" b="1" dirty="0">
                <a:solidFill>
                  <a:srgbClr val="201E1D"/>
                </a:solidFill>
                <a:latin typeface="Times New Roman" pitchFamily="34" charset="0"/>
                <a:ea typeface="Times New Roman" pitchFamily="34" charset="-122"/>
                <a:cs typeface="Times New Roman" pitchFamily="34" charset="-120"/>
              </a:rPr>
              <a:t>ByteTrack (MOT)</a:t>
            </a:r>
            <a:endParaRPr lang="en-US" sz="2400" dirty="0"/>
          </a:p>
        </p:txBody>
      </p:sp>
      <p:sp>
        <p:nvSpPr>
          <p:cNvPr id="11" name="Text 9"/>
          <p:cNvSpPr/>
          <p:nvPr/>
        </p:nvSpPr>
        <p:spPr>
          <a:xfrm>
            <a:off x="6692861" y="2826068"/>
            <a:ext cx="5049225" cy="1158240"/>
          </a:xfrm>
          <a:prstGeom prst="rect">
            <a:avLst/>
          </a:prstGeom>
          <a:noFill/>
          <a:ln/>
        </p:spPr>
        <p:txBody>
          <a:bodyPr wrap="square" lIns="25400" tIns="25400" rIns="25400" bIns="25400" rtlCol="0" anchor="t">
            <a:normAutofit/>
          </a:bodyPr>
          <a:lstStyle/>
          <a:p>
            <a:pPr marL="0" indent="0" algn="l">
              <a:lnSpc>
                <a:spcPct val="122500"/>
              </a:lnSpc>
              <a:buNone/>
            </a:pPr>
            <a:r>
              <a:rPr lang="en-US" sz="2100" dirty="0">
                <a:solidFill>
                  <a:srgbClr val="5A534C"/>
                </a:solidFill>
                <a:latin typeface="Times New Roman" pitchFamily="34" charset="0"/>
                <a:ea typeface="Times New Roman" pitchFamily="34" charset="-122"/>
                <a:cs typeface="Times New Roman" pitchFamily="34" charset="-120"/>
              </a:rPr>
              <a:t>Dự đoán vị trí bằng bộ lọc Kalman rồi ghép với phát hiện mới theo IoU; giữ cả tracklet đang tạm mất.</a:t>
            </a:r>
            <a:endParaRPr lang="en-US" sz="2100" dirty="0"/>
          </a:p>
        </p:txBody>
      </p:sp>
      <p:sp>
        <p:nvSpPr>
          <p:cNvPr id="12" name="Shape 10"/>
          <p:cNvSpPr/>
          <p:nvPr/>
        </p:nvSpPr>
        <p:spPr>
          <a:xfrm>
            <a:off x="12090321" y="1608773"/>
            <a:ext cx="5435561" cy="2585085"/>
          </a:xfrm>
          <a:prstGeom prst="roundRect">
            <a:avLst>
              <a:gd name="adj" fmla="val 7369"/>
            </a:avLst>
          </a:prstGeom>
          <a:solidFill>
            <a:srgbClr val="E4E8D8"/>
          </a:solidFill>
          <a:ln/>
        </p:spPr>
      </p:sp>
      <p:sp>
        <p:nvSpPr>
          <p:cNvPr id="13" name="Text 11"/>
          <p:cNvSpPr/>
          <p:nvPr/>
        </p:nvSpPr>
        <p:spPr>
          <a:xfrm>
            <a:off x="12357021" y="1856423"/>
            <a:ext cx="5392377" cy="451485"/>
          </a:xfrm>
          <a:prstGeom prst="rect">
            <a:avLst/>
          </a:prstGeom>
          <a:noFill/>
          <a:ln/>
        </p:spPr>
        <p:txBody>
          <a:bodyPr wrap="square" lIns="25400" tIns="25400" rIns="25400" bIns="25400" rtlCol="0" anchor="t">
            <a:normAutofit/>
          </a:bodyPr>
          <a:lstStyle/>
          <a:p>
            <a:pPr marL="0" indent="0" algn="l">
              <a:lnSpc>
                <a:spcPct val="135625"/>
              </a:lnSpc>
              <a:buNone/>
            </a:pPr>
            <a:r>
              <a:rPr lang="en-US" sz="2100" b="1" kern="0" spc="168" dirty="0">
                <a:solidFill>
                  <a:srgbClr val="4C5A35"/>
                </a:solidFill>
                <a:latin typeface="Times New Roman" pitchFamily="34" charset="0"/>
                <a:ea typeface="Times New Roman" pitchFamily="34" charset="-122"/>
                <a:cs typeface="Times New Roman" pitchFamily="34" charset="-120"/>
              </a:rPr>
              <a:t>ĐO CHỒNG LẤN</a:t>
            </a:r>
            <a:endParaRPr lang="en-US" sz="2100" dirty="0"/>
          </a:p>
        </p:txBody>
      </p:sp>
      <p:sp>
        <p:nvSpPr>
          <p:cNvPr id="14" name="Text 12"/>
          <p:cNvSpPr/>
          <p:nvPr/>
        </p:nvSpPr>
        <p:spPr>
          <a:xfrm>
            <a:off x="12357021" y="2365058"/>
            <a:ext cx="5392377" cy="403860"/>
          </a:xfrm>
          <a:prstGeom prst="rect">
            <a:avLst/>
          </a:prstGeom>
          <a:noFill/>
          <a:ln/>
        </p:spPr>
        <p:txBody>
          <a:bodyPr wrap="square" lIns="25400" tIns="25400" rIns="25400" bIns="25400" rtlCol="0" anchor="t">
            <a:normAutofit/>
          </a:bodyPr>
          <a:lstStyle/>
          <a:p>
            <a:pPr marL="0" indent="0" algn="l">
              <a:lnSpc>
                <a:spcPct val="102128"/>
              </a:lnSpc>
              <a:buNone/>
            </a:pPr>
            <a:r>
              <a:rPr lang="en-US" sz="2400" b="1" dirty="0">
                <a:solidFill>
                  <a:srgbClr val="2F3A20"/>
                </a:solidFill>
                <a:latin typeface="Times New Roman" pitchFamily="34" charset="0"/>
                <a:ea typeface="Times New Roman" pitchFamily="34" charset="-122"/>
                <a:cs typeface="Times New Roman" pitchFamily="34" charset="-120"/>
              </a:rPr>
              <a:t>IoU — giao trên hợp</a:t>
            </a:r>
            <a:endParaRPr lang="en-US" sz="2400" dirty="0"/>
          </a:p>
        </p:txBody>
      </p:sp>
      <p:sp>
        <p:nvSpPr>
          <p:cNvPr id="15" name="Text 13"/>
          <p:cNvSpPr/>
          <p:nvPr/>
        </p:nvSpPr>
        <p:spPr>
          <a:xfrm>
            <a:off x="12357021" y="2826068"/>
            <a:ext cx="5049225" cy="792480"/>
          </a:xfrm>
          <a:prstGeom prst="rect">
            <a:avLst/>
          </a:prstGeom>
          <a:noFill/>
          <a:ln/>
        </p:spPr>
        <p:txBody>
          <a:bodyPr wrap="square" lIns="25400" tIns="25400" rIns="25400" bIns="25400" rtlCol="0" anchor="t">
            <a:normAutofit/>
          </a:bodyPr>
          <a:lstStyle/>
          <a:p>
            <a:pPr marL="0" indent="0" algn="l">
              <a:lnSpc>
                <a:spcPct val="122500"/>
              </a:lnSpc>
              <a:buNone/>
            </a:pPr>
            <a:r>
              <a:rPr lang="en-US" sz="2100" dirty="0">
                <a:solidFill>
                  <a:srgbClr val="4A5436"/>
                </a:solidFill>
                <a:latin typeface="Times New Roman" pitchFamily="34" charset="0"/>
                <a:ea typeface="Times New Roman" pitchFamily="34" charset="-122"/>
                <a:cs typeface="Times New Roman" pitchFamily="34" charset="-120"/>
              </a:rPr>
              <a:t>Tự cài đặt trong </a:t>
            </a:r>
            <a:r>
              <a:rPr lang="en-US" sz="2100" dirty="0">
                <a:solidFill>
                  <a:srgbClr val="4A5436"/>
                </a:solidFill>
                <a:latin typeface="Courier New" pitchFamily="34" charset="0"/>
                <a:ea typeface="Courier New" pitchFamily="34" charset="-122"/>
                <a:cs typeface="Courier New" pitchFamily="34" charset="-120"/>
              </a:rPr>
              <a:t>compute_iou() </a:t>
            </a:r>
            <a:r>
              <a:rPr lang="en-US" sz="2100" dirty="0">
                <a:solidFill>
                  <a:srgbClr val="4A5436"/>
                </a:solidFill>
                <a:latin typeface="Times New Roman" pitchFamily="34" charset="0"/>
                <a:ea typeface="Times New Roman" pitchFamily="34" charset="-122"/>
                <a:cs typeface="Times New Roman" pitchFamily="34" charset="-120"/>
              </a:rPr>
              <a:t>, dùng cho bước gộp khung bao.</a:t>
            </a:r>
            <a:endParaRPr lang="en-US" sz="2100" dirty="0"/>
          </a:p>
        </p:txBody>
      </p:sp>
      <p:sp>
        <p:nvSpPr>
          <p:cNvPr id="16" name="Shape 14"/>
          <p:cNvSpPr/>
          <p:nvPr/>
        </p:nvSpPr>
        <p:spPr>
          <a:xfrm>
            <a:off x="762000" y="4422458"/>
            <a:ext cx="5435561" cy="2585085"/>
          </a:xfrm>
          <a:prstGeom prst="roundRect">
            <a:avLst>
              <a:gd name="adj" fmla="val 7369"/>
            </a:avLst>
          </a:prstGeom>
          <a:solidFill>
            <a:srgbClr val="E4E8D8"/>
          </a:solidFill>
          <a:ln/>
        </p:spPr>
      </p:sp>
      <p:sp>
        <p:nvSpPr>
          <p:cNvPr id="17" name="Text 15"/>
          <p:cNvSpPr/>
          <p:nvPr/>
        </p:nvSpPr>
        <p:spPr>
          <a:xfrm>
            <a:off x="1028700" y="4670108"/>
            <a:ext cx="5392377" cy="451485"/>
          </a:xfrm>
          <a:prstGeom prst="rect">
            <a:avLst/>
          </a:prstGeom>
          <a:noFill/>
          <a:ln/>
        </p:spPr>
        <p:txBody>
          <a:bodyPr wrap="square" lIns="25400" tIns="25400" rIns="25400" bIns="25400" rtlCol="0" anchor="t">
            <a:normAutofit/>
          </a:bodyPr>
          <a:lstStyle/>
          <a:p>
            <a:pPr marL="0" indent="0" algn="l">
              <a:lnSpc>
                <a:spcPct val="135625"/>
              </a:lnSpc>
              <a:buNone/>
            </a:pPr>
            <a:r>
              <a:rPr lang="en-US" sz="2100" b="1" kern="0" spc="168" dirty="0">
                <a:solidFill>
                  <a:srgbClr val="4C5A35"/>
                </a:solidFill>
                <a:latin typeface="Times New Roman" pitchFamily="34" charset="0"/>
                <a:ea typeface="Times New Roman" pitchFamily="34" charset="-122"/>
                <a:cs typeface="Times New Roman" pitchFamily="34" charset="-120"/>
              </a:rPr>
              <a:t>GOM NHÓM</a:t>
            </a:r>
            <a:endParaRPr lang="en-US" sz="2100" dirty="0"/>
          </a:p>
        </p:txBody>
      </p:sp>
      <p:sp>
        <p:nvSpPr>
          <p:cNvPr id="18" name="Text 16"/>
          <p:cNvSpPr/>
          <p:nvPr/>
        </p:nvSpPr>
        <p:spPr>
          <a:xfrm>
            <a:off x="1028700" y="5178743"/>
            <a:ext cx="5392377" cy="403860"/>
          </a:xfrm>
          <a:prstGeom prst="rect">
            <a:avLst/>
          </a:prstGeom>
          <a:noFill/>
          <a:ln/>
        </p:spPr>
        <p:txBody>
          <a:bodyPr wrap="square" lIns="25400" tIns="25400" rIns="25400" bIns="25400" rtlCol="0" anchor="t">
            <a:normAutofit/>
          </a:bodyPr>
          <a:lstStyle/>
          <a:p>
            <a:pPr marL="0" indent="0" algn="l">
              <a:lnSpc>
                <a:spcPct val="102128"/>
              </a:lnSpc>
              <a:buNone/>
            </a:pPr>
            <a:r>
              <a:rPr lang="en-US" sz="2400" b="1" dirty="0">
                <a:solidFill>
                  <a:srgbClr val="2F3A20"/>
                </a:solidFill>
                <a:latin typeface="Times New Roman" pitchFamily="34" charset="0"/>
                <a:ea typeface="Times New Roman" pitchFamily="34" charset="-122"/>
                <a:cs typeface="Times New Roman" pitchFamily="34" charset="-120"/>
              </a:rPr>
              <a:t>Union-Find (tập rời nhau)</a:t>
            </a:r>
            <a:endParaRPr lang="en-US" sz="2400" dirty="0"/>
          </a:p>
        </p:txBody>
      </p:sp>
      <p:sp>
        <p:nvSpPr>
          <p:cNvPr id="19" name="Text 17"/>
          <p:cNvSpPr/>
          <p:nvPr/>
        </p:nvSpPr>
        <p:spPr>
          <a:xfrm>
            <a:off x="1028700" y="5639753"/>
            <a:ext cx="5049225" cy="1158240"/>
          </a:xfrm>
          <a:prstGeom prst="rect">
            <a:avLst/>
          </a:prstGeom>
          <a:noFill/>
          <a:ln/>
        </p:spPr>
        <p:txBody>
          <a:bodyPr wrap="square" lIns="25400" tIns="25400" rIns="25400" bIns="25400" rtlCol="0" anchor="t">
            <a:normAutofit/>
          </a:bodyPr>
          <a:lstStyle/>
          <a:p>
            <a:pPr marL="0" indent="0" algn="l">
              <a:lnSpc>
                <a:spcPct val="122500"/>
              </a:lnSpc>
              <a:buNone/>
            </a:pPr>
            <a:r>
              <a:rPr lang="en-US" sz="2100" dirty="0">
                <a:solidFill>
                  <a:srgbClr val="4A5436"/>
                </a:solidFill>
                <a:latin typeface="Times New Roman" pitchFamily="34" charset="0"/>
                <a:ea typeface="Times New Roman" pitchFamily="34" charset="-122"/>
                <a:cs typeface="Times New Roman" pitchFamily="34" charset="-120"/>
              </a:rPr>
              <a:t>Mọi cặp khung có IoU cao được hợp về một nhóm liên thông, có nén đường đi khi tìm gốc.</a:t>
            </a:r>
            <a:endParaRPr lang="en-US" sz="2100" dirty="0"/>
          </a:p>
        </p:txBody>
      </p:sp>
      <p:sp>
        <p:nvSpPr>
          <p:cNvPr id="20" name="Shape 18"/>
          <p:cNvSpPr/>
          <p:nvPr/>
        </p:nvSpPr>
        <p:spPr>
          <a:xfrm>
            <a:off x="6426161" y="4422458"/>
            <a:ext cx="5435561" cy="2585085"/>
          </a:xfrm>
          <a:prstGeom prst="roundRect">
            <a:avLst>
              <a:gd name="adj" fmla="val 7369"/>
            </a:avLst>
          </a:prstGeom>
          <a:solidFill>
            <a:srgbClr val="E4E8D8"/>
          </a:solidFill>
          <a:ln/>
        </p:spPr>
      </p:sp>
      <p:sp>
        <p:nvSpPr>
          <p:cNvPr id="21" name="Text 19"/>
          <p:cNvSpPr/>
          <p:nvPr/>
        </p:nvSpPr>
        <p:spPr>
          <a:xfrm>
            <a:off x="6692861" y="4670108"/>
            <a:ext cx="5392377" cy="451485"/>
          </a:xfrm>
          <a:prstGeom prst="rect">
            <a:avLst/>
          </a:prstGeom>
          <a:noFill/>
          <a:ln/>
        </p:spPr>
        <p:txBody>
          <a:bodyPr wrap="square" lIns="25400" tIns="25400" rIns="25400" bIns="25400" rtlCol="0" anchor="t">
            <a:normAutofit/>
          </a:bodyPr>
          <a:lstStyle/>
          <a:p>
            <a:pPr marL="0" indent="0" algn="l">
              <a:lnSpc>
                <a:spcPct val="135625"/>
              </a:lnSpc>
              <a:buNone/>
            </a:pPr>
            <a:r>
              <a:rPr lang="en-US" sz="2100" b="1" kern="0" spc="168" dirty="0">
                <a:solidFill>
                  <a:srgbClr val="4C5A35"/>
                </a:solidFill>
                <a:latin typeface="Times New Roman" pitchFamily="34" charset="0"/>
                <a:ea typeface="Times New Roman" pitchFamily="34" charset="-122"/>
                <a:cs typeface="Times New Roman" pitchFamily="34" charset="-120"/>
              </a:rPr>
              <a:t>TÁI ĐỊNH DANH</a:t>
            </a:r>
            <a:endParaRPr lang="en-US" sz="2100" dirty="0"/>
          </a:p>
        </p:txBody>
      </p:sp>
      <p:sp>
        <p:nvSpPr>
          <p:cNvPr id="22" name="Text 20"/>
          <p:cNvSpPr/>
          <p:nvPr/>
        </p:nvSpPr>
        <p:spPr>
          <a:xfrm>
            <a:off x="6692861" y="5178743"/>
            <a:ext cx="5392377" cy="403860"/>
          </a:xfrm>
          <a:prstGeom prst="rect">
            <a:avLst/>
          </a:prstGeom>
          <a:noFill/>
          <a:ln/>
        </p:spPr>
        <p:txBody>
          <a:bodyPr wrap="square" lIns="25400" tIns="25400" rIns="25400" bIns="25400" rtlCol="0" anchor="t">
            <a:normAutofit/>
          </a:bodyPr>
          <a:lstStyle/>
          <a:p>
            <a:pPr marL="0" indent="0" algn="l">
              <a:lnSpc>
                <a:spcPct val="102128"/>
              </a:lnSpc>
              <a:buNone/>
            </a:pPr>
            <a:r>
              <a:rPr lang="en-US" sz="2400" b="1" dirty="0">
                <a:solidFill>
                  <a:srgbClr val="2F3A20"/>
                </a:solidFill>
                <a:latin typeface="Times New Roman" pitchFamily="34" charset="0"/>
                <a:ea typeface="Times New Roman" pitchFamily="34" charset="-122"/>
                <a:cs typeface="Times New Roman" pitchFamily="34" charset="-120"/>
              </a:rPr>
              <a:t>Histogram HSV + tương quan</a:t>
            </a:r>
            <a:endParaRPr lang="en-US" sz="2400" dirty="0"/>
          </a:p>
        </p:txBody>
      </p:sp>
      <p:sp>
        <p:nvSpPr>
          <p:cNvPr id="23" name="Text 21"/>
          <p:cNvSpPr/>
          <p:nvPr/>
        </p:nvSpPr>
        <p:spPr>
          <a:xfrm>
            <a:off x="6692861" y="5639753"/>
            <a:ext cx="5049225" cy="784860"/>
          </a:xfrm>
          <a:prstGeom prst="rect">
            <a:avLst/>
          </a:prstGeom>
          <a:noFill/>
          <a:ln/>
        </p:spPr>
        <p:txBody>
          <a:bodyPr wrap="square" lIns="25400" tIns="25400" rIns="25400" bIns="25400" rtlCol="0" anchor="t">
            <a:normAutofit/>
          </a:bodyPr>
          <a:lstStyle/>
          <a:p>
            <a:pPr marL="0" indent="0" algn="l">
              <a:lnSpc>
                <a:spcPct val="122500"/>
              </a:lnSpc>
              <a:buNone/>
            </a:pPr>
            <a:r>
              <a:rPr lang="en-US" sz="2100" dirty="0">
                <a:solidFill>
                  <a:srgbClr val="4A5436"/>
                </a:solidFill>
                <a:latin typeface="Times New Roman" pitchFamily="34" charset="0"/>
                <a:ea typeface="Times New Roman" pitchFamily="34" charset="-122"/>
                <a:cs typeface="Times New Roman" pitchFamily="34" charset="-120"/>
              </a:rPr>
              <a:t>Đặc trưng màu hai chiều 30×32 bin, so bằng hệ số tương quan với ngường 0,6.</a:t>
            </a:r>
            <a:endParaRPr lang="en-US" sz="2100" dirty="0"/>
          </a:p>
        </p:txBody>
      </p:sp>
      <p:sp>
        <p:nvSpPr>
          <p:cNvPr id="24" name="Shape 22"/>
          <p:cNvSpPr/>
          <p:nvPr/>
        </p:nvSpPr>
        <p:spPr>
          <a:xfrm>
            <a:off x="12090321" y="4422458"/>
            <a:ext cx="5435561" cy="2585085"/>
          </a:xfrm>
          <a:prstGeom prst="roundRect">
            <a:avLst>
              <a:gd name="adj" fmla="val 7369"/>
            </a:avLst>
          </a:prstGeom>
          <a:solidFill>
            <a:srgbClr val="E4E8D8"/>
          </a:solidFill>
          <a:ln/>
        </p:spPr>
      </p:sp>
      <p:sp>
        <p:nvSpPr>
          <p:cNvPr id="25" name="Text 23"/>
          <p:cNvSpPr/>
          <p:nvPr/>
        </p:nvSpPr>
        <p:spPr>
          <a:xfrm>
            <a:off x="12357021" y="4670108"/>
            <a:ext cx="5392377" cy="451485"/>
          </a:xfrm>
          <a:prstGeom prst="rect">
            <a:avLst/>
          </a:prstGeom>
          <a:noFill/>
          <a:ln/>
        </p:spPr>
        <p:txBody>
          <a:bodyPr wrap="square" lIns="25400" tIns="25400" rIns="25400" bIns="25400" rtlCol="0" anchor="t">
            <a:normAutofit/>
          </a:bodyPr>
          <a:lstStyle/>
          <a:p>
            <a:pPr marL="0" indent="0" algn="l">
              <a:lnSpc>
                <a:spcPct val="135625"/>
              </a:lnSpc>
              <a:buNone/>
            </a:pPr>
            <a:r>
              <a:rPr lang="en-US" sz="2100" b="1" kern="0" spc="168" dirty="0">
                <a:solidFill>
                  <a:srgbClr val="4C5A35"/>
                </a:solidFill>
                <a:latin typeface="Times New Roman" pitchFamily="34" charset="0"/>
                <a:ea typeface="Times New Roman" pitchFamily="34" charset="-122"/>
                <a:cs typeface="Times New Roman" pitchFamily="34" charset="-120"/>
              </a:rPr>
              <a:t>ĐẾM</a:t>
            </a:r>
            <a:endParaRPr lang="en-US" sz="2100" dirty="0"/>
          </a:p>
        </p:txBody>
      </p:sp>
      <p:sp>
        <p:nvSpPr>
          <p:cNvPr id="26" name="Text 24"/>
          <p:cNvSpPr/>
          <p:nvPr/>
        </p:nvSpPr>
        <p:spPr>
          <a:xfrm>
            <a:off x="12357021" y="5178743"/>
            <a:ext cx="5392377" cy="403860"/>
          </a:xfrm>
          <a:prstGeom prst="rect">
            <a:avLst/>
          </a:prstGeom>
          <a:noFill/>
          <a:ln/>
        </p:spPr>
        <p:txBody>
          <a:bodyPr wrap="square" lIns="25400" tIns="25400" rIns="25400" bIns="25400" rtlCol="0" anchor="t">
            <a:normAutofit/>
          </a:bodyPr>
          <a:lstStyle/>
          <a:p>
            <a:pPr marL="0" indent="0" algn="l">
              <a:lnSpc>
                <a:spcPct val="102128"/>
              </a:lnSpc>
              <a:buNone/>
            </a:pPr>
            <a:r>
              <a:rPr lang="en-US" sz="2400" b="1" dirty="0">
                <a:solidFill>
                  <a:srgbClr val="2F3A20"/>
                </a:solidFill>
                <a:latin typeface="Times New Roman" pitchFamily="34" charset="0"/>
                <a:ea typeface="Times New Roman" pitchFamily="34" charset="-122"/>
                <a:cs typeface="Times New Roman" pitchFamily="34" charset="-120"/>
              </a:rPr>
              <a:t>Phát hiện cắt vạch</a:t>
            </a:r>
            <a:endParaRPr lang="en-US" sz="2400" dirty="0"/>
          </a:p>
        </p:txBody>
      </p:sp>
      <p:sp>
        <p:nvSpPr>
          <p:cNvPr id="27" name="Text 25"/>
          <p:cNvSpPr/>
          <p:nvPr/>
        </p:nvSpPr>
        <p:spPr>
          <a:xfrm>
            <a:off x="12357021" y="5639753"/>
            <a:ext cx="5049225" cy="784860"/>
          </a:xfrm>
          <a:prstGeom prst="rect">
            <a:avLst/>
          </a:prstGeom>
          <a:noFill/>
          <a:ln/>
        </p:spPr>
        <p:txBody>
          <a:bodyPr wrap="square" lIns="25400" tIns="25400" rIns="25400" bIns="25400" rtlCol="0" anchor="t">
            <a:normAutofit/>
          </a:bodyPr>
          <a:lstStyle/>
          <a:p>
            <a:pPr marL="0" indent="0" algn="l">
              <a:lnSpc>
                <a:spcPct val="122500"/>
              </a:lnSpc>
              <a:buNone/>
            </a:pPr>
            <a:r>
              <a:rPr lang="en-US" sz="2100" dirty="0">
                <a:solidFill>
                  <a:srgbClr val="4A5436"/>
                </a:solidFill>
                <a:latin typeface="Times New Roman" pitchFamily="34" charset="0"/>
                <a:ea typeface="Times New Roman" pitchFamily="34" charset="-122"/>
                <a:cs typeface="Times New Roman" pitchFamily="34" charset="-120"/>
              </a:rPr>
              <a:t>So dấu của hiệu giữa tọa độ tâm và vạch ở hai khung liên tiếp để biết hướng đi.</a:t>
            </a:r>
            <a:endParaRPr lang="en-US" sz="2100" dirty="0"/>
          </a:p>
        </p:txBody>
      </p:sp>
      <p:sp>
        <p:nvSpPr>
          <p:cNvPr id="28" name="Shape 26"/>
          <p:cNvSpPr/>
          <p:nvPr/>
        </p:nvSpPr>
        <p:spPr>
          <a:xfrm>
            <a:off x="762000" y="7331393"/>
            <a:ext cx="16764000" cy="1200150"/>
          </a:xfrm>
          <a:prstGeom prst="roundRect">
            <a:avLst>
              <a:gd name="adj" fmla="val 15873"/>
            </a:avLst>
          </a:prstGeom>
          <a:solidFill>
            <a:srgbClr val="E5D3B6"/>
          </a:solidFill>
          <a:ln/>
        </p:spPr>
      </p:sp>
      <p:sp>
        <p:nvSpPr>
          <p:cNvPr id="29" name="Text 27"/>
          <p:cNvSpPr/>
          <p:nvPr/>
        </p:nvSpPr>
        <p:spPr>
          <a:xfrm>
            <a:off x="1028700" y="7540943"/>
            <a:ext cx="976551" cy="451485"/>
          </a:xfrm>
          <a:prstGeom prst="rect">
            <a:avLst/>
          </a:prstGeom>
          <a:noFill/>
          <a:ln/>
        </p:spPr>
        <p:txBody>
          <a:bodyPr wrap="square" lIns="25400" tIns="25400" rIns="25400" bIns="25400" rtlCol="0" anchor="t">
            <a:normAutofit/>
          </a:bodyPr>
          <a:lstStyle/>
          <a:p>
            <a:pPr marL="0" indent="0" algn="l">
              <a:lnSpc>
                <a:spcPct val="135625"/>
              </a:lnSpc>
              <a:buNone/>
            </a:pPr>
            <a:r>
              <a:rPr lang="en-US" sz="2100" b="1" kern="0" spc="168" dirty="0">
                <a:solidFill>
                  <a:srgbClr val="6B5B45"/>
                </a:solidFill>
                <a:latin typeface="Times New Roman" pitchFamily="34" charset="0"/>
                <a:ea typeface="Times New Roman" pitchFamily="34" charset="-122"/>
                <a:cs typeface="Times New Roman" pitchFamily="34" charset="-120"/>
              </a:rPr>
              <a:t>THÊM</a:t>
            </a:r>
            <a:endParaRPr lang="en-US" sz="2100" dirty="0"/>
          </a:p>
        </p:txBody>
      </p:sp>
      <p:sp>
        <p:nvSpPr>
          <p:cNvPr id="30" name="Text 28"/>
          <p:cNvSpPr/>
          <p:nvPr/>
        </p:nvSpPr>
        <p:spPr>
          <a:xfrm>
            <a:off x="2119551" y="7548563"/>
            <a:ext cx="15593942" cy="811530"/>
          </a:xfrm>
          <a:prstGeom prst="rect">
            <a:avLst/>
          </a:prstGeom>
          <a:noFill/>
          <a:ln/>
        </p:spPr>
        <p:txBody>
          <a:bodyPr wrap="square" lIns="25400" tIns="25400" rIns="25400" bIns="25400" rtlCol="0" anchor="t">
            <a:normAutofit/>
          </a:bodyPr>
          <a:lstStyle/>
          <a:p>
            <a:pPr marL="0" indent="0" algn="l">
              <a:lnSpc>
                <a:spcPct val="120833"/>
              </a:lnSpc>
              <a:buNone/>
            </a:pPr>
            <a:r>
              <a:rPr lang="en-US" sz="2175" dirty="0">
                <a:solidFill>
                  <a:srgbClr val="4A443F"/>
                </a:solidFill>
                <a:latin typeface="Times New Roman" pitchFamily="34" charset="0"/>
                <a:ea typeface="Times New Roman" pitchFamily="34" charset="-122"/>
                <a:cs typeface="Times New Roman" pitchFamily="34" charset="-120"/>
              </a:rPr>
              <a:t>Heatmap dùng tích lũy có phai dần — mỗi khung hình cộng nhiệt tại tâm người rồi nhân toàn bộ ma trận với 0,99 nên vết cũ mờ dần theo thời gian.</a:t>
            </a:r>
            <a:endParaRPr lang="en-US" sz="21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6F0"/>
        </a:solidFill>
        <a:effectLst/>
      </p:bgPr>
    </p:bg>
    <p:spTree>
      <p:nvGrpSpPr>
        <p:cNvPr id="1" name=""/>
        <p:cNvGrpSpPr/>
        <p:nvPr/>
      </p:nvGrpSpPr>
      <p:grpSpPr>
        <a:xfrm>
          <a:off x="0" y="0"/>
          <a:ext cx="0" cy="0"/>
          <a:chOff x="0" y="0"/>
          <a:chExt cx="0" cy="0"/>
        </a:xfrm>
      </p:grpSpPr>
      <p:sp>
        <p:nvSpPr>
          <p:cNvPr id="2" name="Text 0"/>
          <p:cNvSpPr/>
          <p:nvPr/>
        </p:nvSpPr>
        <p:spPr>
          <a:xfrm>
            <a:off x="914400" y="800100"/>
            <a:ext cx="18105120" cy="451485"/>
          </a:xfrm>
          <a:prstGeom prst="rect">
            <a:avLst/>
          </a:prstGeom>
          <a:noFill/>
          <a:ln/>
        </p:spPr>
        <p:txBody>
          <a:bodyPr wrap="square" lIns="25400" tIns="25400" rIns="25400" bIns="25400" rtlCol="0" anchor="t">
            <a:normAutofit/>
          </a:bodyPr>
          <a:lstStyle/>
          <a:p>
            <a:pPr marL="0" indent="0" algn="l">
              <a:lnSpc>
                <a:spcPct val="135625"/>
              </a:lnSpc>
              <a:buNone/>
            </a:pPr>
            <a:r>
              <a:rPr lang="en-US" sz="2100" b="1" kern="0" spc="294" dirty="0">
                <a:solidFill>
                  <a:srgbClr val="8A5A2E"/>
                </a:solidFill>
                <a:latin typeface="Times New Roman" pitchFamily="34" charset="0"/>
                <a:ea typeface="Times New Roman" pitchFamily="34" charset="-122"/>
                <a:cs typeface="Times New Roman" pitchFamily="34" charset="-120"/>
              </a:rPr>
              <a:t>ĐẦU RA</a:t>
            </a:r>
            <a:endParaRPr lang="en-US" sz="2100" dirty="0"/>
          </a:p>
        </p:txBody>
      </p:sp>
      <p:sp>
        <p:nvSpPr>
          <p:cNvPr id="3" name="Text 1"/>
          <p:cNvSpPr/>
          <p:nvPr/>
        </p:nvSpPr>
        <p:spPr>
          <a:xfrm>
            <a:off x="914400" y="1346835"/>
            <a:ext cx="18105120" cy="687705"/>
          </a:xfrm>
          <a:prstGeom prst="rect">
            <a:avLst/>
          </a:prstGeom>
          <a:noFill/>
          <a:ln/>
        </p:spPr>
        <p:txBody>
          <a:bodyPr wrap="square" lIns="25400" tIns="25400" rIns="25400" bIns="25400" rtlCol="0" anchor="t">
            <a:normAutofit/>
          </a:bodyPr>
          <a:lstStyle/>
          <a:p>
            <a:pPr marL="0" indent="0" algn="l">
              <a:lnSpc>
                <a:spcPct val="95787"/>
              </a:lnSpc>
              <a:buNone/>
            </a:pPr>
            <a:r>
              <a:rPr lang="en-US" sz="4650" b="1" kern="0" spc="-70" dirty="0">
                <a:solidFill>
                  <a:srgbClr val="201E1D"/>
                </a:solidFill>
                <a:latin typeface="Times New Roman" pitchFamily="34" charset="0"/>
                <a:ea typeface="Times New Roman" pitchFamily="34" charset="-122"/>
                <a:cs typeface="Times New Roman" pitchFamily="34" charset="-120"/>
              </a:rPr>
              <a:t>Số liệu trên màn hình và trong file</a:t>
            </a:r>
            <a:endParaRPr lang="en-US" sz="4650" dirty="0"/>
          </a:p>
        </p:txBody>
      </p:sp>
      <p:sp>
        <p:nvSpPr>
          <p:cNvPr id="4" name="Text 2"/>
          <p:cNvSpPr/>
          <p:nvPr/>
        </p:nvSpPr>
        <p:spPr>
          <a:xfrm>
            <a:off x="914400" y="2415540"/>
            <a:ext cx="5811477" cy="379452"/>
          </a:xfrm>
          <a:prstGeom prst="rect">
            <a:avLst/>
          </a:prstGeom>
          <a:noFill/>
          <a:ln/>
        </p:spPr>
        <p:txBody>
          <a:bodyPr wrap="square" lIns="25400" tIns="25400" rIns="25400" bIns="25400" rtlCol="0" anchor="t">
            <a:normAutofit/>
          </a:bodyPr>
          <a:lstStyle/>
          <a:p>
            <a:pPr marL="0" indent="0" algn="l">
              <a:lnSpc>
                <a:spcPct val="99556"/>
              </a:lnSpc>
              <a:buNone/>
            </a:pPr>
            <a:r>
              <a:rPr lang="en-US" sz="2400" b="1" kern="0" spc="-36" dirty="0">
                <a:solidFill>
                  <a:srgbClr val="8A5A2E"/>
                </a:solidFill>
                <a:latin typeface="Arial" pitchFamily="34" charset="0"/>
                <a:ea typeface="Arial" pitchFamily="34" charset="-122"/>
                <a:cs typeface="Arial" pitchFamily="34" charset="-120"/>
              </a:rPr>
              <a:t>Bảng trên khung hình</a:t>
            </a:r>
            <a:endParaRPr lang="en-US" sz="2400" dirty="0"/>
          </a:p>
        </p:txBody>
      </p:sp>
      <p:sp>
        <p:nvSpPr>
          <p:cNvPr id="5" name="Shape 3"/>
          <p:cNvSpPr/>
          <p:nvPr/>
        </p:nvSpPr>
        <p:spPr>
          <a:xfrm>
            <a:off x="914400" y="2928342"/>
            <a:ext cx="5283161" cy="2912269"/>
          </a:xfrm>
          <a:prstGeom prst="roundRect">
            <a:avLst>
              <a:gd name="adj" fmla="val 5887"/>
            </a:avLst>
          </a:prstGeom>
          <a:solidFill>
            <a:srgbClr val="26221F"/>
          </a:solidFill>
          <a:ln/>
        </p:spPr>
      </p:sp>
      <p:sp>
        <p:nvSpPr>
          <p:cNvPr id="6" name="Text 4"/>
          <p:cNvSpPr/>
          <p:nvPr/>
        </p:nvSpPr>
        <p:spPr>
          <a:xfrm>
            <a:off x="1181100" y="3175992"/>
            <a:ext cx="4892253" cy="521494"/>
          </a:xfrm>
          <a:prstGeom prst="rect">
            <a:avLst/>
          </a:prstGeom>
          <a:noFill/>
          <a:ln/>
        </p:spPr>
        <p:txBody>
          <a:bodyPr wrap="square" lIns="25400" tIns="25400" rIns="25400" bIns="25400" rtlCol="0" anchor="t">
            <a:normAutofit/>
          </a:bodyPr>
          <a:lstStyle/>
          <a:p>
            <a:pPr marL="0" indent="0" algn="l">
              <a:lnSpc>
                <a:spcPct val="154726"/>
              </a:lnSpc>
              <a:buNone/>
            </a:pPr>
            <a:r>
              <a:rPr lang="en-US" sz="2175" dirty="0">
                <a:solidFill>
                  <a:srgbClr val="E8D86A"/>
                </a:solidFill>
                <a:latin typeface="Courier New" pitchFamily="34" charset="0"/>
                <a:ea typeface="Courier New" pitchFamily="34" charset="-122"/>
                <a:cs typeface="Courier New" pitchFamily="34" charset="-120"/>
              </a:rPr>
              <a:t>Khach hom nay: 27</a:t>
            </a:r>
            <a:endParaRPr lang="en-US" sz="2175" dirty="0"/>
          </a:p>
        </p:txBody>
      </p:sp>
      <p:sp>
        <p:nvSpPr>
          <p:cNvPr id="7" name="Text 5"/>
          <p:cNvSpPr/>
          <p:nvPr/>
        </p:nvSpPr>
        <p:spPr>
          <a:xfrm>
            <a:off x="1181100" y="3659386"/>
            <a:ext cx="4892253" cy="521494"/>
          </a:xfrm>
          <a:prstGeom prst="rect">
            <a:avLst/>
          </a:prstGeom>
          <a:noFill/>
          <a:ln/>
        </p:spPr>
        <p:txBody>
          <a:bodyPr wrap="square" lIns="25400" tIns="25400" rIns="25400" bIns="25400" rtlCol="0" anchor="t">
            <a:normAutofit/>
          </a:bodyPr>
          <a:lstStyle/>
          <a:p>
            <a:pPr marL="0" indent="0" algn="l">
              <a:lnSpc>
                <a:spcPct val="154726"/>
              </a:lnSpc>
              <a:buNone/>
            </a:pPr>
            <a:r>
              <a:rPr lang="en-US" sz="2175" dirty="0">
                <a:solidFill>
                  <a:srgbClr val="A8BD83"/>
                </a:solidFill>
                <a:latin typeface="Courier New" pitchFamily="34" charset="0"/>
                <a:ea typeface="Courier New" pitchFamily="34" charset="-122"/>
                <a:cs typeface="Courier New" pitchFamily="34" charset="-120"/>
              </a:rPr>
              <a:t>IN: 14 OUT: 8</a:t>
            </a:r>
            <a:endParaRPr lang="en-US" sz="2175" dirty="0"/>
          </a:p>
        </p:txBody>
      </p:sp>
      <p:sp>
        <p:nvSpPr>
          <p:cNvPr id="8" name="Text 6"/>
          <p:cNvSpPr/>
          <p:nvPr/>
        </p:nvSpPr>
        <p:spPr>
          <a:xfrm>
            <a:off x="1181100" y="4142780"/>
            <a:ext cx="4892253" cy="521494"/>
          </a:xfrm>
          <a:prstGeom prst="rect">
            <a:avLst/>
          </a:prstGeom>
          <a:noFill/>
          <a:ln/>
        </p:spPr>
        <p:txBody>
          <a:bodyPr wrap="square" lIns="25400" tIns="25400" rIns="25400" bIns="25400" rtlCol="0" anchor="t">
            <a:normAutofit/>
          </a:bodyPr>
          <a:lstStyle/>
          <a:p>
            <a:pPr marL="0" indent="0" algn="l">
              <a:lnSpc>
                <a:spcPct val="154726"/>
              </a:lnSpc>
              <a:buNone/>
            </a:pPr>
            <a:r>
              <a:rPr lang="en-US" sz="2175" b="1" dirty="0">
                <a:solidFill>
                  <a:srgbClr val="C0392B"/>
                </a:solidFill>
                <a:latin typeface="Courier New" pitchFamily="34" charset="0"/>
                <a:ea typeface="Courier New" pitchFamily="34" charset="-122"/>
                <a:cs typeface="Courier New" pitchFamily="34" charset="-120"/>
              </a:rPr>
              <a:t>Dang trong: 6/5</a:t>
            </a:r>
            <a:endParaRPr lang="en-US" sz="2175" dirty="0"/>
          </a:p>
        </p:txBody>
      </p:sp>
      <p:sp>
        <p:nvSpPr>
          <p:cNvPr id="9" name="Text 7"/>
          <p:cNvSpPr/>
          <p:nvPr/>
        </p:nvSpPr>
        <p:spPr>
          <a:xfrm>
            <a:off x="1181100" y="4626173"/>
            <a:ext cx="4892253" cy="521494"/>
          </a:xfrm>
          <a:prstGeom prst="rect">
            <a:avLst/>
          </a:prstGeom>
          <a:noFill/>
          <a:ln/>
        </p:spPr>
        <p:txBody>
          <a:bodyPr wrap="square" lIns="25400" tIns="25400" rIns="25400" bIns="25400" rtlCol="0" anchor="t">
            <a:normAutofit/>
          </a:bodyPr>
          <a:lstStyle/>
          <a:p>
            <a:pPr marL="0" indent="0" algn="l">
              <a:lnSpc>
                <a:spcPct val="154726"/>
              </a:lnSpc>
              <a:buNone/>
            </a:pPr>
            <a:r>
              <a:rPr lang="en-US" sz="2175" b="1" dirty="0">
                <a:solidFill>
                  <a:srgbClr val="C0392B"/>
                </a:solidFill>
                <a:latin typeface="Courier New" pitchFamily="34" charset="0"/>
                <a:ea typeface="Courier New" pitchFamily="34" charset="-122"/>
                <a:cs typeface="Courier New" pitchFamily="34" charset="-120"/>
              </a:rPr>
              <a:t>!! QUA TAI !!</a:t>
            </a:r>
            <a:endParaRPr lang="en-US" sz="2175" dirty="0"/>
          </a:p>
        </p:txBody>
      </p:sp>
      <p:sp>
        <p:nvSpPr>
          <p:cNvPr id="10" name="Text 8"/>
          <p:cNvSpPr/>
          <p:nvPr/>
        </p:nvSpPr>
        <p:spPr>
          <a:xfrm>
            <a:off x="1181100" y="5109567"/>
            <a:ext cx="4892253" cy="521494"/>
          </a:xfrm>
          <a:prstGeom prst="rect">
            <a:avLst/>
          </a:prstGeom>
          <a:noFill/>
          <a:ln/>
        </p:spPr>
        <p:txBody>
          <a:bodyPr wrap="square" lIns="25400" tIns="25400" rIns="25400" bIns="25400" rtlCol="0" anchor="t">
            <a:normAutofit/>
          </a:bodyPr>
          <a:lstStyle/>
          <a:p>
            <a:pPr marL="0" indent="0" algn="l">
              <a:lnSpc>
                <a:spcPct val="154726"/>
              </a:lnSpc>
              <a:buNone/>
            </a:pPr>
            <a:r>
              <a:rPr lang="en-US" sz="2175" dirty="0">
                <a:solidFill>
                  <a:srgbClr val="CFC0A8"/>
                </a:solidFill>
                <a:latin typeface="Courier New" pitchFamily="34" charset="0"/>
                <a:ea typeface="Courier New" pitchFamily="34" charset="-122"/>
                <a:cs typeface="Courier New" pitchFamily="34" charset="-120"/>
              </a:rPr>
              <a:t>Dwell TB: 42.3s</a:t>
            </a:r>
            <a:endParaRPr lang="en-US" sz="2175" dirty="0"/>
          </a:p>
        </p:txBody>
      </p:sp>
      <p:sp>
        <p:nvSpPr>
          <p:cNvPr id="11" name="Text 9"/>
          <p:cNvSpPr/>
          <p:nvPr/>
        </p:nvSpPr>
        <p:spPr>
          <a:xfrm>
            <a:off x="914400" y="6012061"/>
            <a:ext cx="5441655" cy="811530"/>
          </a:xfrm>
          <a:prstGeom prst="rect">
            <a:avLst/>
          </a:prstGeom>
          <a:noFill/>
          <a:ln/>
        </p:spPr>
        <p:txBody>
          <a:bodyPr wrap="square" lIns="25400" tIns="25400" rIns="25400" bIns="25400" rtlCol="0" anchor="t">
            <a:normAutofit/>
          </a:bodyPr>
          <a:lstStyle/>
          <a:p>
            <a:pPr marL="0" indent="0" algn="l">
              <a:lnSpc>
                <a:spcPct val="120833"/>
              </a:lnSpc>
              <a:buNone/>
            </a:pPr>
            <a:r>
              <a:rPr lang="en-US" sz="2175" dirty="0">
                <a:solidFill>
                  <a:srgbClr val="6B635B"/>
                </a:solidFill>
                <a:latin typeface="Times New Roman" pitchFamily="34" charset="0"/>
                <a:ea typeface="Times New Roman" pitchFamily="34" charset="-122"/>
                <a:cs typeface="Times New Roman" pitchFamily="34" charset="-120"/>
              </a:rPr>
              <a:t>Cảnh báo chuyển đỏ ngay khi số người trong phòng vượt sức chứa.</a:t>
            </a:r>
            <a:endParaRPr lang="en-US" sz="2175" dirty="0"/>
          </a:p>
        </p:txBody>
      </p:sp>
      <p:sp>
        <p:nvSpPr>
          <p:cNvPr id="12" name="Text 10"/>
          <p:cNvSpPr/>
          <p:nvPr/>
        </p:nvSpPr>
        <p:spPr>
          <a:xfrm>
            <a:off x="6502361" y="2415540"/>
            <a:ext cx="5811477" cy="379452"/>
          </a:xfrm>
          <a:prstGeom prst="rect">
            <a:avLst/>
          </a:prstGeom>
          <a:noFill/>
          <a:ln/>
        </p:spPr>
        <p:txBody>
          <a:bodyPr wrap="square" lIns="25400" tIns="25400" rIns="25400" bIns="25400" rtlCol="0" anchor="t">
            <a:normAutofit/>
          </a:bodyPr>
          <a:lstStyle/>
          <a:p>
            <a:pPr marL="0" indent="0" algn="l">
              <a:lnSpc>
                <a:spcPct val="99556"/>
              </a:lnSpc>
              <a:buNone/>
            </a:pPr>
            <a:r>
              <a:rPr lang="en-US" sz="2400" b="1" kern="0" spc="-36" dirty="0">
                <a:solidFill>
                  <a:srgbClr val="4C5A35"/>
                </a:solidFill>
                <a:latin typeface="Arial" pitchFamily="34" charset="0"/>
                <a:ea typeface="Arial" pitchFamily="34" charset="-122"/>
                <a:cs typeface="Arial" pitchFamily="34" charset="-120"/>
              </a:rPr>
              <a:t>Nhật ký CSV</a:t>
            </a:r>
            <a:endParaRPr lang="en-US" sz="2400" dirty="0"/>
          </a:p>
        </p:txBody>
      </p:sp>
      <p:sp>
        <p:nvSpPr>
          <p:cNvPr id="13" name="Shape 11"/>
          <p:cNvSpPr/>
          <p:nvPr/>
        </p:nvSpPr>
        <p:spPr>
          <a:xfrm>
            <a:off x="6502361" y="2928342"/>
            <a:ext cx="5283161" cy="2308860"/>
          </a:xfrm>
          <a:prstGeom prst="roundRect">
            <a:avLst>
              <a:gd name="adj" fmla="val 7426"/>
            </a:avLst>
          </a:prstGeom>
          <a:solidFill>
            <a:srgbClr val="EFE0C6"/>
          </a:solidFill>
          <a:ln/>
        </p:spPr>
      </p:sp>
      <p:sp>
        <p:nvSpPr>
          <p:cNvPr id="14" name="Text 12"/>
          <p:cNvSpPr/>
          <p:nvPr/>
        </p:nvSpPr>
        <p:spPr>
          <a:xfrm>
            <a:off x="6769061" y="3175992"/>
            <a:ext cx="4892253" cy="491490"/>
          </a:xfrm>
          <a:prstGeom prst="rect">
            <a:avLst/>
          </a:prstGeom>
          <a:noFill/>
          <a:ln/>
        </p:spPr>
        <p:txBody>
          <a:bodyPr wrap="square" lIns="25400" tIns="25400" rIns="25400" bIns="25400" rtlCol="0" anchor="t">
            <a:normAutofit/>
          </a:bodyPr>
          <a:lstStyle/>
          <a:p>
            <a:pPr marL="0" indent="0" algn="l">
              <a:lnSpc>
                <a:spcPct val="148750"/>
              </a:lnSpc>
              <a:buNone/>
            </a:pPr>
            <a:r>
              <a:rPr lang="en-US" sz="2100" b="1" dirty="0">
                <a:solidFill>
                  <a:srgbClr val="8A5A2E"/>
                </a:solidFill>
                <a:latin typeface="Courier New" pitchFamily="34" charset="0"/>
                <a:ea typeface="Courier New" pitchFamily="34" charset="-122"/>
                <a:cs typeface="Courier New" pitchFamily="34" charset="-120"/>
              </a:rPr>
              <a:t>visitor_log.csv</a:t>
            </a:r>
            <a:endParaRPr lang="en-US" sz="2100" dirty="0"/>
          </a:p>
        </p:txBody>
      </p:sp>
      <p:sp>
        <p:nvSpPr>
          <p:cNvPr id="15" name="Text 13"/>
          <p:cNvSpPr/>
          <p:nvPr/>
        </p:nvSpPr>
        <p:spPr>
          <a:xfrm>
            <a:off x="6769061" y="3629382"/>
            <a:ext cx="4892253" cy="491490"/>
          </a:xfrm>
          <a:prstGeom prst="rect">
            <a:avLst/>
          </a:prstGeom>
          <a:noFill/>
          <a:ln/>
        </p:spPr>
        <p:txBody>
          <a:bodyPr wrap="square" lIns="25400" tIns="25400" rIns="25400" bIns="25400" rtlCol="0" anchor="t">
            <a:normAutofit/>
          </a:bodyPr>
          <a:lstStyle/>
          <a:p>
            <a:pPr marL="0" indent="0" algn="l">
              <a:lnSpc>
                <a:spcPct val="148750"/>
              </a:lnSpc>
              <a:buNone/>
            </a:pPr>
            <a:r>
              <a:rPr lang="en-US" sz="2100" dirty="0">
                <a:solidFill>
                  <a:srgbClr val="4A443F"/>
                </a:solidFill>
                <a:latin typeface="Courier New" pitchFamily="34" charset="0"/>
                <a:ea typeface="Courier New" pitchFamily="34" charset="-122"/>
                <a:cs typeface="Courier New" pitchFamily="34" charset="-120"/>
              </a:rPr>
              <a:t>thoi_gian, id</a:t>
            </a:r>
            <a:endParaRPr lang="en-US" sz="2100" dirty="0"/>
          </a:p>
        </p:txBody>
      </p:sp>
      <p:sp>
        <p:nvSpPr>
          <p:cNvPr id="16" name="Text 14"/>
          <p:cNvSpPr/>
          <p:nvPr/>
        </p:nvSpPr>
        <p:spPr>
          <a:xfrm>
            <a:off x="6769061" y="4082772"/>
            <a:ext cx="4892253" cy="491490"/>
          </a:xfrm>
          <a:prstGeom prst="rect">
            <a:avLst/>
          </a:prstGeom>
          <a:noFill/>
          <a:ln/>
        </p:spPr>
        <p:txBody>
          <a:bodyPr wrap="square" lIns="25400" tIns="25400" rIns="25400" bIns="25400" rtlCol="0" anchor="t">
            <a:normAutofit/>
          </a:bodyPr>
          <a:lstStyle/>
          <a:p>
            <a:pPr marL="0" indent="0" algn="l">
              <a:lnSpc>
                <a:spcPct val="148750"/>
              </a:lnSpc>
              <a:buNone/>
            </a:pPr>
            <a:r>
              <a:rPr lang="en-US" sz="2100" dirty="0">
                <a:solidFill>
                  <a:srgbClr val="4A443F"/>
                </a:solidFill>
                <a:latin typeface="Courier New" pitchFamily="34" charset="0"/>
                <a:ea typeface="Courier New" pitchFamily="34" charset="-122"/>
                <a:cs typeface="Courier New" pitchFamily="34" charset="-120"/>
              </a:rPr>
              <a:t>2026-07-27 09:12:04, 3</a:t>
            </a:r>
            <a:endParaRPr lang="en-US" sz="2100" dirty="0"/>
          </a:p>
        </p:txBody>
      </p:sp>
      <p:sp>
        <p:nvSpPr>
          <p:cNvPr id="17" name="Text 15"/>
          <p:cNvSpPr/>
          <p:nvPr/>
        </p:nvSpPr>
        <p:spPr>
          <a:xfrm>
            <a:off x="6769061" y="4536162"/>
            <a:ext cx="4892253" cy="491490"/>
          </a:xfrm>
          <a:prstGeom prst="rect">
            <a:avLst/>
          </a:prstGeom>
          <a:noFill/>
          <a:ln/>
        </p:spPr>
        <p:txBody>
          <a:bodyPr wrap="square" lIns="25400" tIns="25400" rIns="25400" bIns="25400" rtlCol="0" anchor="t">
            <a:normAutofit/>
          </a:bodyPr>
          <a:lstStyle/>
          <a:p>
            <a:pPr marL="0" indent="0" algn="l">
              <a:lnSpc>
                <a:spcPct val="148750"/>
              </a:lnSpc>
              <a:buNone/>
            </a:pPr>
            <a:r>
              <a:rPr lang="en-US" sz="2100" dirty="0">
                <a:solidFill>
                  <a:srgbClr val="4A443F"/>
                </a:solidFill>
                <a:latin typeface="Courier New" pitchFamily="34" charset="0"/>
                <a:ea typeface="Courier New" pitchFamily="34" charset="-122"/>
                <a:cs typeface="Courier New" pitchFamily="34" charset="-120"/>
              </a:rPr>
              <a:t>2026-07-27 09:15:41, 7</a:t>
            </a:r>
            <a:endParaRPr lang="en-US" sz="2100" dirty="0"/>
          </a:p>
        </p:txBody>
      </p:sp>
      <p:sp>
        <p:nvSpPr>
          <p:cNvPr id="18" name="Shape 16"/>
          <p:cNvSpPr/>
          <p:nvPr/>
        </p:nvSpPr>
        <p:spPr>
          <a:xfrm>
            <a:off x="6502361" y="5408652"/>
            <a:ext cx="5283161" cy="1855470"/>
          </a:xfrm>
          <a:prstGeom prst="roundRect">
            <a:avLst>
              <a:gd name="adj" fmla="val 9240"/>
            </a:avLst>
          </a:prstGeom>
          <a:solidFill>
            <a:srgbClr val="E4E8D8"/>
          </a:solidFill>
          <a:ln/>
        </p:spPr>
      </p:sp>
      <p:sp>
        <p:nvSpPr>
          <p:cNvPr id="19" name="Text 17"/>
          <p:cNvSpPr/>
          <p:nvPr/>
        </p:nvSpPr>
        <p:spPr>
          <a:xfrm>
            <a:off x="6769061" y="5656302"/>
            <a:ext cx="4892253" cy="491490"/>
          </a:xfrm>
          <a:prstGeom prst="rect">
            <a:avLst/>
          </a:prstGeom>
          <a:noFill/>
          <a:ln/>
        </p:spPr>
        <p:txBody>
          <a:bodyPr wrap="square" lIns="25400" tIns="25400" rIns="25400" bIns="25400" rtlCol="0" anchor="t">
            <a:normAutofit/>
          </a:bodyPr>
          <a:lstStyle/>
          <a:p>
            <a:pPr marL="0" indent="0" algn="l">
              <a:lnSpc>
                <a:spcPct val="148750"/>
              </a:lnSpc>
              <a:buNone/>
            </a:pPr>
            <a:r>
              <a:rPr lang="en-US" sz="2100" b="1" dirty="0">
                <a:solidFill>
                  <a:srgbClr val="4C5A35"/>
                </a:solidFill>
                <a:latin typeface="Courier New" pitchFamily="34" charset="0"/>
                <a:ea typeface="Courier New" pitchFamily="34" charset="-122"/>
                <a:cs typeface="Courier New" pitchFamily="34" charset="-120"/>
              </a:rPr>
              <a:t>daily_counts.csv</a:t>
            </a:r>
            <a:endParaRPr lang="en-US" sz="2100" dirty="0"/>
          </a:p>
        </p:txBody>
      </p:sp>
      <p:sp>
        <p:nvSpPr>
          <p:cNvPr id="20" name="Text 18"/>
          <p:cNvSpPr/>
          <p:nvPr/>
        </p:nvSpPr>
        <p:spPr>
          <a:xfrm>
            <a:off x="6769061" y="6109692"/>
            <a:ext cx="4892253" cy="491490"/>
          </a:xfrm>
          <a:prstGeom prst="rect">
            <a:avLst/>
          </a:prstGeom>
          <a:noFill/>
          <a:ln/>
        </p:spPr>
        <p:txBody>
          <a:bodyPr wrap="square" lIns="25400" tIns="25400" rIns="25400" bIns="25400" rtlCol="0" anchor="t">
            <a:normAutofit/>
          </a:bodyPr>
          <a:lstStyle/>
          <a:p>
            <a:pPr marL="0" indent="0" algn="l">
              <a:lnSpc>
                <a:spcPct val="148750"/>
              </a:lnSpc>
              <a:buNone/>
            </a:pPr>
            <a:r>
              <a:rPr lang="en-US" sz="2100" dirty="0">
                <a:solidFill>
                  <a:srgbClr val="3A4429"/>
                </a:solidFill>
                <a:latin typeface="Courier New" pitchFamily="34" charset="0"/>
                <a:ea typeface="Courier New" pitchFamily="34" charset="-122"/>
                <a:cs typeface="Courier New" pitchFamily="34" charset="-120"/>
              </a:rPr>
              <a:t>ngay, so_khach</a:t>
            </a:r>
            <a:endParaRPr lang="en-US" sz="2100" dirty="0"/>
          </a:p>
        </p:txBody>
      </p:sp>
      <p:sp>
        <p:nvSpPr>
          <p:cNvPr id="21" name="Text 19"/>
          <p:cNvSpPr/>
          <p:nvPr/>
        </p:nvSpPr>
        <p:spPr>
          <a:xfrm>
            <a:off x="6769061" y="6563083"/>
            <a:ext cx="4892253" cy="491490"/>
          </a:xfrm>
          <a:prstGeom prst="rect">
            <a:avLst/>
          </a:prstGeom>
          <a:noFill/>
          <a:ln/>
        </p:spPr>
        <p:txBody>
          <a:bodyPr wrap="square" lIns="25400" tIns="25400" rIns="25400" bIns="25400" rtlCol="0" anchor="t">
            <a:normAutofit/>
          </a:bodyPr>
          <a:lstStyle/>
          <a:p>
            <a:pPr marL="0" indent="0" algn="l">
              <a:lnSpc>
                <a:spcPct val="148750"/>
              </a:lnSpc>
              <a:buNone/>
            </a:pPr>
            <a:r>
              <a:rPr lang="en-US" sz="2100" dirty="0">
                <a:solidFill>
                  <a:srgbClr val="3A4429"/>
                </a:solidFill>
                <a:latin typeface="Courier New" pitchFamily="34" charset="0"/>
                <a:ea typeface="Courier New" pitchFamily="34" charset="-122"/>
                <a:cs typeface="Courier New" pitchFamily="34" charset="-120"/>
              </a:rPr>
              <a:t>2026-07-26, 88</a:t>
            </a:r>
            <a:endParaRPr lang="en-US" sz="2100" dirty="0"/>
          </a:p>
        </p:txBody>
      </p:sp>
      <p:sp>
        <p:nvSpPr>
          <p:cNvPr id="22" name="Text 20"/>
          <p:cNvSpPr/>
          <p:nvPr/>
        </p:nvSpPr>
        <p:spPr>
          <a:xfrm>
            <a:off x="6502361" y="7435572"/>
            <a:ext cx="5441655" cy="811530"/>
          </a:xfrm>
          <a:prstGeom prst="rect">
            <a:avLst/>
          </a:prstGeom>
          <a:noFill/>
          <a:ln/>
        </p:spPr>
        <p:txBody>
          <a:bodyPr wrap="square" lIns="25400" tIns="25400" rIns="25400" bIns="25400" rtlCol="0" anchor="t">
            <a:normAutofit/>
          </a:bodyPr>
          <a:lstStyle/>
          <a:p>
            <a:pPr marL="0" indent="0" algn="l">
              <a:lnSpc>
                <a:spcPct val="120833"/>
              </a:lnSpc>
              <a:buNone/>
            </a:pPr>
            <a:r>
              <a:rPr lang="en-US" sz="2175" dirty="0">
                <a:solidFill>
                  <a:srgbClr val="6B635B"/>
                </a:solidFill>
                <a:latin typeface="Times New Roman" pitchFamily="34" charset="0"/>
                <a:ea typeface="Times New Roman" pitchFamily="34" charset="-122"/>
                <a:cs typeface="Times New Roman" pitchFamily="34" charset="-120"/>
              </a:rPr>
              <a:t>Qua nửa đêm chương trình tự chốt tổng ngày cũ và đặt lại bộ đếm.</a:t>
            </a:r>
            <a:endParaRPr lang="en-US" sz="2175" dirty="0"/>
          </a:p>
        </p:txBody>
      </p:sp>
      <p:sp>
        <p:nvSpPr>
          <p:cNvPr id="23" name="Text 21"/>
          <p:cNvSpPr/>
          <p:nvPr/>
        </p:nvSpPr>
        <p:spPr>
          <a:xfrm>
            <a:off x="12090321" y="2415540"/>
            <a:ext cx="5811477" cy="379452"/>
          </a:xfrm>
          <a:prstGeom prst="rect">
            <a:avLst/>
          </a:prstGeom>
          <a:noFill/>
          <a:ln/>
        </p:spPr>
        <p:txBody>
          <a:bodyPr wrap="square" lIns="25400" tIns="25400" rIns="25400" bIns="25400" rtlCol="0" anchor="t">
            <a:normAutofit/>
          </a:bodyPr>
          <a:lstStyle/>
          <a:p>
            <a:pPr marL="0" indent="0" algn="l">
              <a:lnSpc>
                <a:spcPct val="99556"/>
              </a:lnSpc>
              <a:buNone/>
            </a:pPr>
            <a:r>
              <a:rPr lang="en-US" sz="2400" b="1" kern="0" spc="-36" dirty="0">
                <a:solidFill>
                  <a:srgbClr val="8A5A2E"/>
                </a:solidFill>
                <a:latin typeface="Arial" pitchFamily="34" charset="0"/>
                <a:ea typeface="Arial" pitchFamily="34" charset="-122"/>
                <a:cs typeface="Arial" pitchFamily="34" charset="-120"/>
              </a:rPr>
              <a:t>Phân tích bổ sung</a:t>
            </a:r>
            <a:endParaRPr lang="en-US" sz="2400" dirty="0"/>
          </a:p>
        </p:txBody>
      </p:sp>
      <p:sp>
        <p:nvSpPr>
          <p:cNvPr id="24" name="Shape 22"/>
          <p:cNvSpPr/>
          <p:nvPr/>
        </p:nvSpPr>
        <p:spPr>
          <a:xfrm>
            <a:off x="12090321" y="2928342"/>
            <a:ext cx="5283161" cy="1764506"/>
          </a:xfrm>
          <a:prstGeom prst="roundRect">
            <a:avLst>
              <a:gd name="adj" fmla="val 9717"/>
            </a:avLst>
          </a:prstGeom>
          <a:solidFill>
            <a:srgbClr val="EFE0C6"/>
          </a:solidFill>
          <a:ln/>
        </p:spPr>
      </p:sp>
      <p:sp>
        <p:nvSpPr>
          <p:cNvPr id="25" name="Text 23"/>
          <p:cNvSpPr/>
          <p:nvPr/>
        </p:nvSpPr>
        <p:spPr>
          <a:xfrm>
            <a:off x="12357021" y="3156942"/>
            <a:ext cx="5224736" cy="495776"/>
          </a:xfrm>
          <a:prstGeom prst="rect">
            <a:avLst/>
          </a:prstGeom>
          <a:noFill/>
          <a:ln/>
        </p:spPr>
        <p:txBody>
          <a:bodyPr wrap="square" lIns="25400" tIns="25400" rIns="25400" bIns="25400" rtlCol="0" anchor="t">
            <a:normAutofit/>
          </a:bodyPr>
          <a:lstStyle/>
          <a:p>
            <a:pPr marL="0" indent="0" algn="l">
              <a:lnSpc>
                <a:spcPct val="133472"/>
              </a:lnSpc>
              <a:buNone/>
            </a:pPr>
            <a:r>
              <a:rPr lang="en-US" sz="2325" b="1" dirty="0">
                <a:solidFill>
                  <a:srgbClr val="201E1D"/>
                </a:solidFill>
                <a:latin typeface="Times New Roman" pitchFamily="34" charset="0"/>
                <a:ea typeface="Times New Roman" pitchFamily="34" charset="-122"/>
                <a:cs typeface="Times New Roman" pitchFamily="34" charset="-120"/>
              </a:rPr>
              <a:t>Dwell time</a:t>
            </a:r>
            <a:endParaRPr lang="en-US" sz="2325" dirty="0"/>
          </a:p>
        </p:txBody>
      </p:sp>
      <p:sp>
        <p:nvSpPr>
          <p:cNvPr id="26" name="Text 24"/>
          <p:cNvSpPr/>
          <p:nvPr/>
        </p:nvSpPr>
        <p:spPr>
          <a:xfrm>
            <a:off x="12357021" y="3690819"/>
            <a:ext cx="4892253" cy="811530"/>
          </a:xfrm>
          <a:prstGeom prst="rect">
            <a:avLst/>
          </a:prstGeom>
          <a:noFill/>
          <a:ln/>
        </p:spPr>
        <p:txBody>
          <a:bodyPr wrap="square" lIns="25400" tIns="25400" rIns="25400" bIns="25400" rtlCol="0" anchor="t">
            <a:normAutofit/>
          </a:bodyPr>
          <a:lstStyle/>
          <a:p>
            <a:pPr marL="0" indent="0" algn="l">
              <a:lnSpc>
                <a:spcPct val="120833"/>
              </a:lnSpc>
              <a:buNone/>
            </a:pPr>
            <a:r>
              <a:rPr lang="en-US" sz="2175" dirty="0">
                <a:solidFill>
                  <a:srgbClr val="4A443F"/>
                </a:solidFill>
                <a:latin typeface="Times New Roman" pitchFamily="34" charset="0"/>
                <a:ea typeface="Times New Roman" pitchFamily="34" charset="-122"/>
                <a:cs typeface="Times New Roman" pitchFamily="34" charset="-120"/>
              </a:rPr>
              <a:t>Thời gian mỗi khách lưu lại, hiện dưới bbox và tính trung bình cả phiên.</a:t>
            </a:r>
            <a:endParaRPr lang="en-US" sz="2175" dirty="0"/>
          </a:p>
        </p:txBody>
      </p:sp>
      <p:sp>
        <p:nvSpPr>
          <p:cNvPr id="27" name="Shape 25"/>
          <p:cNvSpPr/>
          <p:nvPr/>
        </p:nvSpPr>
        <p:spPr>
          <a:xfrm>
            <a:off x="12090321" y="4864298"/>
            <a:ext cx="5283161" cy="1764506"/>
          </a:xfrm>
          <a:prstGeom prst="roundRect">
            <a:avLst>
              <a:gd name="adj" fmla="val 9717"/>
            </a:avLst>
          </a:prstGeom>
          <a:solidFill>
            <a:srgbClr val="E4E8D8"/>
          </a:solidFill>
          <a:ln/>
        </p:spPr>
      </p:sp>
      <p:sp>
        <p:nvSpPr>
          <p:cNvPr id="28" name="Text 26"/>
          <p:cNvSpPr/>
          <p:nvPr/>
        </p:nvSpPr>
        <p:spPr>
          <a:xfrm>
            <a:off x="12357021" y="5092898"/>
            <a:ext cx="5224736" cy="495776"/>
          </a:xfrm>
          <a:prstGeom prst="rect">
            <a:avLst/>
          </a:prstGeom>
          <a:noFill/>
          <a:ln/>
        </p:spPr>
        <p:txBody>
          <a:bodyPr wrap="square" lIns="25400" tIns="25400" rIns="25400" bIns="25400" rtlCol="0" anchor="t">
            <a:normAutofit/>
          </a:bodyPr>
          <a:lstStyle/>
          <a:p>
            <a:pPr marL="0" indent="0" algn="l">
              <a:lnSpc>
                <a:spcPct val="133472"/>
              </a:lnSpc>
              <a:buNone/>
            </a:pPr>
            <a:r>
              <a:rPr lang="en-US" sz="2325" b="1" dirty="0">
                <a:solidFill>
                  <a:srgbClr val="3A4429"/>
                </a:solidFill>
                <a:latin typeface="Times New Roman" pitchFamily="34" charset="0"/>
                <a:ea typeface="Times New Roman" pitchFamily="34" charset="-122"/>
                <a:cs typeface="Times New Roman" pitchFamily="34" charset="-120"/>
              </a:rPr>
              <a:t>Heatmap</a:t>
            </a:r>
            <a:endParaRPr lang="en-US" sz="2325" dirty="0"/>
          </a:p>
        </p:txBody>
      </p:sp>
      <p:sp>
        <p:nvSpPr>
          <p:cNvPr id="29" name="Text 27"/>
          <p:cNvSpPr/>
          <p:nvPr/>
        </p:nvSpPr>
        <p:spPr>
          <a:xfrm>
            <a:off x="12357021" y="5626775"/>
            <a:ext cx="4892253" cy="811530"/>
          </a:xfrm>
          <a:prstGeom prst="rect">
            <a:avLst/>
          </a:prstGeom>
          <a:noFill/>
          <a:ln/>
        </p:spPr>
        <p:txBody>
          <a:bodyPr wrap="square" lIns="25400" tIns="25400" rIns="25400" bIns="25400" rtlCol="0" anchor="t">
            <a:normAutofit/>
          </a:bodyPr>
          <a:lstStyle/>
          <a:p>
            <a:pPr marL="0" indent="0" algn="l">
              <a:lnSpc>
                <a:spcPct val="120833"/>
              </a:lnSpc>
              <a:buNone/>
            </a:pPr>
            <a:r>
              <a:rPr lang="en-US" sz="2175" dirty="0">
                <a:solidFill>
                  <a:srgbClr val="3A4429"/>
                </a:solidFill>
                <a:latin typeface="Times New Roman" pitchFamily="34" charset="0"/>
                <a:ea typeface="Times New Roman" pitchFamily="34" charset="-122"/>
                <a:cs typeface="Times New Roman" pitchFamily="34" charset="-120"/>
              </a:rPr>
              <a:t>Phím H bật lớp nhiệt tích tại tâm người, phai dần 0.99 mỗi khung hình.</a:t>
            </a:r>
            <a:endParaRPr lang="en-US" sz="2175" dirty="0"/>
          </a:p>
        </p:txBody>
      </p:sp>
      <p:sp>
        <p:nvSpPr>
          <p:cNvPr id="30" name="Shape 28"/>
          <p:cNvSpPr/>
          <p:nvPr/>
        </p:nvSpPr>
        <p:spPr>
          <a:xfrm>
            <a:off x="12090321" y="6800255"/>
            <a:ext cx="5283161" cy="2151221"/>
          </a:xfrm>
          <a:prstGeom prst="roundRect">
            <a:avLst>
              <a:gd name="adj" fmla="val 7970"/>
            </a:avLst>
          </a:prstGeom>
          <a:solidFill>
            <a:srgbClr val="EFE0C6"/>
          </a:solidFill>
          <a:ln/>
        </p:spPr>
      </p:sp>
      <p:sp>
        <p:nvSpPr>
          <p:cNvPr id="31" name="Text 29"/>
          <p:cNvSpPr/>
          <p:nvPr/>
        </p:nvSpPr>
        <p:spPr>
          <a:xfrm>
            <a:off x="12357021" y="7028855"/>
            <a:ext cx="5224736" cy="495776"/>
          </a:xfrm>
          <a:prstGeom prst="rect">
            <a:avLst/>
          </a:prstGeom>
          <a:noFill/>
          <a:ln/>
        </p:spPr>
        <p:txBody>
          <a:bodyPr wrap="square" lIns="25400" tIns="25400" rIns="25400" bIns="25400" rtlCol="0" anchor="t">
            <a:normAutofit/>
          </a:bodyPr>
          <a:lstStyle/>
          <a:p>
            <a:pPr marL="0" indent="0" algn="l">
              <a:lnSpc>
                <a:spcPct val="133472"/>
              </a:lnSpc>
              <a:buNone/>
            </a:pPr>
            <a:r>
              <a:rPr lang="en-US" sz="2325" b="1" dirty="0">
                <a:solidFill>
                  <a:srgbClr val="201E1D"/>
                </a:solidFill>
                <a:latin typeface="Times New Roman" pitchFamily="34" charset="0"/>
                <a:ea typeface="Times New Roman" pitchFamily="34" charset="-122"/>
                <a:cs typeface="Times New Roman" pitchFamily="34" charset="-120"/>
              </a:rPr>
              <a:t>Dashboard thống kê</a:t>
            </a:r>
            <a:endParaRPr lang="en-US" sz="2325" dirty="0"/>
          </a:p>
        </p:txBody>
      </p:sp>
      <p:sp>
        <p:nvSpPr>
          <p:cNvPr id="32" name="Text 30"/>
          <p:cNvSpPr/>
          <p:nvPr/>
        </p:nvSpPr>
        <p:spPr>
          <a:xfrm>
            <a:off x="12357021" y="7562731"/>
            <a:ext cx="4892253" cy="1198245"/>
          </a:xfrm>
          <a:prstGeom prst="rect">
            <a:avLst/>
          </a:prstGeom>
          <a:noFill/>
          <a:ln/>
        </p:spPr>
        <p:txBody>
          <a:bodyPr wrap="square" lIns="25400" tIns="25400" rIns="25400" bIns="25400" rtlCol="0" anchor="t">
            <a:normAutofit/>
          </a:bodyPr>
          <a:lstStyle/>
          <a:p>
            <a:pPr marL="0" indent="0" algn="l">
              <a:lnSpc>
                <a:spcPct val="120833"/>
              </a:lnSpc>
              <a:buNone/>
            </a:pPr>
            <a:r>
              <a:rPr lang="en-US" sz="2175" dirty="0">
                <a:solidFill>
                  <a:srgbClr val="4A443F"/>
                </a:solidFill>
                <a:latin typeface="Times New Roman" pitchFamily="34" charset="0"/>
                <a:ea typeface="Times New Roman" pitchFamily="34" charset="-122"/>
                <a:cs typeface="Times New Roman" pitchFamily="34" charset="-120"/>
              </a:rPr>
              <a:t>dashboard.py đọc hai file CSV, vẽ biểu đồ khách theo giờ và theo ngày bằng Matplotlib.</a:t>
            </a:r>
            <a:endParaRPr lang="en-US" sz="21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6221F"/>
        </a:solidFill>
        <a:effectLst/>
      </p:bgPr>
    </p:bg>
    <p:spTree>
      <p:nvGrpSpPr>
        <p:cNvPr id="1" name=""/>
        <p:cNvGrpSpPr/>
        <p:nvPr/>
      </p:nvGrpSpPr>
      <p:grpSpPr>
        <a:xfrm>
          <a:off x="0" y="0"/>
          <a:ext cx="0" cy="0"/>
          <a:chOff x="0" y="0"/>
          <a:chExt cx="0" cy="0"/>
        </a:xfrm>
      </p:grpSpPr>
      <p:sp>
        <p:nvSpPr>
          <p:cNvPr id="2" name="Text 0"/>
          <p:cNvSpPr/>
          <p:nvPr/>
        </p:nvSpPr>
        <p:spPr>
          <a:xfrm>
            <a:off x="914400" y="800100"/>
            <a:ext cx="18105120" cy="451485"/>
          </a:xfrm>
          <a:prstGeom prst="rect">
            <a:avLst/>
          </a:prstGeom>
          <a:noFill/>
          <a:ln/>
        </p:spPr>
        <p:txBody>
          <a:bodyPr wrap="square" lIns="25400" tIns="25400" rIns="25400" bIns="25400" rtlCol="0" anchor="t">
            <a:normAutofit/>
          </a:bodyPr>
          <a:lstStyle/>
          <a:p>
            <a:pPr marL="0" indent="0" algn="l">
              <a:lnSpc>
                <a:spcPct val="135625"/>
              </a:lnSpc>
              <a:buNone/>
            </a:pPr>
            <a:r>
              <a:rPr lang="en-US" sz="2100" b="1" kern="0" spc="294" dirty="0">
                <a:solidFill>
                  <a:srgbClr val="E0A06A"/>
                </a:solidFill>
                <a:latin typeface="Times New Roman" pitchFamily="34" charset="0"/>
                <a:ea typeface="Times New Roman" pitchFamily="34" charset="-122"/>
                <a:cs typeface="Times New Roman" pitchFamily="34" charset="-120"/>
              </a:rPr>
              <a:t>KẾT LUẬN</a:t>
            </a:r>
            <a:endParaRPr lang="en-US" sz="2100" dirty="0"/>
          </a:p>
        </p:txBody>
      </p:sp>
      <p:sp>
        <p:nvSpPr>
          <p:cNvPr id="3" name="Text 1"/>
          <p:cNvSpPr/>
          <p:nvPr/>
        </p:nvSpPr>
        <p:spPr>
          <a:xfrm>
            <a:off x="914400" y="1346835"/>
            <a:ext cx="18105120" cy="687705"/>
          </a:xfrm>
          <a:prstGeom prst="rect">
            <a:avLst/>
          </a:prstGeom>
          <a:noFill/>
          <a:ln/>
        </p:spPr>
        <p:txBody>
          <a:bodyPr wrap="square" lIns="25400" tIns="25400" rIns="25400" bIns="25400" rtlCol="0" anchor="t">
            <a:normAutofit/>
          </a:bodyPr>
          <a:lstStyle/>
          <a:p>
            <a:pPr marL="0" indent="0" algn="l">
              <a:lnSpc>
                <a:spcPct val="95787"/>
              </a:lnSpc>
              <a:buNone/>
            </a:pPr>
            <a:r>
              <a:rPr lang="en-US" sz="4650" b="1" kern="0" spc="-70" dirty="0">
                <a:solidFill>
                  <a:srgbClr val="F5EAD8"/>
                </a:solidFill>
                <a:latin typeface="Times New Roman" pitchFamily="34" charset="0"/>
                <a:ea typeface="Times New Roman" pitchFamily="34" charset="-122"/>
                <a:cs typeface="Times New Roman" pitchFamily="34" charset="-120"/>
              </a:rPr>
              <a:t>Hạn chế và hướng phát triển</a:t>
            </a:r>
            <a:endParaRPr lang="en-US" sz="4650" dirty="0"/>
          </a:p>
        </p:txBody>
      </p:sp>
      <p:sp>
        <p:nvSpPr>
          <p:cNvPr id="4" name="Text 2"/>
          <p:cNvSpPr/>
          <p:nvPr/>
        </p:nvSpPr>
        <p:spPr>
          <a:xfrm>
            <a:off x="914400" y="2415540"/>
            <a:ext cx="8759190" cy="379452"/>
          </a:xfrm>
          <a:prstGeom prst="rect">
            <a:avLst/>
          </a:prstGeom>
          <a:noFill/>
          <a:ln/>
        </p:spPr>
        <p:txBody>
          <a:bodyPr wrap="square" lIns="25400" tIns="25400" rIns="25400" bIns="25400" rtlCol="0" anchor="t">
            <a:normAutofit/>
          </a:bodyPr>
          <a:lstStyle/>
          <a:p>
            <a:pPr marL="0" indent="0" algn="l">
              <a:lnSpc>
                <a:spcPct val="99556"/>
              </a:lnSpc>
              <a:buNone/>
            </a:pPr>
            <a:r>
              <a:rPr lang="en-US" sz="2400" b="1" kern="0" spc="-36" dirty="0">
                <a:solidFill>
                  <a:srgbClr val="E0A06A"/>
                </a:solidFill>
                <a:latin typeface="Arial" pitchFamily="34" charset="0"/>
                <a:ea typeface="Arial" pitchFamily="34" charset="-122"/>
                <a:cs typeface="Arial" pitchFamily="34" charset="-120"/>
              </a:rPr>
              <a:t>Hạn chế hiện tại</a:t>
            </a:r>
            <a:endParaRPr lang="en-US" sz="2400" dirty="0"/>
          </a:p>
        </p:txBody>
      </p:sp>
      <p:sp>
        <p:nvSpPr>
          <p:cNvPr id="5" name="Shape 3"/>
          <p:cNvSpPr/>
          <p:nvPr/>
        </p:nvSpPr>
        <p:spPr>
          <a:xfrm>
            <a:off x="914400" y="2947392"/>
            <a:ext cx="7962900" cy="781050"/>
          </a:xfrm>
          <a:prstGeom prst="roundRect">
            <a:avLst>
              <a:gd name="adj" fmla="val 24390"/>
            </a:avLst>
          </a:prstGeom>
          <a:solidFill>
            <a:srgbClr val="332E29"/>
          </a:solidFill>
          <a:ln/>
        </p:spPr>
      </p:sp>
      <p:sp>
        <p:nvSpPr>
          <p:cNvPr id="6" name="Text 4"/>
          <p:cNvSpPr/>
          <p:nvPr/>
        </p:nvSpPr>
        <p:spPr>
          <a:xfrm>
            <a:off x="1181100" y="3137892"/>
            <a:ext cx="7668387" cy="438150"/>
          </a:xfrm>
          <a:prstGeom prst="rect">
            <a:avLst/>
          </a:prstGeom>
          <a:noFill/>
          <a:ln/>
        </p:spPr>
        <p:txBody>
          <a:bodyPr wrap="square" lIns="25400" tIns="25400" rIns="25400" bIns="25400" rtlCol="0" anchor="t">
            <a:normAutofit/>
          </a:bodyPr>
          <a:lstStyle/>
          <a:p>
            <a:pPr marL="0" indent="0" algn="l">
              <a:lnSpc>
                <a:spcPct val="122093"/>
              </a:lnSpc>
              <a:buNone/>
            </a:pPr>
            <a:r>
              <a:rPr lang="en-US" sz="2250" dirty="0">
                <a:solidFill>
                  <a:srgbClr val="E6DAC6"/>
                </a:solidFill>
                <a:latin typeface="Times New Roman" pitchFamily="34" charset="0"/>
                <a:ea typeface="Times New Roman" pitchFamily="34" charset="-122"/>
                <a:cs typeface="Times New Roman" pitchFamily="34" charset="-120"/>
              </a:rPr>
              <a:t>Hiệu năng giảm khi có hơn 10 người cùng lúc trong khung hình</a:t>
            </a:r>
            <a:endParaRPr lang="en-US" sz="2250" dirty="0"/>
          </a:p>
        </p:txBody>
      </p:sp>
      <p:sp>
        <p:nvSpPr>
          <p:cNvPr id="7" name="Shape 5"/>
          <p:cNvSpPr/>
          <p:nvPr/>
        </p:nvSpPr>
        <p:spPr>
          <a:xfrm>
            <a:off x="914400" y="3918942"/>
            <a:ext cx="7962900" cy="781050"/>
          </a:xfrm>
          <a:prstGeom prst="roundRect">
            <a:avLst>
              <a:gd name="adj" fmla="val 24390"/>
            </a:avLst>
          </a:prstGeom>
          <a:solidFill>
            <a:srgbClr val="332E29"/>
          </a:solidFill>
          <a:ln/>
        </p:spPr>
      </p:sp>
      <p:sp>
        <p:nvSpPr>
          <p:cNvPr id="8" name="Text 6"/>
          <p:cNvSpPr/>
          <p:nvPr/>
        </p:nvSpPr>
        <p:spPr>
          <a:xfrm>
            <a:off x="1181100" y="4109442"/>
            <a:ext cx="7668387" cy="438150"/>
          </a:xfrm>
          <a:prstGeom prst="rect">
            <a:avLst/>
          </a:prstGeom>
          <a:noFill/>
          <a:ln/>
        </p:spPr>
        <p:txBody>
          <a:bodyPr wrap="square" lIns="25400" tIns="25400" rIns="25400" bIns="25400" rtlCol="0" anchor="t">
            <a:normAutofit/>
          </a:bodyPr>
          <a:lstStyle/>
          <a:p>
            <a:pPr marL="0" indent="0" algn="l">
              <a:lnSpc>
                <a:spcPct val="122093"/>
              </a:lnSpc>
              <a:buNone/>
            </a:pPr>
            <a:r>
              <a:rPr lang="en-US" sz="2250" dirty="0">
                <a:solidFill>
                  <a:srgbClr val="E6DAC6"/>
                </a:solidFill>
                <a:latin typeface="Times New Roman" pitchFamily="34" charset="0"/>
                <a:ea typeface="Times New Roman" pitchFamily="34" charset="-122"/>
                <a:cs typeface="Times New Roman" pitchFamily="34" charset="-120"/>
              </a:rPr>
              <a:t>Phụ thuộc điều kiện ánh sáng và chất lượng camera</a:t>
            </a:r>
            <a:endParaRPr lang="en-US" sz="2250" dirty="0"/>
          </a:p>
        </p:txBody>
      </p:sp>
      <p:sp>
        <p:nvSpPr>
          <p:cNvPr id="9" name="Shape 7"/>
          <p:cNvSpPr/>
          <p:nvPr/>
        </p:nvSpPr>
        <p:spPr>
          <a:xfrm>
            <a:off x="914400" y="4890492"/>
            <a:ext cx="7962900" cy="781050"/>
          </a:xfrm>
          <a:prstGeom prst="roundRect">
            <a:avLst>
              <a:gd name="adj" fmla="val 24390"/>
            </a:avLst>
          </a:prstGeom>
          <a:solidFill>
            <a:srgbClr val="332E29"/>
          </a:solidFill>
          <a:ln/>
        </p:spPr>
      </p:sp>
      <p:sp>
        <p:nvSpPr>
          <p:cNvPr id="10" name="Text 8"/>
          <p:cNvSpPr/>
          <p:nvPr/>
        </p:nvSpPr>
        <p:spPr>
          <a:xfrm>
            <a:off x="1181100" y="5080992"/>
            <a:ext cx="7668387" cy="438150"/>
          </a:xfrm>
          <a:prstGeom prst="rect">
            <a:avLst/>
          </a:prstGeom>
          <a:noFill/>
          <a:ln/>
        </p:spPr>
        <p:txBody>
          <a:bodyPr wrap="square" lIns="25400" tIns="25400" rIns="25400" bIns="25400" rtlCol="0" anchor="t">
            <a:normAutofit/>
          </a:bodyPr>
          <a:lstStyle/>
          <a:p>
            <a:pPr marL="0" indent="0" algn="l">
              <a:lnSpc>
                <a:spcPct val="122093"/>
              </a:lnSpc>
              <a:buNone/>
            </a:pPr>
            <a:r>
              <a:rPr lang="en-US" sz="2250" dirty="0">
                <a:solidFill>
                  <a:srgbClr val="E6DAC6"/>
                </a:solidFill>
                <a:latin typeface="Times New Roman" pitchFamily="34" charset="0"/>
                <a:ea typeface="Times New Roman" pitchFamily="34" charset="-122"/>
                <a:cs typeface="Times New Roman" pitchFamily="34" charset="-120"/>
              </a:rPr>
              <a:t>Độ trễ của camera IP ảnh hưởng độ ổn định khi bám đối tượng</a:t>
            </a:r>
            <a:endParaRPr lang="en-US" sz="2250" dirty="0"/>
          </a:p>
        </p:txBody>
      </p:sp>
      <p:sp>
        <p:nvSpPr>
          <p:cNvPr id="11" name="Shape 9"/>
          <p:cNvSpPr/>
          <p:nvPr/>
        </p:nvSpPr>
        <p:spPr>
          <a:xfrm>
            <a:off x="914400" y="5862042"/>
            <a:ext cx="7962900" cy="781050"/>
          </a:xfrm>
          <a:prstGeom prst="roundRect">
            <a:avLst>
              <a:gd name="adj" fmla="val 24390"/>
            </a:avLst>
          </a:prstGeom>
          <a:solidFill>
            <a:srgbClr val="332E29"/>
          </a:solidFill>
          <a:ln/>
        </p:spPr>
      </p:sp>
      <p:sp>
        <p:nvSpPr>
          <p:cNvPr id="12" name="Text 10"/>
          <p:cNvSpPr/>
          <p:nvPr/>
        </p:nvSpPr>
        <p:spPr>
          <a:xfrm>
            <a:off x="1181100" y="6052542"/>
            <a:ext cx="7668387" cy="438150"/>
          </a:xfrm>
          <a:prstGeom prst="rect">
            <a:avLst/>
          </a:prstGeom>
          <a:noFill/>
          <a:ln/>
        </p:spPr>
        <p:txBody>
          <a:bodyPr wrap="square" lIns="25400" tIns="25400" rIns="25400" bIns="25400" rtlCol="0" anchor="t">
            <a:normAutofit/>
          </a:bodyPr>
          <a:lstStyle/>
          <a:p>
            <a:pPr marL="0" indent="0" algn="l">
              <a:lnSpc>
                <a:spcPct val="122093"/>
              </a:lnSpc>
              <a:buNone/>
            </a:pPr>
            <a:r>
              <a:rPr lang="en-US" sz="2250" dirty="0">
                <a:solidFill>
                  <a:srgbClr val="E6DAC6"/>
                </a:solidFill>
                <a:latin typeface="Times New Roman" pitchFamily="34" charset="0"/>
                <a:ea typeface="Times New Roman" pitchFamily="34" charset="-122"/>
                <a:cs typeface="Times New Roman" pitchFamily="34" charset="-120"/>
              </a:rPr>
              <a:t>Chưa có giao diện web; re-ID chỉ dựa vào màu áo</a:t>
            </a:r>
            <a:endParaRPr lang="en-US" sz="2250" dirty="0"/>
          </a:p>
        </p:txBody>
      </p:sp>
      <p:sp>
        <p:nvSpPr>
          <p:cNvPr id="13" name="Text 11"/>
          <p:cNvSpPr/>
          <p:nvPr/>
        </p:nvSpPr>
        <p:spPr>
          <a:xfrm>
            <a:off x="9410700" y="2415540"/>
            <a:ext cx="8759190" cy="379452"/>
          </a:xfrm>
          <a:prstGeom prst="rect">
            <a:avLst/>
          </a:prstGeom>
          <a:noFill/>
          <a:ln/>
        </p:spPr>
        <p:txBody>
          <a:bodyPr wrap="square" lIns="25400" tIns="25400" rIns="25400" bIns="25400" rtlCol="0" anchor="t">
            <a:normAutofit/>
          </a:bodyPr>
          <a:lstStyle/>
          <a:p>
            <a:pPr marL="0" indent="0" algn="l">
              <a:lnSpc>
                <a:spcPct val="99556"/>
              </a:lnSpc>
              <a:buNone/>
            </a:pPr>
            <a:r>
              <a:rPr lang="en-US" sz="2400" b="1" kern="0" spc="-36" dirty="0">
                <a:solidFill>
                  <a:srgbClr val="A8BD83"/>
                </a:solidFill>
                <a:latin typeface="Arial" pitchFamily="34" charset="0"/>
                <a:ea typeface="Arial" pitchFamily="34" charset="-122"/>
                <a:cs typeface="Arial" pitchFamily="34" charset="-120"/>
              </a:rPr>
              <a:t>Hướng phát triển</a:t>
            </a:r>
            <a:endParaRPr lang="en-US" sz="2400" dirty="0"/>
          </a:p>
        </p:txBody>
      </p:sp>
      <p:sp>
        <p:nvSpPr>
          <p:cNvPr id="14" name="Shape 12"/>
          <p:cNvSpPr/>
          <p:nvPr/>
        </p:nvSpPr>
        <p:spPr>
          <a:xfrm>
            <a:off x="9410700" y="2947392"/>
            <a:ext cx="7962900" cy="781050"/>
          </a:xfrm>
          <a:prstGeom prst="roundRect">
            <a:avLst>
              <a:gd name="adj" fmla="val 24390"/>
            </a:avLst>
          </a:prstGeom>
          <a:solidFill>
            <a:srgbClr val="3A4034"/>
          </a:solidFill>
          <a:ln/>
        </p:spPr>
      </p:sp>
      <p:sp>
        <p:nvSpPr>
          <p:cNvPr id="15" name="Text 13"/>
          <p:cNvSpPr/>
          <p:nvPr/>
        </p:nvSpPr>
        <p:spPr>
          <a:xfrm>
            <a:off x="9677400" y="3137892"/>
            <a:ext cx="7668387" cy="438150"/>
          </a:xfrm>
          <a:prstGeom prst="rect">
            <a:avLst/>
          </a:prstGeom>
          <a:noFill/>
          <a:ln/>
        </p:spPr>
        <p:txBody>
          <a:bodyPr wrap="square" lIns="25400" tIns="25400" rIns="25400" bIns="25400" rtlCol="0" anchor="t">
            <a:normAutofit/>
          </a:bodyPr>
          <a:lstStyle/>
          <a:p>
            <a:pPr marL="0" indent="0" algn="l">
              <a:lnSpc>
                <a:spcPct val="122093"/>
              </a:lnSpc>
              <a:buNone/>
            </a:pPr>
            <a:r>
              <a:rPr lang="en-US" sz="2250" dirty="0">
                <a:solidFill>
                  <a:srgbClr val="DFE6D2"/>
                </a:solidFill>
                <a:latin typeface="Times New Roman" pitchFamily="34" charset="0"/>
                <a:ea typeface="Times New Roman" pitchFamily="34" charset="-122"/>
                <a:cs typeface="Times New Roman" pitchFamily="34" charset="-120"/>
              </a:rPr>
              <a:t>Dùng YOLOv8m hoặc YOLOv8l với GPU mạnh hơn</a:t>
            </a:r>
            <a:endParaRPr lang="en-US" sz="2250" dirty="0"/>
          </a:p>
        </p:txBody>
      </p:sp>
      <p:sp>
        <p:nvSpPr>
          <p:cNvPr id="16" name="Shape 14"/>
          <p:cNvSpPr/>
          <p:nvPr/>
        </p:nvSpPr>
        <p:spPr>
          <a:xfrm>
            <a:off x="9410700" y="3918942"/>
            <a:ext cx="7962900" cy="781050"/>
          </a:xfrm>
          <a:prstGeom prst="roundRect">
            <a:avLst>
              <a:gd name="adj" fmla="val 24390"/>
            </a:avLst>
          </a:prstGeom>
          <a:solidFill>
            <a:srgbClr val="3A4034"/>
          </a:solidFill>
          <a:ln/>
        </p:spPr>
      </p:sp>
      <p:sp>
        <p:nvSpPr>
          <p:cNvPr id="17" name="Text 15"/>
          <p:cNvSpPr/>
          <p:nvPr/>
        </p:nvSpPr>
        <p:spPr>
          <a:xfrm>
            <a:off x="9677400" y="4109442"/>
            <a:ext cx="7668387" cy="438150"/>
          </a:xfrm>
          <a:prstGeom prst="rect">
            <a:avLst/>
          </a:prstGeom>
          <a:noFill/>
          <a:ln/>
        </p:spPr>
        <p:txBody>
          <a:bodyPr wrap="square" lIns="25400" tIns="25400" rIns="25400" bIns="25400" rtlCol="0" anchor="t">
            <a:normAutofit/>
          </a:bodyPr>
          <a:lstStyle/>
          <a:p>
            <a:pPr marL="0" indent="0" algn="l">
              <a:lnSpc>
                <a:spcPct val="122093"/>
              </a:lnSpc>
              <a:buNone/>
            </a:pPr>
            <a:r>
              <a:rPr lang="en-US" sz="2250" dirty="0">
                <a:solidFill>
                  <a:srgbClr val="DFE6D2"/>
                </a:solidFill>
                <a:latin typeface="Times New Roman" pitchFamily="34" charset="0"/>
                <a:ea typeface="Times New Roman" pitchFamily="34" charset="-122"/>
                <a:cs typeface="Times New Roman" pitchFamily="34" charset="-120"/>
              </a:rPr>
              <a:t>Chuyển hệ thống lên giao diện web bằng Flask hoặc Django</a:t>
            </a:r>
            <a:endParaRPr lang="en-US" sz="2250" dirty="0"/>
          </a:p>
        </p:txBody>
      </p:sp>
      <p:sp>
        <p:nvSpPr>
          <p:cNvPr id="18" name="Shape 16"/>
          <p:cNvSpPr/>
          <p:nvPr/>
        </p:nvSpPr>
        <p:spPr>
          <a:xfrm>
            <a:off x="9410700" y="4890492"/>
            <a:ext cx="7962900" cy="781050"/>
          </a:xfrm>
          <a:prstGeom prst="roundRect">
            <a:avLst>
              <a:gd name="adj" fmla="val 24390"/>
            </a:avLst>
          </a:prstGeom>
          <a:solidFill>
            <a:srgbClr val="3A4034"/>
          </a:solidFill>
          <a:ln/>
        </p:spPr>
      </p:sp>
      <p:sp>
        <p:nvSpPr>
          <p:cNvPr id="19" name="Text 17"/>
          <p:cNvSpPr/>
          <p:nvPr/>
        </p:nvSpPr>
        <p:spPr>
          <a:xfrm>
            <a:off x="9677400" y="5080992"/>
            <a:ext cx="7668387" cy="438150"/>
          </a:xfrm>
          <a:prstGeom prst="rect">
            <a:avLst/>
          </a:prstGeom>
          <a:noFill/>
          <a:ln/>
        </p:spPr>
        <p:txBody>
          <a:bodyPr wrap="square" lIns="25400" tIns="25400" rIns="25400" bIns="25400" rtlCol="0" anchor="t">
            <a:normAutofit/>
          </a:bodyPr>
          <a:lstStyle/>
          <a:p>
            <a:pPr marL="0" indent="0" algn="l">
              <a:lnSpc>
                <a:spcPct val="122093"/>
              </a:lnSpc>
              <a:buNone/>
            </a:pPr>
            <a:r>
              <a:rPr lang="en-US" sz="2250" dirty="0">
                <a:solidFill>
                  <a:srgbClr val="DFE6D2"/>
                </a:solidFill>
                <a:latin typeface="Times New Roman" pitchFamily="34" charset="0"/>
                <a:ea typeface="Times New Roman" pitchFamily="34" charset="-122"/>
                <a:cs typeface="Times New Roman" pitchFamily="34" charset="-120"/>
              </a:rPr>
              <a:t>Triển khai trên thiết bị nhúng như Jetson Nano hay Raspberry Pi</a:t>
            </a:r>
            <a:endParaRPr lang="en-US" sz="2250" dirty="0"/>
          </a:p>
        </p:txBody>
      </p:sp>
      <p:sp>
        <p:nvSpPr>
          <p:cNvPr id="20" name="Shape 18"/>
          <p:cNvSpPr/>
          <p:nvPr/>
        </p:nvSpPr>
        <p:spPr>
          <a:xfrm>
            <a:off x="9410700" y="5862042"/>
            <a:ext cx="7962900" cy="781050"/>
          </a:xfrm>
          <a:prstGeom prst="roundRect">
            <a:avLst>
              <a:gd name="adj" fmla="val 24390"/>
            </a:avLst>
          </a:prstGeom>
          <a:solidFill>
            <a:srgbClr val="3A4034"/>
          </a:solidFill>
          <a:ln/>
        </p:spPr>
      </p:sp>
      <p:sp>
        <p:nvSpPr>
          <p:cNvPr id="21" name="Text 19"/>
          <p:cNvSpPr/>
          <p:nvPr/>
        </p:nvSpPr>
        <p:spPr>
          <a:xfrm>
            <a:off x="9677400" y="6052542"/>
            <a:ext cx="7668387" cy="438150"/>
          </a:xfrm>
          <a:prstGeom prst="rect">
            <a:avLst/>
          </a:prstGeom>
          <a:noFill/>
          <a:ln/>
        </p:spPr>
        <p:txBody>
          <a:bodyPr wrap="square" lIns="25400" tIns="25400" rIns="25400" bIns="25400" rtlCol="0" anchor="t">
            <a:normAutofit/>
          </a:bodyPr>
          <a:lstStyle/>
          <a:p>
            <a:pPr marL="0" indent="0" algn="l">
              <a:lnSpc>
                <a:spcPct val="122093"/>
              </a:lnSpc>
              <a:buNone/>
            </a:pPr>
            <a:r>
              <a:rPr lang="en-US" sz="2250" dirty="0">
                <a:solidFill>
                  <a:srgbClr val="DFE6D2"/>
                </a:solidFill>
                <a:latin typeface="Times New Roman" pitchFamily="34" charset="0"/>
                <a:ea typeface="Times New Roman" pitchFamily="34" charset="-122"/>
                <a:cs typeface="Times New Roman" pitchFamily="34" charset="-120"/>
              </a:rPr>
              <a:t>Tích hợp camera đa góc nhìn (multi-view tracking)</a:t>
            </a:r>
            <a:endParaRPr lang="en-US" sz="2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6221F"/>
        </a:solidFill>
        <a:effectLst/>
      </p:bgPr>
    </p:bg>
    <p:spTree>
      <p:nvGrpSpPr>
        <p:cNvPr id="1" name=""/>
        <p:cNvGrpSpPr/>
        <p:nvPr/>
      </p:nvGrpSpPr>
      <p:grpSpPr>
        <a:xfrm>
          <a:off x="0" y="0"/>
          <a:ext cx="0" cy="0"/>
          <a:chOff x="0" y="0"/>
          <a:chExt cx="0" cy="0"/>
        </a:xfrm>
      </p:grpSpPr>
      <p:sp>
        <p:nvSpPr>
          <p:cNvPr id="2" name="Shape 0"/>
          <p:cNvSpPr/>
          <p:nvPr/>
        </p:nvSpPr>
        <p:spPr>
          <a:xfrm>
            <a:off x="14382750" y="-1809750"/>
            <a:ext cx="5334000" cy="5334000"/>
          </a:xfrm>
          <a:prstGeom prst="ellipse">
            <a:avLst/>
          </a:prstGeom>
          <a:solidFill>
            <a:srgbClr val="C67139">
              <a:alpha val="16000"/>
            </a:srgbClr>
          </a:solidFill>
          <a:ln/>
        </p:spPr>
      </p:sp>
      <p:sp>
        <p:nvSpPr>
          <p:cNvPr id="3" name="Shape 1"/>
          <p:cNvSpPr/>
          <p:nvPr/>
        </p:nvSpPr>
        <p:spPr>
          <a:xfrm>
            <a:off x="-1143000" y="7810500"/>
            <a:ext cx="4000500" cy="4000500"/>
          </a:xfrm>
          <a:prstGeom prst="ellipse">
            <a:avLst/>
          </a:prstGeom>
          <a:solidFill>
            <a:srgbClr val="7A8A5E">
              <a:alpha val="14000"/>
            </a:srgbClr>
          </a:solidFill>
          <a:ln/>
        </p:spPr>
      </p:sp>
      <p:sp>
        <p:nvSpPr>
          <p:cNvPr id="4" name="Text 2"/>
          <p:cNvSpPr/>
          <p:nvPr/>
        </p:nvSpPr>
        <p:spPr>
          <a:xfrm>
            <a:off x="6616184" y="3214688"/>
            <a:ext cx="5561064" cy="451485"/>
          </a:xfrm>
          <a:prstGeom prst="rect">
            <a:avLst/>
          </a:prstGeom>
          <a:noFill/>
          <a:ln/>
        </p:spPr>
        <p:txBody>
          <a:bodyPr wrap="square" lIns="25400" tIns="25400" rIns="25400" bIns="25400" rtlCol="0" anchor="t">
            <a:normAutofit/>
          </a:bodyPr>
          <a:lstStyle/>
          <a:p>
            <a:pPr marL="0" indent="0" algn="l">
              <a:lnSpc>
                <a:spcPct val="135625"/>
              </a:lnSpc>
              <a:buNone/>
            </a:pPr>
            <a:r>
              <a:rPr lang="en-US" sz="2100" b="1" kern="0" spc="336" dirty="0">
                <a:solidFill>
                  <a:srgbClr val="E0A06A"/>
                </a:solidFill>
                <a:latin typeface="Times New Roman" pitchFamily="34" charset="0"/>
                <a:ea typeface="Times New Roman" pitchFamily="34" charset="-122"/>
                <a:cs typeface="Times New Roman" pitchFamily="34" charset="-120"/>
              </a:rPr>
              <a:t>BÁO CÁO THỊ GIÁC MÁY TÍNH</a:t>
            </a:r>
            <a:endParaRPr lang="en-US" sz="2100" dirty="0"/>
          </a:p>
        </p:txBody>
      </p:sp>
      <p:sp>
        <p:nvSpPr>
          <p:cNvPr id="5" name="Text 3"/>
          <p:cNvSpPr/>
          <p:nvPr/>
        </p:nvSpPr>
        <p:spPr>
          <a:xfrm>
            <a:off x="3142030" y="3970972"/>
            <a:ext cx="12003820" cy="2343150"/>
          </a:xfrm>
          <a:prstGeom prst="rect">
            <a:avLst/>
          </a:prstGeom>
          <a:noFill/>
          <a:ln/>
        </p:spPr>
        <p:txBody>
          <a:bodyPr wrap="square" lIns="25400" tIns="25400" rIns="25400" bIns="25400" rtlCol="0" anchor="t">
            <a:normAutofit/>
          </a:bodyPr>
          <a:lstStyle/>
          <a:p>
            <a:pPr marL="0" indent="0" algn="ctr">
              <a:lnSpc>
                <a:spcPct val="95126"/>
              </a:lnSpc>
              <a:buNone/>
            </a:pPr>
            <a:r>
              <a:rPr lang="en-US" sz="8250" b="1" kern="0" spc="-124" dirty="0">
                <a:solidFill>
                  <a:srgbClr val="F5EAD8"/>
                </a:solidFill>
                <a:latin typeface="Times New Roman" pitchFamily="34" charset="0"/>
                <a:ea typeface="Times New Roman" pitchFamily="34" charset="-122"/>
                <a:cs typeface="Times New Roman" pitchFamily="34" charset="-120"/>
              </a:rPr>
              <a:t>Cảm ơn thầy cô và các bạn đã lắng nghe!</a:t>
            </a:r>
            <a:endParaRPr lang="en-US" sz="8250" dirty="0"/>
          </a:p>
        </p:txBody>
      </p:sp>
      <p:sp>
        <p:nvSpPr>
          <p:cNvPr id="6" name="Text 4"/>
          <p:cNvSpPr/>
          <p:nvPr/>
        </p:nvSpPr>
        <p:spPr>
          <a:xfrm>
            <a:off x="4734288" y="6618923"/>
            <a:ext cx="8819305" cy="491490"/>
          </a:xfrm>
          <a:prstGeom prst="rect">
            <a:avLst/>
          </a:prstGeom>
          <a:noFill/>
          <a:ln/>
        </p:spPr>
        <p:txBody>
          <a:bodyPr wrap="square" lIns="25400" tIns="25400" rIns="25400" bIns="25400" rtlCol="0" anchor="t">
            <a:normAutofit/>
          </a:bodyPr>
          <a:lstStyle/>
          <a:p>
            <a:pPr marL="0" indent="0" algn="ctr">
              <a:lnSpc>
                <a:spcPct val="121429"/>
              </a:lnSpc>
              <a:buNone/>
            </a:pPr>
            <a:r>
              <a:rPr lang="en-US" sz="2550" dirty="0">
                <a:solidFill>
                  <a:srgbClr val="CFC0A8"/>
                </a:solidFill>
                <a:latin typeface="Times New Roman" pitchFamily="34" charset="0"/>
                <a:ea typeface="Times New Roman" pitchFamily="34" charset="-122"/>
                <a:cs typeface="Times New Roman" pitchFamily="34" charset="-120"/>
              </a:rPr>
              <a:t>Rất mong nhận được câu hỏi và góp ý của thầy cô và các bạn.</a:t>
            </a:r>
            <a:endParaRPr lang="en-US" sz="2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Tùy chỉnh</PresentationFormat>
  <Paragraphs>0</Paragraphs>
  <Slides>15</Slides>
  <Notes>15</Notes>
  <HiddenSlides>0</HiddenSlides>
  <MMClips>0</MMClips>
  <ScaleCrop>false</ScaleCrop>
  <HeadingPairs>
    <vt:vector size="4" baseType="variant">
      <vt:variant>
        <vt:lpstr>Chủ đề</vt:lpstr>
      </vt:variant>
      <vt:variant>
        <vt:i4>1</vt:i4>
      </vt:variant>
      <vt:variant>
        <vt:lpstr>Tiêu đề Bản chiếu</vt:lpstr>
      </vt:variant>
      <vt:variant>
        <vt:i4>15</vt:i4>
      </vt:variant>
    </vt:vector>
  </HeadingPairs>
  <TitlesOfParts>
    <vt:vector size="16" baseType="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138</cp:revision>
  <dcterms:created xsi:type="dcterms:W3CDTF">2026-07-30T14:31:26Z</dcterms:created>
  <dcterms:modified xsi:type="dcterms:W3CDTF">2026-07-30T15:53:40Z</dcterms:modified>
</cp:coreProperties>
</file>